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leiding" id="{c620d317-e9b4-0841-ea04-f5a548aa6d24}">
          <p14:sldIdLst>
            <p14:sldId id="256"/>
            <p14:sldId id="257"/>
          </p14:sldIdLst>
        </p14:section>
        <p14:section name="Aanpak" id="{55b16b76-4a00-c8f8-578d-c7d5147f8760}">
          <p14:sldIdLst>
            <p14:sldId id="258"/>
            <p14:sldId id="259"/>
            <p14:sldId id="260"/>
          </p14:sldIdLst>
        </p14:section>
        <p14:section name="Resultaten" id="{2fcd1094-0668-f21b-861b-b5cee63ef435}">
          <p14:sldIdLst>
            <p14:sldId id="261"/>
            <p14:sldId id="262"/>
          </p14:sldIdLst>
        </p14:section>
        <p14:section name="Bevindingen" id="{1099b77d-586c-69ce-2e6f-8c87d0773ada}">
          <p14:sldIdLst>
            <p14:sldId id="263"/>
            <p14:sldId id="264"/>
            <p14:sldId id="265"/>
          </p14:sldIdLst>
        </p14:section>
        <p14:section name="Advies" id="{7b1b0106-72bc-3fcc-bdce-7660ac9441ac}">
          <p14:sldIdLst>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4F5C"/>
                </a:solidFill>
                <a:latin typeface="+mn-lt"/>
              </a:defRPr>
            </a:pPr>
            <a:r>
              <a:rPr sz="1400" b="0" i="0" u="none" strike="noStrike">
                <a:solidFill>
                  <a:srgbClr val="0B4F5C"/>
                </a:solidFill>
                <a:latin typeface="+mn-lt"/>
              </a:rPr>
              <a:t>112 testcases in de laatste run</a:t>
            </a:r>
          </a:p>
        </c:rich>
      </c:tx>
      <c:layout/>
      <c:overlay val="0"/>
    </c:title>
    <c:autoTitleDeleted val="0"/>
    <c:plotArea>
      <c:layout/>
      <c:doughnutChart>
        <c:varyColors val="1"/>
        <c:ser>
          <c:idx val="0"/>
          <c:order val="0"/>
          <c:tx>
            <c:strRef>
              <c:f>Sheet1!$B$1</c:f>
              <c:strCache>
                <c:ptCount val="1"/>
                <c:pt idx="0">
                  <c:v>Testcases</c:v>
                </c:pt>
              </c:strCache>
            </c:strRef>
          </c:tx>
          <c:spPr>
            <a:solidFill>
              <a:schemeClr val="accent1"/>
            </a:solidFill>
            <a:ln w="9525" cap="flat">
              <a:solidFill>
                <a:srgbClr val="F9F9F9"/>
              </a:solidFill>
              <a:prstDash val="solid"/>
              <a:round/>
            </a:ln>
            <a:effectLst/>
          </c:spPr>
          <c:dPt>
            <c:idx val="0"/>
            <c:bubble3D val="0"/>
            <c:spPr>
              <a:solidFill>
                <a:srgbClr val="3BA272"/>
              </a:solidFill>
              <a:effectLst/>
            </c:spPr>
          </c:dPt>
          <c:dPt>
            <c:idx val="1"/>
            <c:bubble3D val="0"/>
            <c:spPr>
              <a:solidFill>
                <a:srgbClr val="E4572E"/>
              </a:solidFill>
              <a:effectLst/>
            </c:spPr>
          </c:dPt>
          <c:dPt>
            <c:idx val="2"/>
            <c:bubble3D val="0"/>
            <c:spPr>
              <a:solidFill>
                <a:srgbClr val="5B6C79"/>
              </a:solidFill>
              <a:effectLst/>
            </c:spPr>
          </c:dPt>
          <c:dLbls>
            <c:dLbl>
              <c:idx val="0"/>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2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Geslaagd</c:v>
                </c:pt>
                <c:pt idx="1">
                  <c:v>Gefaald</c:v>
                </c:pt>
                <c:pt idx="2">
                  <c:v>Observatie</c:v>
                </c:pt>
              </c:strCache>
            </c:strRef>
          </c:cat>
          <c:val>
            <c:numRef>
              <c:f>Sheet1!$B$2:$B$4</c:f>
              <c:numCache>
                <c:ptCount val="3"/>
                <c:pt idx="0">
                  <c:v>76</c:v>
                </c:pt>
                <c:pt idx="1">
                  <c:v>25</c:v>
                </c:pt>
                <c:pt idx="2">
                  <c:v>11</c:v>
                </c:pt>
              </c:numCache>
            </c:numRef>
          </c:val>
        </c:ser>
        <c:firstSliceAng val="0"/>
        <c:holeSize val="55"/>
      </c:doughnutChart>
      <c:spPr>
        <a:noFill/>
        <a:ln>
          <a:noFill/>
        </a:ln>
        <a:effectLst/>
      </c:spPr>
    </c:plotArea>
    <c:legend>
      <c:legendPos val="b"/>
      <c:overlay val="0"/>
      <c:txPr>
        <a:bodyPr/>
        <a:lstStyle/>
        <a:p>
          <a:pPr>
            <a:defRPr sz="1200">
              <a:solidFill>
                <a:srgbClr val="1B2B3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Introductie (1 minuut). Ik presenteer het testrapport van de Medicine Management Application: de twee opleveringen van week 4 en week 7. Ik vertel wat er is opgeleverd, hoe ik getest heb, hoe je de resultaten leest, wat ik gevonden heb, wat ik niet getest heb, en mijn advies over de productiegang. Ik sluit af met wat ik de volgende keer beter doe.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Hoofdboodschap eerst (1,5 minuut). Mijn advies is: deze versie niet in productie nemen. Van de zestien acceptatiecriteria uit beide opleveringen zijn er acht voldaan. Ik heb twintig bevindingen gevonden, waarvan zeven kritiek. Dat is gebaseerd op 112 geautomatiseerde testcases, waarvan 20 in een echte browser met Selenium. De suite is twee keer achter elkaar gedraaid met exact hetzelfde resultaat, zonder technische fouten, dus de uitkomst is betrouwbaar.
De kern werkt wel. Het probleem zit in toegangsbeveiliging en in onvolledige weergave van voorschriften, en dat raakt patiëntveiligheid en privacy.
Mogelijke vraag: 'Is acht van zestien niet gewoon de helft, dus half goed?' Antwoord: nee, de criteria wegen niet gelijk. Een niet voldaan criterium kan een kritiek beveiligingslek bevatten. Daarom kijk ik naar de risico-matrix en niet alleen naar het aantal.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(1,5 minuut). In week 4 zijn zes user stories opgeleverd voor patiënt, arts en beheerder; daar horen twaalf acceptatiecriteria bij. In week 7 kwam één story voor de apotheker: voorschriften van een patiënt inzien. Daarnaast leverde het team medicijnbeheer op zonder user story. Die heb ik zelf uitgeschreven als story 28 met twee criteria, vanuit het perspectief van de apotheker.
Omdat de opdracht zegt dat er niets veranderd is aan week 4, heb ik alles van week 4 opnieuw getest als regressietest.
Mogelijke vraag: 'Waarom schrijf je zelf een story voor medicijnbeheer?' Antwoord: zonder story en criteria kun je niet objectief toetsen. Ik heb de criteria afgeleid uit de opdracht (alleen apotheker) en het gegevensmodel, en ze als aanname gemarkeerd die de product owner moet bevestigen.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Testaanpak (2 minuten). Ik heb steeds dezelfde keten gevolgd. Eerst de user stories herschreven zodat ze één doel en de juiste rol hebben. Per story twee acceptatiecriteria in Gegeven-Wanneer-Dan met een vast ID. Daaruit scenario's: de hoofdflow, alternatieve flows zoals grenswaarden, en negatieve flows zoals een verkeerde rol of foutieve invoer, met de begin- en eindsituatie. Daaruit testcases die allemaal geautomatiseerd zijn en via hun ID aan één criterium hangen. Elke run maakt automatisch een rapport.
Drie dingen deed ik extra, en die bleken belangrijk: de broncode vergelijken met week 4 (zo zag ik dat 'niets veranderd' niet klopte), alle pagina's inventariseren (zo vond ik de verborgen pagina van BUG-20), en verkennend testen op beveiliging.
Mogelijke vraag: 'Is code lezen niet white-box testen? Je bent toch tester?' Antwoord: de testcases zelf zijn black-box. De code heb ik alleen gebruikt om te bepalen wát ik moest testen, zoals regressie. Elke bevinding is daarna met een testcase aangetoond.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Testomgeving (2 minuten). De opdracht noemt drie eigenschappen. Stabiel en betrouwbaar: elke testcase maakt zijn eigen patiënten en medicijnen aan, dus de volgorde maakt niet uit; twee runs achter elkaar gaven exact hetzelfde resultaat. Snelle reset: elke run krijgt een nieuwe, lege database die de applicatie zelf vult; na afloop wordt hij verwijderd. Gedocumenteerd: er is een README, per run een testlog met elke stap en controle, een HTML-rapport (rechts), screenshots bij gefaalde browsertests, en de geteste versie via een vingerafdruk van build en broncode, omdat week 7 geen git-geschiedenis had.
De Selenium-tests starten de applicatie als echte webserver en lopen met Chrome door de schermen. De HTTP-tests gebruik ik voor dingen die een browser niet doet, zoals een formulier omzeilen of een andere rol nabootsen.
Mogelijke vraag: 'Waarom niet alles in Selenium?' Antwoord: beveiligingstests vragen verzoeken die een gewone gebruiker niet kan versturen, en HTTP-tests zijn sneller en stabieler. Elk criterium heeft wel minimaal één Selenium-test, zodat de gebruikerskant echt gedekt is.
Mogelijke vraag: 'Hoe weet je welke versie je getest hebt?' Antwoord: elke run legt een SHA-256-vingerafdruk van de build en van de broncode vast; twee runs met dezelfde vingerafdruk testen dezelfde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Interpretatie (1,5 minuut). Dit is belangrijk om de cijfers goed te lezen. Een criterium is pas voldaan als alle testcases slagen. Bij voorschrijven werkt het voorschrijven door een arts prima, maar omdat ook een anonieme bezoeker kan voorschrijven, is het criterium niet voldaan. Kijk dus altijd welke testcase faalt.
Gefaald betekent een bevinding in de software; een technische fout betekent dat mijn test niet afrondde. In de laatste runs waren er nul technische fouten. Observaties leggen gedrag vast zonder oordeel, bijvoorbeeld dat er geen blokkade is na foutieve inlogpogingen; dat was niet afgesproken.
Mogelijke vraag: 'Is het niet te streng dat één gefaalde testcase een criterium laat falen?' Antwoord: een criterium is een eis; als een deel niet klopt, is aan de eis niet voldaan. Het rapport laat per criterium zien hoeveel testcases slaagden, zodat je ook het genuanceerde beeld hebt.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Resultaat per story (2 minuten). Links per story de twee criteria, in week 4 en in week 7. Inloggen en dosering voldoen volledig in beide opleveringen. Voorschrijven voldoet in beide weken niet, door de beveiligingsproblemen. Rechts de 112 testcases van de laatste run: 76 geslaagd, 25 gefaald, 11 observaties.
Let op de regel 'Medicatie inzien': die was in week 4 volledig in orde en is nu niet meer voldaan. Dat is een regressie: iets wat werkte, is door een wijziging kapotgegaan. Daarover meer bij de bevindingen.
Van de nieuwe stories van week 7 is alleen het zoeken van een patiënt door de apotheker voldaan; medicijnbeheer voldoet op geen van beide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Kritieke bevindingen (2 minuten). Vijf van de zeven kritieke bevindingen hebben één ding gemeen: je hebt geen account nodig. Een anonieme bezoeker kan een voorschrift aanmaken dat bij de patiënt verschijnt alsof een arts het voorschreef. Via een pagina waar geen link naar verwijst, kan iedereen de sterkte van een medicijn veranderen. Logbestanden en zelfs configuratiebestanden van de server zijn te lezen, en een lijst met persoonsgegevens van alle gebruikers is openbaar.
De oorzaak is steeds dezelfde: pagina's zonder Authorize-attribuut. Technisch is het dus goed op te lossen.
Mogelijke vraag: 'Hoe bepaal je dat iets kritiek is?' Antwoord: ik gebruik vier niveaus. Kritiek betekent dat patiëntveiligheid of privacy direct in gevaar is, of dat een lek zonder account te misbruiken is. Per bevinding heb ik ook per stakeholder het belang ingeschat.
Mogelijke vraag: 'Hoe vond je BUG-20?' Antwoord: niet via de schermen, maar door alle pagina's van de applicatie te inventariseren voor het overzicht van niet-geteste functionaliteit. Dat is een les: alleen vanuit de menu's testen is niet genoeg.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Bevindingen week 7 (1,5 minuut). Dit zijn schermafdrukken die de Selenium-tests automatisch maakten op het moment van falen. Links: de patiënt heeft een voorschrift van de huisarts en een van de specialist, maar de apotheker ziet er één. Het doel van de story is 'de juiste medicijnen verstrekken'; met een onvolledig overzicht lukt dat niet, daarom kritiek. Rechts: het formulier om een medicijn toe te voegen mist het verplichte veld sterkte. Daardoor slaat het nooit op, en de apotheker krijgt geen melding.
Daarnaast: verwijdert de apotheker een medicijn dat in een lopend voorschrift staat, dan krijgt hij of zij voor die patiënt alleen nog een foutpagina.
Mogelijke vraag: 'Weet je zeker dat dit geen fout in je test is?' Antwoord: de schermafdruk laat het zien, en dezelfde bevinding is ook via een HTTP-test aangetoond. Met een direct verzoek inclusief sterkte lukt opslaan wel; het is dus echt het formulier.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Regressie (1,5 minuut). De opdracht zei dat er aan de eerdere functionaliteit niets veranderd was. Dat heb ik niet aangenomen: ik heb de broncode vergeleken met week 4. Er bleken vier dingen anders. Eén is een verbetering: een hoeveelheid van nul wordt nu geweigerd, dus BUG-07 is opgelost. Maar de patiënt ziet nu nog maar één voorschrift; dat werkte in week 4 wel. En een ongeldige regel verdwijnt zonder melding uit het voorschrift.
Mogelijke vraag: 'Waarom ving je bestaande suite dit niet op?' Antwoord: eerlijk gezegd had ik in week 4 geen testcase voor een patiënt met meerdere voorschriften. Dat is een gat in mijn grenswaarden, en het staat bij mijn verbeterpunten. Ik heb de testcase nu toegevoegd, zodat het bij elke volgende oplevering wel opvalt.
Mogelijke vraag: 'Wat betekent dit voor de samenwerking met het ontwikkelteam?' Antwoord: dat we releasenotes nodig hebben. Dat heb ik opgenomen als voorwaarde in het advies.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Risico-matrix (2 minuten). Hier staan alle open risico's van de huidige release, uitgezet tegen kans en impact. Kans is hoog als iets zonder account te misbruiken is of bij dagelijks gebruik optreedt. Impact gaat over patiëntveiligheid, privacy en bedrijfsvoering. BUG-nummers zijn bevindingen; N1 tot en met N5 zijn risico's van dingen die ik niet getest heb, zoals zelfregistratie, wachtwoordopslag en prestaties.
Zes risico's staan in het rode vak: de beveiligingsproblemen uit week 4 en de onvolledige weergave van voorschriften uit week 7. Zolang die bestaan, is productie niet verantwoord.
Mogelijke vraag: 'Waarom staat BUG-02, het lezen van serverbestanden, niet in het rode vak?' Antwoord: de impact is hoog, maar je moet weten hoe je de bestandsnaam manipuleert, dus de kans is middel. Het is wel kritiek en moet vóór productie opgelost worden.
Mogelijke vraag: 'Is de inschatting niet subjectief?' Antwoord: deels wel. Daarom heb ik per risico de reden opgeschreven in het portfolio, zodat de product owner het kan toetsen en bijstellen.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Niet getest (1,5 minuut). De opdracht vraagt ook inzicht in wat ik niet getest heb. Ik heb alle pagina's van de applicatie naast de stories gelegd. Links functionaliteit die wel in de applicatie zit maar bij geen opgeleverde story hoort, zoals zelfregistratie en een beheerpagina die voor iedereen open staat. Twintig stories uit deel 1 zijn nog niet opgeleverd en dus niet te testen; de criteria liggen wel klaar.
Rechts de niet-functionele kant: wachtwoordopslag heb ik alleen in de code bekeken, prestaties en toegankelijkheid niet, en ik heb alleen in Chrome getest. Deze risico's staan als N1 tot en met N5 in de risico-matrix.
Mogelijke vraag: 'Waarom heb je prestaties niet getest?' Antwoord: het viel buiten de criteria en de testomgeving draait op LocalDB, wat niet representatief is voor productie. Ik adviseer een belastingtest op een productie-achtige omgeving vóór livegang.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Advies (2 minuten). Mijn conclusie volgt uit het rapport: de kern werkt, maar de afscherming en de volledigheid van voorschriften zijn voor een medicatiesysteem onvoldoende. Daarom no-go.
Ik geef wel concrete voorwaarden voor een go. De meeste problemen zijn technisch klein: een Authorize-attribuut op de juiste pagina's, en een Take(1) en FirstOrDefault die weg moeten. Daarnaast vraag ik releasenotes, omdat 'niets veranderd' niet klopte. En de volledige suite moet opnieuw groen zijn; dat is één commando, want hij is geautomatiseerd.
Rechts per stakeholder het risico als we toch live gaan: de patiënt kan medicatie missen of een vals voorschrift krijgen, de apotheker verstrekt op een onvolledig overzicht, en de organisatie loopt een AVG-risico.
Mogelijke vraag: 'Zou je een gedeeltelijke livegang adviseren, bijvoorbeeld alleen inloggen en inzien?' Antwoord: nee. Ook inzien hangt samen met de lekken: de lijst met persoonsgegevens en de logbestanden zijn voor iedereen open, en de patiënt ziet niet al zijn voorschriften.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Verbeterpunten in mijn eigen werk (1,5 minuut). Ik wil ook kritisch zijn op mijn eigen werk. Ten eerste grenswaarden: in week 4 had ik geen test voor een patiënt met meerdere voorschriften; daardoor viel de regressie niet automatisch op. Ten tweede: BUG-20 vond ik pas laat, omdat ik vanuit de menu's testte. Een inventarisatie van alle routes hoort bij de voorbereiding. Ten derde: Selenium heb ik pas in week 7 toegevoegd; dat had vanaf het begin gemoeten, omdat de opdracht erom vraagt.
Verder: de criteria zeggen bijna nooit wie iets níet mag, terwijl daar de zwaarste bevindingen zitten. Story 28 had ik eerder met de product owner moeten afstemmen. En de suite hoort in een CI-pipeline.
Mogelijke vraag: 'Wat zou je als eerste veranderen als je opnieuw begon?' Antwoord: autorisatie als vast criterium per story en een route-inventarisatie vooraf. Dat had de meeste kritieke bevindingen in week 4 al gestructureerd gedekt.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Afsluiting (30 seconden). Samengevat: no-go, acht van de zestien criteria voldaan, twintig bevindingen waarvan zeven kritiek, onderbouwd met 112 geautomatiseerde testcases. Alles staat in het portfolio en de testomgeving zit in de zip; elke run maakt een rapport met log en screenshots. Ik kan desgewenst de suite live laten draaien of een testcase in de code laten zien.
Extra vragen om op voorbereid te zijn:
- 'Hoe zorg je dat de testomgeving stabiel is?' Eigen database per run, eigen testdata per testcase, wachten op paginawissels in Selenium, en twee identieke runs als bewijs.
- 'Hoe reset je de data?' De database wordt per run aangemaakt en verwijderd; testaccounts komen uit testdata.json.
- 'Wat als het ontwikkelteam een bug oplost?' Suite opnieuw draaien; het rapport toont per bevinding 'niet meer gereproduceerd', en in bevindingen.json komt een historieregel.
- 'Waarom twee criteria per story?' Dat was de opdracht in deel 1; in de evaluatie (deel 4) adviseer ik meer criteria, onder andere voor autorisatie en foutmeldingen.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onk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29000"/>
            <a:ext cx="10698480" cy="91440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oud">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chemeClr val="accent5"/>
                </a:solidFill>
              </a:rPr>
              <a:t>Testrapport Medicine Management Application · opleveringen week 4 en 7</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ot donk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4.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nchor="b"/>
          <a:lstStyle/>
          <a:p>
            <a:pPr algn="l" indent="0" marL="0">
              <a:buNone/>
            </a:pPr>
            <a:r>
              <a:rPr lang="en-US" sz="4400" b="1" dirty="0">
                <a:solidFill>
                  <a:schemeClr val="bg1"/>
                </a:solidFill>
              </a:rPr>
              <a:t>Testrapport Medicine Management Application</a:t>
            </a:r>
            <a:endParaRPr lang="en-US" sz="4400" dirty="0"/>
          </a:p>
        </p:txBody>
      </p:sp>
      <p:sp>
        <p:nvSpPr>
          <p:cNvPr id="3" name="Text 0"/>
          <p:cNvSpPr/>
          <p:nvPr>
            <p:ph idx="101" type="body" hasCustomPrompt="1"/>
          </p:nvPr>
        </p:nvSpPr>
        <p:spPr>
          <a:xfrm>
            <a:off x="731520" y="3429000"/>
            <a:ext cx="10698480" cy="914400"/>
          </a:xfrm>
          <a:prstGeom prst="rect">
            <a:avLst/>
          </a:prstGeom>
          <a:noFill/>
          <a:ln/>
        </p:spPr>
        <p:txBody>
          <a:bodyPr wrap="square" rtlCol="0" anchor="t"/>
          <a:lstStyle/>
          <a:p>
            <a:pPr algn="l" indent="0" marL="0">
              <a:buNone/>
            </a:pPr>
            <a:r>
              <a:rPr lang="en-US" sz="2200" dirty="0">
                <a:solidFill>
                  <a:schemeClr val="accent6"/>
                </a:solidFill>
              </a:rPr>
              <a:t>Opleveringen week 4 en week 7 · kwaliteit en advies over de productiegang</a:t>
            </a:r>
            <a:endParaRPr lang="en-US" sz="2200" dirty="0"/>
          </a:p>
        </p:txBody>
      </p:sp>
      <p:sp>
        <p:nvSpPr>
          <p:cNvPr id="4" name="Text 2"/>
          <p:cNvSpPr txBox="1"/>
          <p:nvPr/>
        </p:nvSpPr>
        <p:spPr>
          <a:xfrm>
            <a:off x="731520" y="5852160"/>
            <a:ext cx="7315200" cy="365760"/>
          </a:xfrm>
          <a:prstGeom prst="rect">
            <a:avLst/>
          </a:prstGeom>
          <a:noFill/>
          <a:ln/>
        </p:spPr>
        <p:txBody>
          <a:bodyPr wrap="square" lIns="0" tIns="0" rIns="0" bIns="0" rtlCol="0" anchor="t"/>
          <a:lstStyle/>
          <a:p>
            <a:pPr indent="0" marL="0">
              <a:buNone/>
            </a:pPr>
            <a:r>
              <a:rPr lang="en-US" sz="1400" dirty="0">
                <a:solidFill>
                  <a:schemeClr val="accent6"/>
                </a:solidFill>
              </a:rPr>
              <a:t>Software testen · 27 oktober 2026</a:t>
            </a:r>
            <a:endParaRPr lang="en-US" sz="1400" dirty="0"/>
          </a:p>
        </p:txBody>
      </p:sp>
      <p:sp>
        <p:nvSpPr>
          <p:cNvPr id="5" name="Cirkel medicatie"/>
          <p:cNvSpPr/>
          <p:nvPr/>
        </p:nvSpPr>
        <p:spPr>
          <a:xfrm>
            <a:off x="731520" y="731520"/>
            <a:ext cx="822960" cy="822960"/>
          </a:xfrm>
          <a:prstGeom prst="ellipse">
            <a:avLst/>
          </a:prstGeom>
          <a:solidFill>
            <a:schemeClr val="accent1"/>
          </a:solidFill>
          <a:ln w="12700">
            <a:solidFill>
              <a:schemeClr val="accent1"/>
            </a:solidFill>
            <a:prstDash val="solid"/>
          </a:ln>
        </p:spPr>
      </p:sp>
      <p:pic>
        <p:nvPicPr>
          <p:cNvPr id="6" name="Icoon medicatie" descr="medicatie">    </p:cNvPr>
          <p:cNvPicPr>
            <a:picLocks noChangeAspect="1"/>
          </p:cNvPicPr>
          <p:nvPr/>
        </p:nvPicPr>
        <p:blipFill>
          <a:blip r:embed="rId1"/>
          <a:stretch>
            <a:fillRect/>
          </a:stretch>
        </p:blipFill>
        <p:spPr>
          <a:xfrm>
            <a:off x="937260" y="937260"/>
            <a:ext cx="41148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Het advies vooraf: niet in productie nemen</a:t>
            </a:r>
            <a:endParaRPr lang="en-US" sz="3400" dirty="0"/>
          </a:p>
        </p:txBody>
      </p:sp>
      <p:sp>
        <p:nvSpPr>
          <p:cNvPr id="3" name="Kaart acceptatiecriteria voldaan"/>
          <p:cNvSpPr/>
          <p:nvPr/>
        </p:nvSpPr>
        <p:spPr>
          <a:xfrm>
            <a:off x="548640" y="1508760"/>
            <a:ext cx="301752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737360"/>
            <a:ext cx="2560320" cy="91440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8/16</a:t>
            </a:r>
            <a:endParaRPr lang="en-US" sz="5400" dirty="0"/>
          </a:p>
        </p:txBody>
      </p:sp>
      <p:sp>
        <p:nvSpPr>
          <p:cNvPr id="5" name="Text 3"/>
          <p:cNvSpPr txBox="1"/>
          <p:nvPr/>
        </p:nvSpPr>
        <p:spPr>
          <a:xfrm>
            <a:off x="822960" y="2697480"/>
            <a:ext cx="2560320" cy="640080"/>
          </a:xfrm>
          <a:prstGeom prst="rect">
            <a:avLst/>
          </a:prstGeom>
          <a:noFill/>
          <a:ln/>
        </p:spPr>
        <p:txBody>
          <a:bodyPr wrap="square" lIns="0" tIns="0" rIns="0" bIns="0" rtlCol="0" anchor="t"/>
          <a:lstStyle/>
          <a:p>
            <a:pPr indent="0" marL="0">
              <a:buNone/>
            </a:pPr>
            <a:r>
              <a:rPr lang="en-US" sz="1500" dirty="0">
                <a:solidFill>
                  <a:schemeClr val="tx1"/>
                </a:solidFill>
              </a:rPr>
              <a:t>acceptatiecriteria voldaan</a:t>
            </a:r>
            <a:endParaRPr lang="en-US" sz="1500" dirty="0"/>
          </a:p>
        </p:txBody>
      </p:sp>
      <p:sp>
        <p:nvSpPr>
          <p:cNvPr id="6" name="Kaart bevindingen, waarvan 7 kritiek"/>
          <p:cNvSpPr/>
          <p:nvPr/>
        </p:nvSpPr>
        <p:spPr>
          <a:xfrm>
            <a:off x="3794760" y="1508760"/>
            <a:ext cx="301752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4069080" y="1737360"/>
            <a:ext cx="256032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20</a:t>
            </a:r>
            <a:endParaRPr lang="en-US" sz="5400" dirty="0"/>
          </a:p>
        </p:txBody>
      </p:sp>
      <p:sp>
        <p:nvSpPr>
          <p:cNvPr id="8" name="Text 6"/>
          <p:cNvSpPr txBox="1"/>
          <p:nvPr/>
        </p:nvSpPr>
        <p:spPr>
          <a:xfrm>
            <a:off x="4069080" y="2697480"/>
            <a:ext cx="2560320" cy="640080"/>
          </a:xfrm>
          <a:prstGeom prst="rect">
            <a:avLst/>
          </a:prstGeom>
          <a:noFill/>
          <a:ln/>
        </p:spPr>
        <p:txBody>
          <a:bodyPr wrap="square" lIns="0" tIns="0" rIns="0" bIns="0" rtlCol="0" anchor="t"/>
          <a:lstStyle/>
          <a:p>
            <a:pPr indent="0" marL="0">
              <a:buNone/>
            </a:pPr>
            <a:r>
              <a:rPr lang="en-US" sz="1500" dirty="0">
                <a:solidFill>
                  <a:schemeClr val="tx1"/>
                </a:solidFill>
              </a:rPr>
              <a:t>bevindingen, waarvan 7 kritiek</a:t>
            </a:r>
            <a:endParaRPr lang="en-US" sz="1500" dirty="0"/>
          </a:p>
        </p:txBody>
      </p:sp>
      <p:sp>
        <p:nvSpPr>
          <p:cNvPr id="9" name="Kaart geautomatiseerde testcases (20 Selenium)"/>
          <p:cNvSpPr/>
          <p:nvPr/>
        </p:nvSpPr>
        <p:spPr>
          <a:xfrm>
            <a:off x="548640" y="3749040"/>
            <a:ext cx="301752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822960" y="3977640"/>
            <a:ext cx="256032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112</a:t>
            </a:r>
            <a:endParaRPr lang="en-US" sz="5400" dirty="0"/>
          </a:p>
        </p:txBody>
      </p:sp>
      <p:sp>
        <p:nvSpPr>
          <p:cNvPr id="11" name="Text 9"/>
          <p:cNvSpPr txBox="1"/>
          <p:nvPr/>
        </p:nvSpPr>
        <p:spPr>
          <a:xfrm>
            <a:off x="822960" y="4937760"/>
            <a:ext cx="2560320" cy="640080"/>
          </a:xfrm>
          <a:prstGeom prst="rect">
            <a:avLst/>
          </a:prstGeom>
          <a:noFill/>
          <a:ln/>
        </p:spPr>
        <p:txBody>
          <a:bodyPr wrap="square" lIns="0" tIns="0" rIns="0" bIns="0" rtlCol="0" anchor="t"/>
          <a:lstStyle/>
          <a:p>
            <a:pPr indent="0" marL="0">
              <a:buNone/>
            </a:pPr>
            <a:r>
              <a:rPr lang="en-US" sz="1500" dirty="0">
                <a:solidFill>
                  <a:schemeClr val="tx1"/>
                </a:solidFill>
              </a:rPr>
              <a:t>geautomatiseerde testcases (20 Selenium)</a:t>
            </a:r>
            <a:endParaRPr lang="en-US" sz="1500" dirty="0"/>
          </a:p>
        </p:txBody>
      </p:sp>
      <p:sp>
        <p:nvSpPr>
          <p:cNvPr id="12" name="Kaart technische fouten in twee identieke runs"/>
          <p:cNvSpPr/>
          <p:nvPr/>
        </p:nvSpPr>
        <p:spPr>
          <a:xfrm>
            <a:off x="3794760" y="3749040"/>
            <a:ext cx="301752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4069080" y="3977640"/>
            <a:ext cx="2560320" cy="914400"/>
          </a:xfrm>
          <a:prstGeom prst="rect">
            <a:avLst/>
          </a:prstGeom>
          <a:noFill/>
          <a:ln/>
        </p:spPr>
        <p:txBody>
          <a:bodyPr wrap="square" lIns="0" tIns="0" rIns="0" bIns="0" rtlCol="0" anchor="t"/>
          <a:lstStyle/>
          <a:p>
            <a:pPr indent="0" marL="0">
              <a:buNone/>
            </a:pPr>
            <a:r>
              <a:rPr lang="en-US" sz="5400" b="1" dirty="0">
                <a:solidFill>
                  <a:schemeClr val="accent4"/>
                </a:solidFill>
                <a:latin typeface="Cambria" pitchFamily="34" charset="0"/>
                <a:ea typeface="Cambria" pitchFamily="34" charset="-122"/>
                <a:cs typeface="Cambria" pitchFamily="34" charset="-120"/>
              </a:rPr>
              <a:t>0</a:t>
            </a:r>
            <a:endParaRPr lang="en-US" sz="5400" dirty="0"/>
          </a:p>
        </p:txBody>
      </p:sp>
      <p:sp>
        <p:nvSpPr>
          <p:cNvPr id="14" name="Text 12"/>
          <p:cNvSpPr txBox="1"/>
          <p:nvPr/>
        </p:nvSpPr>
        <p:spPr>
          <a:xfrm>
            <a:off x="4069080" y="4937760"/>
            <a:ext cx="2560320" cy="640080"/>
          </a:xfrm>
          <a:prstGeom prst="rect">
            <a:avLst/>
          </a:prstGeom>
          <a:noFill/>
          <a:ln/>
        </p:spPr>
        <p:txBody>
          <a:bodyPr wrap="square" lIns="0" tIns="0" rIns="0" bIns="0" rtlCol="0" anchor="t"/>
          <a:lstStyle/>
          <a:p>
            <a:pPr indent="0" marL="0">
              <a:buNone/>
            </a:pPr>
            <a:r>
              <a:rPr lang="en-US" sz="1500" dirty="0">
                <a:solidFill>
                  <a:schemeClr val="tx1"/>
                </a:solidFill>
              </a:rPr>
              <a:t>technische fouten in twee identieke runs</a:t>
            </a:r>
            <a:endParaRPr lang="en-US" sz="1500" dirty="0"/>
          </a:p>
        </p:txBody>
      </p:sp>
      <p:sp>
        <p:nvSpPr>
          <p:cNvPr id="15" name="Kaart oordeel"/>
          <p:cNvSpPr/>
          <p:nvPr/>
        </p:nvSpPr>
        <p:spPr>
          <a:xfrm>
            <a:off x="7269480" y="1508760"/>
            <a:ext cx="4343400" cy="4206240"/>
          </a:xfrm>
          <a:prstGeom prst="roundRect">
            <a:avLst>
              <a:gd name="adj" fmla="val 2609"/>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7589520" y="1783080"/>
            <a:ext cx="3749040" cy="8229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NO-GO</a:t>
            </a:r>
            <a:endParaRPr lang="en-US" sz="4400" dirty="0"/>
          </a:p>
        </p:txBody>
      </p:sp>
      <p:sp>
        <p:nvSpPr>
          <p:cNvPr id="17" name="Text 15"/>
          <p:cNvSpPr txBox="1"/>
          <p:nvPr/>
        </p:nvSpPr>
        <p:spPr>
          <a:xfrm>
            <a:off x="7589520" y="2743200"/>
            <a:ext cx="3749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Kern werkt: inloggen, voorschrijven met dosering, patiënt ziet eigen medicatie, apotheker zoekt patiënten.</a:t>
            </a:r>
            <a:endParaRPr lang="en-US" sz="1500" dirty="0"/>
          </a:p>
          <a:p>
            <a:pPr marL="342900" indent="-342900">
              <a:spcAft>
                <a:spcPts val="800"/>
              </a:spcAft>
              <a:buSzPct val="100000"/>
              <a:buChar char="•"/>
            </a:pPr>
            <a:r>
              <a:rPr lang="en-US" sz="1500" dirty="0">
                <a:solidFill>
                  <a:schemeClr val="bg1"/>
                </a:solidFill>
              </a:rPr>
              <a:t>Maar: zonder account kun je voorschrijven, logbestanden lezen en medicijnen wijzigen.</a:t>
            </a:r>
            <a:endParaRPr lang="en-US" sz="1500" dirty="0"/>
          </a:p>
          <a:p>
            <a:pPr marL="342900" indent="-342900">
              <a:spcAft>
                <a:spcPts val="800"/>
              </a:spcAft>
              <a:buSzPct val="100000"/>
              <a:buChar char="•"/>
            </a:pPr>
            <a:r>
              <a:rPr lang="en-US" sz="1500" dirty="0">
                <a:solidFill>
                  <a:schemeClr val="bg1"/>
                </a:solidFill>
              </a:rPr>
              <a:t>Apotheker en patiënt zien bij meerdere voorschriften er maar één.</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Wat er is opgeleverd en getest</a:t>
            </a:r>
            <a:endParaRPr lang="en-US" sz="3400" dirty="0"/>
          </a:p>
        </p:txBody>
      </p:sp>
      <p:sp>
        <p:nvSpPr>
          <p:cNvPr id="3" name="Kaart Week 4"/>
          <p:cNvSpPr/>
          <p:nvPr/>
        </p:nvSpPr>
        <p:spPr>
          <a:xfrm>
            <a:off x="548640" y="1463040"/>
            <a:ext cx="3520440" cy="452628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Cirkel Week 4"/>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5" name="Icoon Week 4" descr="Week 4">    </p:cNvPr>
          <p:cNvPicPr>
            <a:picLocks noChangeAspect="1"/>
          </p:cNvPicPr>
          <p:nvPr/>
        </p:nvPicPr>
        <p:blipFill>
          <a:blip r:embed="rId1"/>
          <a:stretch>
            <a:fillRect/>
          </a:stretch>
        </p:blipFill>
        <p:spPr>
          <a:xfrm>
            <a:off x="982980" y="1851660"/>
            <a:ext cx="320040" cy="320040"/>
          </a:xfrm>
          <a:prstGeom prst="rect">
            <a:avLst/>
          </a:prstGeom>
        </p:spPr>
      </p:pic>
      <p:sp>
        <p:nvSpPr>
          <p:cNvPr id="6" name="Text 3"/>
          <p:cNvSpPr txBox="1"/>
          <p:nvPr/>
        </p:nvSpPr>
        <p:spPr>
          <a:xfrm>
            <a:off x="1600200" y="1737360"/>
            <a:ext cx="22860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Week 4</a:t>
            </a:r>
            <a:endParaRPr lang="en-US" sz="2200" dirty="0"/>
          </a:p>
        </p:txBody>
      </p:sp>
      <p:sp>
        <p:nvSpPr>
          <p:cNvPr id="7" name="Text 4"/>
          <p:cNvSpPr txBox="1"/>
          <p:nvPr/>
        </p:nvSpPr>
        <p:spPr>
          <a:xfrm>
            <a:off x="1600200" y="2148840"/>
            <a:ext cx="2286000" cy="457200"/>
          </a:xfrm>
          <a:prstGeom prst="rect">
            <a:avLst/>
          </a:prstGeom>
          <a:noFill/>
          <a:ln/>
        </p:spPr>
        <p:txBody>
          <a:bodyPr wrap="square" lIns="0" tIns="0" rIns="0" bIns="0" rtlCol="0" anchor="t"/>
          <a:lstStyle/>
          <a:p>
            <a:pPr indent="0" marL="0">
              <a:buNone/>
            </a:pPr>
            <a:r>
              <a:rPr lang="en-US" sz="1200" dirty="0">
                <a:solidFill>
                  <a:schemeClr val="accent5"/>
                </a:solidFill>
              </a:rPr>
              <a:t>Zes user stories, twaalf criteria</a:t>
            </a:r>
            <a:endParaRPr lang="en-US" sz="1200" dirty="0"/>
          </a:p>
        </p:txBody>
      </p:sp>
      <p:sp>
        <p:nvSpPr>
          <p:cNvPr id="8" name="Text 5"/>
          <p:cNvSpPr txBox="1"/>
          <p:nvPr/>
        </p:nvSpPr>
        <p:spPr>
          <a:xfrm>
            <a:off x="822960" y="2788920"/>
            <a:ext cx="301752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Inloggen (patiënt)</a:t>
            </a:r>
            <a:endParaRPr lang="en-US" sz="1500" dirty="0"/>
          </a:p>
          <a:p>
            <a:pPr marL="342900" indent="-342900">
              <a:spcAft>
                <a:spcPts val="600"/>
              </a:spcAft>
              <a:buSzPct val="100000"/>
              <a:buChar char="•"/>
            </a:pPr>
            <a:r>
              <a:rPr lang="en-US" sz="1500" dirty="0">
                <a:solidFill>
                  <a:schemeClr val="tx1"/>
                </a:solidFill>
              </a:rPr>
              <a:t>Medicatie inzien (patiënt)</a:t>
            </a:r>
            <a:endParaRPr lang="en-US" sz="1500" dirty="0"/>
          </a:p>
          <a:p>
            <a:pPr marL="342900" indent="-342900">
              <a:spcAft>
                <a:spcPts val="600"/>
              </a:spcAft>
              <a:buSzPct val="100000"/>
              <a:buChar char="•"/>
            </a:pPr>
            <a:r>
              <a:rPr lang="en-US" sz="1500" dirty="0">
                <a:solidFill>
                  <a:schemeClr val="tx1"/>
                </a:solidFill>
              </a:rPr>
              <a:t>Medicatie voorschrijven (arts)</a:t>
            </a:r>
            <a:endParaRPr lang="en-US" sz="1500" dirty="0"/>
          </a:p>
          <a:p>
            <a:pPr marL="342900" indent="-342900">
              <a:spcAft>
                <a:spcPts val="600"/>
              </a:spcAft>
              <a:buSzPct val="100000"/>
              <a:buChar char="•"/>
            </a:pPr>
            <a:r>
              <a:rPr lang="en-US" sz="1500" dirty="0">
                <a:solidFill>
                  <a:schemeClr val="tx1"/>
                </a:solidFill>
              </a:rPr>
              <a:t>Dosering en innametijden (arts)</a:t>
            </a:r>
            <a:endParaRPr lang="en-US" sz="1500" dirty="0"/>
          </a:p>
          <a:p>
            <a:pPr marL="342900" indent="-342900">
              <a:spcAft>
                <a:spcPts val="600"/>
              </a:spcAft>
              <a:buSzPct val="100000"/>
              <a:buChar char="•"/>
            </a:pPr>
            <a:r>
              <a:rPr lang="en-US" sz="1500" dirty="0">
                <a:solidFill>
                  <a:schemeClr val="tx1"/>
                </a:solidFill>
              </a:rPr>
              <a:t>Gebruikersrollen beheren (beheerder)</a:t>
            </a:r>
            <a:endParaRPr lang="en-US" sz="1500" dirty="0"/>
          </a:p>
          <a:p>
            <a:pPr marL="342900" indent="-342900">
              <a:spcAft>
                <a:spcPts val="600"/>
              </a:spcAft>
              <a:buSzPct val="100000"/>
              <a:buChar char="•"/>
            </a:pPr>
            <a:r>
              <a:rPr lang="en-US" sz="1500" dirty="0">
                <a:solidFill>
                  <a:schemeClr val="tx1"/>
                </a:solidFill>
              </a:rPr>
              <a:t>Logbestanden raadplegen (beheerder)</a:t>
            </a:r>
            <a:endParaRPr lang="en-US" sz="1500" dirty="0"/>
          </a:p>
        </p:txBody>
      </p:sp>
      <p:sp>
        <p:nvSpPr>
          <p:cNvPr id="9" name="Kaart Week 7"/>
          <p:cNvSpPr/>
          <p:nvPr/>
        </p:nvSpPr>
        <p:spPr>
          <a:xfrm>
            <a:off x="4297680" y="1463040"/>
            <a:ext cx="3520440" cy="452628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Cirkel Week 7"/>
          <p:cNvSpPr/>
          <p:nvPr/>
        </p:nvSpPr>
        <p:spPr>
          <a:xfrm>
            <a:off x="4572000" y="1691640"/>
            <a:ext cx="640080" cy="640080"/>
          </a:xfrm>
          <a:prstGeom prst="ellipse">
            <a:avLst/>
          </a:prstGeom>
          <a:solidFill>
            <a:schemeClr val="accent1"/>
          </a:solidFill>
          <a:ln w="12700">
            <a:solidFill>
              <a:schemeClr val="accent1"/>
            </a:solidFill>
            <a:prstDash val="solid"/>
          </a:ln>
        </p:spPr>
      </p:sp>
      <p:pic>
        <p:nvPicPr>
          <p:cNvPr id="11" name="Icoon Week 7" descr="Week 7">    </p:cNvPr>
          <p:cNvPicPr>
            <a:picLocks noChangeAspect="1"/>
          </p:cNvPicPr>
          <p:nvPr/>
        </p:nvPicPr>
        <p:blipFill>
          <a:blip r:embed="rId2"/>
          <a:stretch>
            <a:fillRect/>
          </a:stretch>
        </p:blipFill>
        <p:spPr>
          <a:xfrm>
            <a:off x="4732020" y="1851660"/>
            <a:ext cx="320040" cy="320040"/>
          </a:xfrm>
          <a:prstGeom prst="rect">
            <a:avLst/>
          </a:prstGeom>
        </p:spPr>
      </p:pic>
      <p:sp>
        <p:nvSpPr>
          <p:cNvPr id="12" name="Text 8"/>
          <p:cNvSpPr txBox="1"/>
          <p:nvPr/>
        </p:nvSpPr>
        <p:spPr>
          <a:xfrm>
            <a:off x="5349240" y="1737360"/>
            <a:ext cx="22860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Week 7</a:t>
            </a:r>
            <a:endParaRPr lang="en-US" sz="2200" dirty="0"/>
          </a:p>
        </p:txBody>
      </p:sp>
      <p:sp>
        <p:nvSpPr>
          <p:cNvPr id="13" name="Text 9"/>
          <p:cNvSpPr txBox="1"/>
          <p:nvPr/>
        </p:nvSpPr>
        <p:spPr>
          <a:xfrm>
            <a:off x="5349240" y="2148840"/>
            <a:ext cx="2286000" cy="457200"/>
          </a:xfrm>
          <a:prstGeom prst="rect">
            <a:avLst/>
          </a:prstGeom>
          <a:noFill/>
          <a:ln/>
        </p:spPr>
        <p:txBody>
          <a:bodyPr wrap="square" lIns="0" tIns="0" rIns="0" bIns="0" rtlCol="0" anchor="t"/>
          <a:lstStyle/>
          <a:p>
            <a:pPr indent="0" marL="0">
              <a:buNone/>
            </a:pPr>
            <a:r>
              <a:rPr lang="en-US" sz="1200" dirty="0">
                <a:solidFill>
                  <a:schemeClr val="accent5"/>
                </a:solidFill>
              </a:rPr>
              <a:t>Eén story, functionaliteit zonder story, vier criteria</a:t>
            </a:r>
            <a:endParaRPr lang="en-US" sz="1200" dirty="0"/>
          </a:p>
        </p:txBody>
      </p:sp>
      <p:sp>
        <p:nvSpPr>
          <p:cNvPr id="14" name="Text 10"/>
          <p:cNvSpPr txBox="1"/>
          <p:nvPr/>
        </p:nvSpPr>
        <p:spPr>
          <a:xfrm>
            <a:off x="4572000" y="2788920"/>
            <a:ext cx="301752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Voorgeschreven medicatie inzien (apotheker, story 16)</a:t>
            </a:r>
            <a:endParaRPr lang="en-US" sz="1500" dirty="0"/>
          </a:p>
          <a:p>
            <a:pPr marL="342900" indent="-342900">
              <a:spcAft>
                <a:spcPts val="600"/>
              </a:spcAft>
              <a:buSzPct val="100000"/>
              <a:buChar char="•"/>
            </a:pPr>
            <a:r>
              <a:rPr lang="en-US" sz="1500" dirty="0">
                <a:solidFill>
                  <a:schemeClr val="tx1"/>
                </a:solidFill>
              </a:rPr>
              <a:t>Medicijnen beheren, CRUD (apotheker, zelf uitgeschreven als story 28)</a:t>
            </a:r>
            <a:endParaRPr lang="en-US" sz="1500" dirty="0"/>
          </a:p>
          <a:p>
            <a:pPr marL="342900" indent="-342900">
              <a:spcAft>
                <a:spcPts val="600"/>
              </a:spcAft>
              <a:buSzPct val="100000"/>
              <a:buChar char="•"/>
            </a:pPr>
            <a:r>
              <a:rPr lang="en-US" sz="1500" dirty="0">
                <a:solidFill>
                  <a:schemeClr val="tx1"/>
                </a:solidFill>
              </a:rPr>
              <a:t>Opdracht: ‘aan eerder opgeleverde functionaliteit is niets veranderd’</a:t>
            </a:r>
            <a:endParaRPr lang="en-US" sz="1500" dirty="0"/>
          </a:p>
        </p:txBody>
      </p:sp>
      <p:sp>
        <p:nvSpPr>
          <p:cNvPr id="15" name="Kaart Regressie"/>
          <p:cNvSpPr/>
          <p:nvPr/>
        </p:nvSpPr>
        <p:spPr>
          <a:xfrm>
            <a:off x="8046720" y="1463040"/>
            <a:ext cx="3520440" cy="452628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Cirkel Regressie"/>
          <p:cNvSpPr/>
          <p:nvPr/>
        </p:nvSpPr>
        <p:spPr>
          <a:xfrm>
            <a:off x="8321040" y="1691640"/>
            <a:ext cx="640080" cy="640080"/>
          </a:xfrm>
          <a:prstGeom prst="ellipse">
            <a:avLst/>
          </a:prstGeom>
          <a:solidFill>
            <a:schemeClr val="accent5"/>
          </a:solidFill>
          <a:ln w="12700">
            <a:solidFill>
              <a:schemeClr val="accent5"/>
            </a:solidFill>
            <a:prstDash val="solid"/>
          </a:ln>
        </p:spPr>
      </p:sp>
      <p:pic>
        <p:nvPicPr>
          <p:cNvPr id="17" name="Icoon Regressie" descr="Regressie">    </p:cNvPr>
          <p:cNvPicPr>
            <a:picLocks noChangeAspect="1"/>
          </p:cNvPicPr>
          <p:nvPr/>
        </p:nvPicPr>
        <p:blipFill>
          <a:blip r:embed="rId3"/>
          <a:stretch>
            <a:fillRect/>
          </a:stretch>
        </p:blipFill>
        <p:spPr>
          <a:xfrm>
            <a:off x="8481060" y="1851660"/>
            <a:ext cx="320040" cy="320040"/>
          </a:xfrm>
          <a:prstGeom prst="rect">
            <a:avLst/>
          </a:prstGeom>
        </p:spPr>
      </p:pic>
      <p:sp>
        <p:nvSpPr>
          <p:cNvPr id="18" name="Text 13"/>
          <p:cNvSpPr txBox="1"/>
          <p:nvPr/>
        </p:nvSpPr>
        <p:spPr>
          <a:xfrm>
            <a:off x="9098280" y="1737360"/>
            <a:ext cx="22860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Regressie</a:t>
            </a:r>
            <a:endParaRPr lang="en-US" sz="2200" dirty="0"/>
          </a:p>
        </p:txBody>
      </p:sp>
      <p:sp>
        <p:nvSpPr>
          <p:cNvPr id="19" name="Text 14"/>
          <p:cNvSpPr txBox="1"/>
          <p:nvPr/>
        </p:nvSpPr>
        <p:spPr>
          <a:xfrm>
            <a:off x="9098280" y="2148840"/>
            <a:ext cx="2286000" cy="457200"/>
          </a:xfrm>
          <a:prstGeom prst="rect">
            <a:avLst/>
          </a:prstGeom>
          <a:noFill/>
          <a:ln/>
        </p:spPr>
        <p:txBody>
          <a:bodyPr wrap="square" lIns="0" tIns="0" rIns="0" bIns="0" rtlCol="0" anchor="t"/>
          <a:lstStyle/>
          <a:p>
            <a:pPr indent="0" marL="0">
              <a:buNone/>
            </a:pPr>
            <a:r>
              <a:rPr lang="en-US" sz="1200" dirty="0">
                <a:solidFill>
                  <a:schemeClr val="accent5"/>
                </a:solidFill>
              </a:rPr>
              <a:t>Week 4 opnieuw op de week 7-versie</a:t>
            </a:r>
            <a:endParaRPr lang="en-US" sz="1200" dirty="0"/>
          </a:p>
        </p:txBody>
      </p:sp>
      <p:sp>
        <p:nvSpPr>
          <p:cNvPr id="20" name="Text 15"/>
          <p:cNvSpPr txBox="1"/>
          <p:nvPr/>
        </p:nvSpPr>
        <p:spPr>
          <a:xfrm>
            <a:off x="8321040" y="2788920"/>
            <a:ext cx="301752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Alle twaalf criteria van week 4 opnieuw getest</a:t>
            </a:r>
            <a:endParaRPr lang="en-US" sz="1500" dirty="0"/>
          </a:p>
          <a:p>
            <a:pPr marL="342900" indent="-342900">
              <a:spcAft>
                <a:spcPts val="600"/>
              </a:spcAft>
              <a:buSzPct val="100000"/>
              <a:buChar char="•"/>
            </a:pPr>
            <a:r>
              <a:rPr lang="en-US" sz="1500" dirty="0">
                <a:solidFill>
                  <a:schemeClr val="tx1"/>
                </a:solidFill>
              </a:rPr>
              <a:t>Hertest van dertien bevindingen uit week 4</a:t>
            </a:r>
            <a:endParaRPr lang="en-US" sz="1500" dirty="0"/>
          </a:p>
          <a:p>
            <a:pPr marL="342900" indent="-342900">
              <a:spcAft>
                <a:spcPts val="600"/>
              </a:spcAft>
              <a:buSzPct val="100000"/>
              <a:buChar char="•"/>
            </a:pPr>
            <a:r>
              <a:rPr lang="en-US" sz="1500" dirty="0">
                <a:solidFill>
                  <a:schemeClr val="tx1"/>
                </a:solidFill>
              </a:rPr>
              <a:t>Extra regressietests na vergelijking broncode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Testaanpak: van user story tot testresultaat</a:t>
            </a:r>
            <a:endParaRPr lang="en-US" sz="3400" dirty="0"/>
          </a:p>
        </p:txBody>
      </p:sp>
      <p:sp>
        <p:nvSpPr>
          <p:cNvPr id="3" name="Cirkel User story"/>
          <p:cNvSpPr/>
          <p:nvPr/>
        </p:nvSpPr>
        <p:spPr>
          <a:xfrm>
            <a:off x="1005840" y="1600200"/>
            <a:ext cx="777240" cy="777240"/>
          </a:xfrm>
          <a:prstGeom prst="ellipse">
            <a:avLst/>
          </a:prstGeom>
          <a:solidFill>
            <a:schemeClr val="accent1"/>
          </a:solidFill>
          <a:ln w="12700">
            <a:solidFill>
              <a:schemeClr val="accent1"/>
            </a:solidFill>
            <a:prstDash val="solid"/>
          </a:ln>
        </p:spPr>
      </p:sp>
      <p:pic>
        <p:nvPicPr>
          <p:cNvPr id="4" name="Icoon User story" descr="User story">    </p:cNvPr>
          <p:cNvPicPr>
            <a:picLocks noChangeAspect="1"/>
          </p:cNvPicPr>
          <p:nvPr/>
        </p:nvPicPr>
        <p:blipFill>
          <a:blip r:embed="rId1"/>
          <a:stretch>
            <a:fillRect/>
          </a:stretch>
        </p:blipFill>
        <p:spPr>
          <a:xfrm>
            <a:off x="1200150" y="1794510"/>
            <a:ext cx="388620" cy="388620"/>
          </a:xfrm>
          <a:prstGeom prst="rect">
            <a:avLst/>
          </a:prstGeom>
        </p:spPr>
      </p:pic>
      <p:sp>
        <p:nvSpPr>
          <p:cNvPr id="5" name="Text 2"/>
          <p:cNvSpPr txBox="1"/>
          <p:nvPr/>
        </p:nvSpPr>
        <p:spPr>
          <a:xfrm>
            <a:off x="548640" y="2514600"/>
            <a:ext cx="1691640" cy="411480"/>
          </a:xfrm>
          <a:prstGeom prst="rect">
            <a:avLst/>
          </a:prstGeom>
          <a:noFill/>
          <a:ln/>
        </p:spPr>
        <p:txBody>
          <a:bodyPr wrap="square" lIns="0" tIns="0" rIns="0" bIns="0" rtlCol="0" anchor="t"/>
          <a:lstStyle/>
          <a:p>
            <a:pPr algn="ctr" indent="0" marL="0">
              <a:buNone/>
            </a:pPr>
            <a:r>
              <a:rPr lang="en-US" sz="1700" b="1" dirty="0">
                <a:solidFill>
                  <a:schemeClr val="tx2"/>
                </a:solidFill>
              </a:rPr>
              <a:t>User story</a:t>
            </a:r>
            <a:endParaRPr lang="en-US" sz="1700" dirty="0"/>
          </a:p>
        </p:txBody>
      </p:sp>
      <p:sp>
        <p:nvSpPr>
          <p:cNvPr id="6" name="Text 3"/>
          <p:cNvSpPr txBox="1"/>
          <p:nvPr/>
        </p:nvSpPr>
        <p:spPr>
          <a:xfrm>
            <a:off x="548640" y="29260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27 herschreven, één doel, juiste rol</a:t>
            </a:r>
            <a:endParaRPr lang="en-US" sz="1300" dirty="0"/>
          </a:p>
        </p:txBody>
      </p:sp>
      <p:sp>
        <p:nvSpPr>
          <p:cNvPr id="7" name="Pijl 1"/>
          <p:cNvSpPr/>
          <p:nvPr/>
        </p:nvSpPr>
        <p:spPr>
          <a:xfrm>
            <a:off x="2029968" y="1874520"/>
            <a:ext cx="457200" cy="256032"/>
          </a:xfrm>
          <a:prstGeom prst="rightArrow">
            <a:avLst/>
          </a:prstGeom>
          <a:solidFill>
            <a:schemeClr val="accent6"/>
          </a:solidFill>
          <a:ln w="12700">
            <a:solidFill>
              <a:schemeClr val="accent6"/>
            </a:solidFill>
            <a:prstDash val="solid"/>
          </a:ln>
        </p:spPr>
      </p:sp>
      <p:sp>
        <p:nvSpPr>
          <p:cNvPr id="8" name="Cirkel Criteria"/>
          <p:cNvSpPr/>
          <p:nvPr/>
        </p:nvSpPr>
        <p:spPr>
          <a:xfrm>
            <a:off x="2898648" y="1600200"/>
            <a:ext cx="777240" cy="777240"/>
          </a:xfrm>
          <a:prstGeom prst="ellipse">
            <a:avLst/>
          </a:prstGeom>
          <a:solidFill>
            <a:schemeClr val="accent1"/>
          </a:solidFill>
          <a:ln w="12700">
            <a:solidFill>
              <a:schemeClr val="accent1"/>
            </a:solidFill>
            <a:prstDash val="solid"/>
          </a:ln>
        </p:spPr>
      </p:sp>
      <p:pic>
        <p:nvPicPr>
          <p:cNvPr id="9" name="Icoon Criteria" descr="Criteria">    </p:cNvPr>
          <p:cNvPicPr>
            <a:picLocks noChangeAspect="1"/>
          </p:cNvPicPr>
          <p:nvPr/>
        </p:nvPicPr>
        <p:blipFill>
          <a:blip r:embed="rId2"/>
          <a:stretch>
            <a:fillRect/>
          </a:stretch>
        </p:blipFill>
        <p:spPr>
          <a:xfrm>
            <a:off x="3092958" y="1794510"/>
            <a:ext cx="388620" cy="388620"/>
          </a:xfrm>
          <a:prstGeom prst="rect">
            <a:avLst/>
          </a:prstGeom>
        </p:spPr>
      </p:pic>
      <p:sp>
        <p:nvSpPr>
          <p:cNvPr id="10" name="Text 6"/>
          <p:cNvSpPr txBox="1"/>
          <p:nvPr/>
        </p:nvSpPr>
        <p:spPr>
          <a:xfrm>
            <a:off x="2441448" y="2514600"/>
            <a:ext cx="1691640" cy="411480"/>
          </a:xfrm>
          <a:prstGeom prst="rect">
            <a:avLst/>
          </a:prstGeom>
          <a:noFill/>
          <a:ln/>
        </p:spPr>
        <p:txBody>
          <a:bodyPr wrap="square" lIns="0" tIns="0" rIns="0" bIns="0" rtlCol="0" anchor="t"/>
          <a:lstStyle/>
          <a:p>
            <a:pPr algn="ctr" indent="0" marL="0">
              <a:buNone/>
            </a:pPr>
            <a:r>
              <a:rPr lang="en-US" sz="1700" b="1" dirty="0">
                <a:solidFill>
                  <a:schemeClr val="tx2"/>
                </a:solidFill>
              </a:rPr>
              <a:t>Criteria</a:t>
            </a:r>
            <a:endParaRPr lang="en-US" sz="1700" dirty="0"/>
          </a:p>
        </p:txBody>
      </p:sp>
      <p:sp>
        <p:nvSpPr>
          <p:cNvPr id="11" name="Text 7"/>
          <p:cNvSpPr txBox="1"/>
          <p:nvPr/>
        </p:nvSpPr>
        <p:spPr>
          <a:xfrm>
            <a:off x="2441448" y="29260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Gegeven / Wanneer / Dan, vast ID</a:t>
            </a:r>
            <a:endParaRPr lang="en-US" sz="1300" dirty="0"/>
          </a:p>
        </p:txBody>
      </p:sp>
      <p:sp>
        <p:nvSpPr>
          <p:cNvPr id="12" name="Pijl 2"/>
          <p:cNvSpPr/>
          <p:nvPr/>
        </p:nvSpPr>
        <p:spPr>
          <a:xfrm>
            <a:off x="3922776" y="1874520"/>
            <a:ext cx="457200" cy="256032"/>
          </a:xfrm>
          <a:prstGeom prst="rightArrow">
            <a:avLst/>
          </a:prstGeom>
          <a:solidFill>
            <a:schemeClr val="accent6"/>
          </a:solidFill>
          <a:ln w="12700">
            <a:solidFill>
              <a:schemeClr val="accent6"/>
            </a:solidFill>
            <a:prstDash val="solid"/>
          </a:ln>
        </p:spPr>
      </p:sp>
      <p:sp>
        <p:nvSpPr>
          <p:cNvPr id="13" name="Cirkel Scenario’s"/>
          <p:cNvSpPr/>
          <p:nvPr/>
        </p:nvSpPr>
        <p:spPr>
          <a:xfrm>
            <a:off x="4791456" y="1600200"/>
            <a:ext cx="777240" cy="777240"/>
          </a:xfrm>
          <a:prstGeom prst="ellipse">
            <a:avLst/>
          </a:prstGeom>
          <a:solidFill>
            <a:schemeClr val="accent1"/>
          </a:solidFill>
          <a:ln w="12700">
            <a:solidFill>
              <a:schemeClr val="accent1"/>
            </a:solidFill>
            <a:prstDash val="solid"/>
          </a:ln>
        </p:spPr>
      </p:sp>
      <p:pic>
        <p:nvPicPr>
          <p:cNvPr id="14" name="Icoon Scenario’s" descr="Scenario’s">    </p:cNvPr>
          <p:cNvPicPr>
            <a:picLocks noChangeAspect="1"/>
          </p:cNvPicPr>
          <p:nvPr/>
        </p:nvPicPr>
        <p:blipFill>
          <a:blip r:embed="rId3"/>
          <a:stretch>
            <a:fillRect/>
          </a:stretch>
        </p:blipFill>
        <p:spPr>
          <a:xfrm>
            <a:off x="4985766" y="1794510"/>
            <a:ext cx="388620" cy="388620"/>
          </a:xfrm>
          <a:prstGeom prst="rect">
            <a:avLst/>
          </a:prstGeom>
        </p:spPr>
      </p:pic>
      <p:sp>
        <p:nvSpPr>
          <p:cNvPr id="15" name="Text 10"/>
          <p:cNvSpPr txBox="1"/>
          <p:nvPr/>
        </p:nvSpPr>
        <p:spPr>
          <a:xfrm>
            <a:off x="4334256" y="2514600"/>
            <a:ext cx="1691640" cy="411480"/>
          </a:xfrm>
          <a:prstGeom prst="rect">
            <a:avLst/>
          </a:prstGeom>
          <a:noFill/>
          <a:ln/>
        </p:spPr>
        <p:txBody>
          <a:bodyPr wrap="square" lIns="0" tIns="0" rIns="0" bIns="0" rtlCol="0" anchor="t"/>
          <a:lstStyle/>
          <a:p>
            <a:pPr algn="ctr" indent="0" marL="0">
              <a:buNone/>
            </a:pPr>
            <a:r>
              <a:rPr lang="en-US" sz="1700" b="1" dirty="0">
                <a:solidFill>
                  <a:schemeClr val="tx2"/>
                </a:solidFill>
              </a:rPr>
              <a:t>Scenario’s</a:t>
            </a:r>
            <a:endParaRPr lang="en-US" sz="1700" dirty="0"/>
          </a:p>
        </p:txBody>
      </p:sp>
      <p:sp>
        <p:nvSpPr>
          <p:cNvPr id="16" name="Text 11"/>
          <p:cNvSpPr txBox="1"/>
          <p:nvPr/>
        </p:nvSpPr>
        <p:spPr>
          <a:xfrm>
            <a:off x="4334256" y="29260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Hoofd-, alternatieve en negatieve flow</a:t>
            </a:r>
            <a:endParaRPr lang="en-US" sz="1300" dirty="0"/>
          </a:p>
        </p:txBody>
      </p:sp>
      <p:sp>
        <p:nvSpPr>
          <p:cNvPr id="17" name="Pijl 3"/>
          <p:cNvSpPr/>
          <p:nvPr/>
        </p:nvSpPr>
        <p:spPr>
          <a:xfrm>
            <a:off x="5815584" y="1874520"/>
            <a:ext cx="457200" cy="256032"/>
          </a:xfrm>
          <a:prstGeom prst="rightArrow">
            <a:avLst/>
          </a:prstGeom>
          <a:solidFill>
            <a:schemeClr val="accent6"/>
          </a:solidFill>
          <a:ln w="12700">
            <a:solidFill>
              <a:schemeClr val="accent6"/>
            </a:solidFill>
            <a:prstDash val="solid"/>
          </a:ln>
        </p:spPr>
      </p:sp>
      <p:sp>
        <p:nvSpPr>
          <p:cNvPr id="18" name="Cirkel Testcases"/>
          <p:cNvSpPr/>
          <p:nvPr/>
        </p:nvSpPr>
        <p:spPr>
          <a:xfrm>
            <a:off x="6684264" y="1600200"/>
            <a:ext cx="777240" cy="777240"/>
          </a:xfrm>
          <a:prstGeom prst="ellipse">
            <a:avLst/>
          </a:prstGeom>
          <a:solidFill>
            <a:schemeClr val="accent1"/>
          </a:solidFill>
          <a:ln w="12700">
            <a:solidFill>
              <a:schemeClr val="accent1"/>
            </a:solidFill>
            <a:prstDash val="solid"/>
          </a:ln>
        </p:spPr>
      </p:sp>
      <p:pic>
        <p:nvPicPr>
          <p:cNvPr id="19" name="Icoon Testcases" descr="Testcases">    </p:cNvPr>
          <p:cNvPicPr>
            <a:picLocks noChangeAspect="1"/>
          </p:cNvPicPr>
          <p:nvPr/>
        </p:nvPicPr>
        <p:blipFill>
          <a:blip r:embed="rId4"/>
          <a:stretch>
            <a:fillRect/>
          </a:stretch>
        </p:blipFill>
        <p:spPr>
          <a:xfrm>
            <a:off x="6878574" y="1794510"/>
            <a:ext cx="388620" cy="388620"/>
          </a:xfrm>
          <a:prstGeom prst="rect">
            <a:avLst/>
          </a:prstGeom>
        </p:spPr>
      </p:pic>
      <p:sp>
        <p:nvSpPr>
          <p:cNvPr id="20" name="Text 14"/>
          <p:cNvSpPr txBox="1"/>
          <p:nvPr/>
        </p:nvSpPr>
        <p:spPr>
          <a:xfrm>
            <a:off x="6227064" y="2514600"/>
            <a:ext cx="1691640" cy="411480"/>
          </a:xfrm>
          <a:prstGeom prst="rect">
            <a:avLst/>
          </a:prstGeom>
          <a:noFill/>
          <a:ln/>
        </p:spPr>
        <p:txBody>
          <a:bodyPr wrap="square" lIns="0" tIns="0" rIns="0" bIns="0" rtlCol="0" anchor="t"/>
          <a:lstStyle/>
          <a:p>
            <a:pPr algn="ctr" indent="0" marL="0">
              <a:buNone/>
            </a:pPr>
            <a:r>
              <a:rPr lang="en-US" sz="1700" b="1" dirty="0">
                <a:solidFill>
                  <a:schemeClr val="tx2"/>
                </a:solidFill>
              </a:rPr>
              <a:t>Testcases</a:t>
            </a:r>
            <a:endParaRPr lang="en-US" sz="1700" dirty="0"/>
          </a:p>
        </p:txBody>
      </p:sp>
      <p:sp>
        <p:nvSpPr>
          <p:cNvPr id="21" name="Text 15"/>
          <p:cNvSpPr txBox="1"/>
          <p:nvPr/>
        </p:nvSpPr>
        <p:spPr>
          <a:xfrm>
            <a:off x="6227064" y="29260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Elk gekoppeld aan één criterium</a:t>
            </a:r>
            <a:endParaRPr lang="en-US" sz="1300" dirty="0"/>
          </a:p>
        </p:txBody>
      </p:sp>
      <p:sp>
        <p:nvSpPr>
          <p:cNvPr id="22" name="Pijl 4"/>
          <p:cNvSpPr/>
          <p:nvPr/>
        </p:nvSpPr>
        <p:spPr>
          <a:xfrm>
            <a:off x="7708392" y="1874520"/>
            <a:ext cx="457200" cy="256032"/>
          </a:xfrm>
          <a:prstGeom prst="rightArrow">
            <a:avLst/>
          </a:prstGeom>
          <a:solidFill>
            <a:schemeClr val="accent6"/>
          </a:solidFill>
          <a:ln w="12700">
            <a:solidFill>
              <a:schemeClr val="accent6"/>
            </a:solidFill>
            <a:prstDash val="solid"/>
          </a:ln>
        </p:spPr>
      </p:sp>
      <p:sp>
        <p:nvSpPr>
          <p:cNvPr id="23" name="Cirkel Automatisch"/>
          <p:cNvSpPr/>
          <p:nvPr/>
        </p:nvSpPr>
        <p:spPr>
          <a:xfrm>
            <a:off x="8577072" y="1600200"/>
            <a:ext cx="777240" cy="777240"/>
          </a:xfrm>
          <a:prstGeom prst="ellipse">
            <a:avLst/>
          </a:prstGeom>
          <a:solidFill>
            <a:schemeClr val="accent1"/>
          </a:solidFill>
          <a:ln w="12700">
            <a:solidFill>
              <a:schemeClr val="accent1"/>
            </a:solidFill>
            <a:prstDash val="solid"/>
          </a:ln>
        </p:spPr>
      </p:sp>
      <p:pic>
        <p:nvPicPr>
          <p:cNvPr id="24" name="Icoon Automatisch" descr="Automatisch">    </p:cNvPr>
          <p:cNvPicPr>
            <a:picLocks noChangeAspect="1"/>
          </p:cNvPicPr>
          <p:nvPr/>
        </p:nvPicPr>
        <p:blipFill>
          <a:blip r:embed="rId5"/>
          <a:stretch>
            <a:fillRect/>
          </a:stretch>
        </p:blipFill>
        <p:spPr>
          <a:xfrm>
            <a:off x="8771382" y="1794510"/>
            <a:ext cx="388620" cy="388620"/>
          </a:xfrm>
          <a:prstGeom prst="rect">
            <a:avLst/>
          </a:prstGeom>
        </p:spPr>
      </p:pic>
      <p:sp>
        <p:nvSpPr>
          <p:cNvPr id="25" name="Text 18"/>
          <p:cNvSpPr txBox="1"/>
          <p:nvPr/>
        </p:nvSpPr>
        <p:spPr>
          <a:xfrm>
            <a:off x="8119872" y="2514600"/>
            <a:ext cx="1691640" cy="411480"/>
          </a:xfrm>
          <a:prstGeom prst="rect">
            <a:avLst/>
          </a:prstGeom>
          <a:noFill/>
          <a:ln/>
        </p:spPr>
        <p:txBody>
          <a:bodyPr wrap="square" lIns="0" tIns="0" rIns="0" bIns="0" rtlCol="0" anchor="t"/>
          <a:lstStyle/>
          <a:p>
            <a:pPr algn="ctr" indent="0" marL="0">
              <a:buNone/>
            </a:pPr>
            <a:r>
              <a:rPr lang="en-US" sz="1700" b="1" dirty="0">
                <a:solidFill>
                  <a:schemeClr val="tx2"/>
                </a:solidFill>
              </a:rPr>
              <a:t>Automatisch</a:t>
            </a:r>
            <a:endParaRPr lang="en-US" sz="1700" dirty="0"/>
          </a:p>
        </p:txBody>
      </p:sp>
      <p:sp>
        <p:nvSpPr>
          <p:cNvPr id="26" name="Text 19"/>
          <p:cNvSpPr txBox="1"/>
          <p:nvPr/>
        </p:nvSpPr>
        <p:spPr>
          <a:xfrm>
            <a:off x="8119872" y="29260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Selenium in de browser + HTTP</a:t>
            </a:r>
            <a:endParaRPr lang="en-US" sz="1300" dirty="0"/>
          </a:p>
        </p:txBody>
      </p:sp>
      <p:sp>
        <p:nvSpPr>
          <p:cNvPr id="27" name="Pijl 5"/>
          <p:cNvSpPr/>
          <p:nvPr/>
        </p:nvSpPr>
        <p:spPr>
          <a:xfrm>
            <a:off x="9601200" y="1874520"/>
            <a:ext cx="457200" cy="256032"/>
          </a:xfrm>
          <a:prstGeom prst="rightArrow">
            <a:avLst/>
          </a:prstGeom>
          <a:solidFill>
            <a:schemeClr val="accent6"/>
          </a:solidFill>
          <a:ln w="12700">
            <a:solidFill>
              <a:schemeClr val="accent6"/>
            </a:solidFill>
            <a:prstDash val="solid"/>
          </a:ln>
        </p:spPr>
      </p:sp>
      <p:sp>
        <p:nvSpPr>
          <p:cNvPr id="28" name="Cirkel Rapport"/>
          <p:cNvSpPr/>
          <p:nvPr/>
        </p:nvSpPr>
        <p:spPr>
          <a:xfrm>
            <a:off x="10469880" y="1600200"/>
            <a:ext cx="777240" cy="777240"/>
          </a:xfrm>
          <a:prstGeom prst="ellipse">
            <a:avLst/>
          </a:prstGeom>
          <a:solidFill>
            <a:schemeClr val="accent1"/>
          </a:solidFill>
          <a:ln w="12700">
            <a:solidFill>
              <a:schemeClr val="accent1"/>
            </a:solidFill>
            <a:prstDash val="solid"/>
          </a:ln>
        </p:spPr>
      </p:sp>
      <p:pic>
        <p:nvPicPr>
          <p:cNvPr id="29" name="Icoon Rapport" descr="Rapport">    </p:cNvPr>
          <p:cNvPicPr>
            <a:picLocks noChangeAspect="1"/>
          </p:cNvPicPr>
          <p:nvPr/>
        </p:nvPicPr>
        <p:blipFill>
          <a:blip r:embed="rId6"/>
          <a:stretch>
            <a:fillRect/>
          </a:stretch>
        </p:blipFill>
        <p:spPr>
          <a:xfrm>
            <a:off x="10664190" y="1794510"/>
            <a:ext cx="388620" cy="388620"/>
          </a:xfrm>
          <a:prstGeom prst="rect">
            <a:avLst/>
          </a:prstGeom>
        </p:spPr>
      </p:pic>
      <p:sp>
        <p:nvSpPr>
          <p:cNvPr id="30" name="Text 22"/>
          <p:cNvSpPr txBox="1"/>
          <p:nvPr/>
        </p:nvSpPr>
        <p:spPr>
          <a:xfrm>
            <a:off x="10012680" y="2514600"/>
            <a:ext cx="1691640" cy="411480"/>
          </a:xfrm>
          <a:prstGeom prst="rect">
            <a:avLst/>
          </a:prstGeom>
          <a:noFill/>
          <a:ln/>
        </p:spPr>
        <p:txBody>
          <a:bodyPr wrap="square" lIns="0" tIns="0" rIns="0" bIns="0" rtlCol="0" anchor="t"/>
          <a:lstStyle/>
          <a:p>
            <a:pPr algn="ctr" indent="0" marL="0">
              <a:buNone/>
            </a:pPr>
            <a:r>
              <a:rPr lang="en-US" sz="1700" b="1" dirty="0">
                <a:solidFill>
                  <a:schemeClr val="tx2"/>
                </a:solidFill>
              </a:rPr>
              <a:t>Rapport</a:t>
            </a:r>
            <a:endParaRPr lang="en-US" sz="1700" dirty="0"/>
          </a:p>
        </p:txBody>
      </p:sp>
      <p:sp>
        <p:nvSpPr>
          <p:cNvPr id="31" name="Text 23"/>
          <p:cNvSpPr txBox="1"/>
          <p:nvPr/>
        </p:nvSpPr>
        <p:spPr>
          <a:xfrm>
            <a:off x="10012680" y="2926080"/>
            <a:ext cx="1691640" cy="731520"/>
          </a:xfrm>
          <a:prstGeom prst="rect">
            <a:avLst/>
          </a:prstGeom>
          <a:noFill/>
          <a:ln/>
        </p:spPr>
        <p:txBody>
          <a:bodyPr wrap="square" lIns="0" tIns="0" rIns="0" bIns="0" rtlCol="0" anchor="t"/>
          <a:lstStyle/>
          <a:p>
            <a:pPr algn="ctr" indent="0" marL="0">
              <a:buNone/>
            </a:pPr>
            <a:r>
              <a:rPr lang="en-US" sz="1300" dirty="0">
                <a:solidFill>
                  <a:schemeClr val="tx1"/>
                </a:solidFill>
              </a:rPr>
              <a:t>Per run: rapport, log, screenshots</a:t>
            </a:r>
            <a:endParaRPr lang="en-US" sz="1300" dirty="0"/>
          </a:p>
        </p:txBody>
      </p:sp>
      <p:sp>
        <p:nvSpPr>
          <p:cNvPr id="32" name="Kaart extra stappen"/>
          <p:cNvSpPr/>
          <p:nvPr/>
        </p:nvSpPr>
        <p:spPr>
          <a:xfrm>
            <a:off x="548640" y="4069080"/>
            <a:ext cx="11064240" cy="1920240"/>
          </a:xfrm>
          <a:prstGeom prst="roundRect">
            <a:avLst>
              <a:gd name="adj" fmla="val 571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3" name="Text 25"/>
          <p:cNvSpPr txBox="1"/>
          <p:nvPr/>
        </p:nvSpPr>
        <p:spPr>
          <a:xfrm>
            <a:off x="822960" y="4251960"/>
            <a:ext cx="10515600" cy="365760"/>
          </a:xfrm>
          <a:prstGeom prst="rect">
            <a:avLst/>
          </a:prstGeom>
          <a:noFill/>
          <a:ln/>
        </p:spPr>
        <p:txBody>
          <a:bodyPr wrap="square" lIns="0" tIns="0" rIns="0" bIns="0" rtlCol="0" anchor="t"/>
          <a:lstStyle/>
          <a:p>
            <a:pPr indent="0" marL="0">
              <a:buNone/>
            </a:pPr>
            <a:r>
              <a:rPr lang="en-US" sz="1800" b="1" dirty="0">
                <a:solidFill>
                  <a:schemeClr val="tx2"/>
                </a:solidFill>
              </a:rPr>
              <a:t>Naast de criteria</a:t>
            </a:r>
            <a:endParaRPr lang="en-US" sz="1800" dirty="0"/>
          </a:p>
        </p:txBody>
      </p:sp>
      <p:sp>
        <p:nvSpPr>
          <p:cNvPr id="34" name="Cirkel Broncode van week 7 vergeleken met week 4"/>
          <p:cNvSpPr/>
          <p:nvPr/>
        </p:nvSpPr>
        <p:spPr>
          <a:xfrm>
            <a:off x="822960" y="4754880"/>
            <a:ext cx="548640" cy="548640"/>
          </a:xfrm>
          <a:prstGeom prst="ellipse">
            <a:avLst/>
          </a:prstGeom>
          <a:solidFill>
            <a:schemeClr val="accent5"/>
          </a:solidFill>
          <a:ln w="12700">
            <a:solidFill>
              <a:schemeClr val="accent5"/>
            </a:solidFill>
            <a:prstDash val="solid"/>
          </a:ln>
        </p:spPr>
      </p:sp>
      <p:pic>
        <p:nvPicPr>
          <p:cNvPr id="35" name="Icoon Broncode van week 7 vergeleken met week 4" descr="Broncode van week 7 vergeleken met week 4">    </p:cNvPr>
          <p:cNvPicPr>
            <a:picLocks noChangeAspect="1"/>
          </p:cNvPicPr>
          <p:nvPr/>
        </p:nvPicPr>
        <p:blipFill>
          <a:blip r:embed="rId7"/>
          <a:stretch>
            <a:fillRect/>
          </a:stretch>
        </p:blipFill>
        <p:spPr>
          <a:xfrm>
            <a:off x="960120" y="4892040"/>
            <a:ext cx="274320" cy="274320"/>
          </a:xfrm>
          <a:prstGeom prst="rect">
            <a:avLst/>
          </a:prstGeom>
        </p:spPr>
      </p:pic>
      <p:sp>
        <p:nvSpPr>
          <p:cNvPr id="36" name="Text 27"/>
          <p:cNvSpPr txBox="1"/>
          <p:nvPr/>
        </p:nvSpPr>
        <p:spPr>
          <a:xfrm>
            <a:off x="1508760" y="4709160"/>
            <a:ext cx="2743200" cy="548640"/>
          </a:xfrm>
          <a:prstGeom prst="rect">
            <a:avLst/>
          </a:prstGeom>
          <a:noFill/>
          <a:ln/>
        </p:spPr>
        <p:txBody>
          <a:bodyPr wrap="square" lIns="0" tIns="0" rIns="0" bIns="0" rtlCol="0" anchor="t"/>
          <a:lstStyle/>
          <a:p>
            <a:pPr indent="0" marL="0">
              <a:buNone/>
            </a:pPr>
            <a:r>
              <a:rPr lang="en-US" sz="1400" b="1" dirty="0">
                <a:solidFill>
                  <a:schemeClr val="tx1"/>
                </a:solidFill>
              </a:rPr>
              <a:t>Broncode van week 7 vergeleken met week 4</a:t>
            </a:r>
            <a:endParaRPr lang="en-US" sz="1400" dirty="0"/>
          </a:p>
        </p:txBody>
      </p:sp>
      <p:sp>
        <p:nvSpPr>
          <p:cNvPr id="37" name="Text 28"/>
          <p:cNvSpPr txBox="1"/>
          <p:nvPr/>
        </p:nvSpPr>
        <p:spPr>
          <a:xfrm>
            <a:off x="1508760" y="5303520"/>
            <a:ext cx="2743200" cy="457200"/>
          </a:xfrm>
          <a:prstGeom prst="rect">
            <a:avLst/>
          </a:prstGeom>
          <a:noFill/>
          <a:ln/>
        </p:spPr>
        <p:txBody>
          <a:bodyPr wrap="square" lIns="0" tIns="0" rIns="0" bIns="0" rtlCol="0" anchor="t"/>
          <a:lstStyle/>
          <a:p>
            <a:pPr indent="0" marL="0">
              <a:buNone/>
            </a:pPr>
            <a:r>
              <a:rPr lang="en-US" sz="1300" dirty="0">
                <a:solidFill>
                  <a:schemeClr val="accent5"/>
                </a:solidFill>
              </a:rPr>
              <a:t>toonde niet gemelde wijzigingen</a:t>
            </a:r>
            <a:endParaRPr lang="en-US" sz="1300" dirty="0"/>
          </a:p>
        </p:txBody>
      </p:sp>
      <p:sp>
        <p:nvSpPr>
          <p:cNvPr id="38" name="Cirkel Alle pagina’s van de applicatie geïnventariseerd"/>
          <p:cNvSpPr/>
          <p:nvPr/>
        </p:nvSpPr>
        <p:spPr>
          <a:xfrm>
            <a:off x="4434840" y="4754880"/>
            <a:ext cx="548640" cy="548640"/>
          </a:xfrm>
          <a:prstGeom prst="ellipse">
            <a:avLst/>
          </a:prstGeom>
          <a:solidFill>
            <a:schemeClr val="accent5"/>
          </a:solidFill>
          <a:ln w="12700">
            <a:solidFill>
              <a:schemeClr val="accent5"/>
            </a:solidFill>
            <a:prstDash val="solid"/>
          </a:ln>
        </p:spPr>
      </p:sp>
      <p:pic>
        <p:nvPicPr>
          <p:cNvPr id="39" name="Icoon Alle pagina’s van de applicatie geïnventariseerd" descr="Alle pagina’s van de applicatie geïnventariseerd">    </p:cNvPr>
          <p:cNvPicPr>
            <a:picLocks noChangeAspect="1"/>
          </p:cNvPicPr>
          <p:nvPr/>
        </p:nvPicPr>
        <p:blipFill>
          <a:blip r:embed="rId8"/>
          <a:stretch>
            <a:fillRect/>
          </a:stretch>
        </p:blipFill>
        <p:spPr>
          <a:xfrm>
            <a:off x="4572000" y="4892040"/>
            <a:ext cx="274320" cy="274320"/>
          </a:xfrm>
          <a:prstGeom prst="rect">
            <a:avLst/>
          </a:prstGeom>
        </p:spPr>
      </p:pic>
      <p:sp>
        <p:nvSpPr>
          <p:cNvPr id="40" name="Text 30"/>
          <p:cNvSpPr txBox="1"/>
          <p:nvPr/>
        </p:nvSpPr>
        <p:spPr>
          <a:xfrm>
            <a:off x="5120640" y="4709160"/>
            <a:ext cx="2743200" cy="548640"/>
          </a:xfrm>
          <a:prstGeom prst="rect">
            <a:avLst/>
          </a:prstGeom>
          <a:noFill/>
          <a:ln/>
        </p:spPr>
        <p:txBody>
          <a:bodyPr wrap="square" lIns="0" tIns="0" rIns="0" bIns="0" rtlCol="0" anchor="t"/>
          <a:lstStyle/>
          <a:p>
            <a:pPr indent="0" marL="0">
              <a:buNone/>
            </a:pPr>
            <a:r>
              <a:rPr lang="en-US" sz="1400" b="1" dirty="0">
                <a:solidFill>
                  <a:schemeClr val="tx1"/>
                </a:solidFill>
              </a:rPr>
              <a:t>Alle pagina’s van de applicatie geïnventariseerd</a:t>
            </a:r>
            <a:endParaRPr lang="en-US" sz="1400" dirty="0"/>
          </a:p>
        </p:txBody>
      </p:sp>
      <p:sp>
        <p:nvSpPr>
          <p:cNvPr id="41" name="Text 31"/>
          <p:cNvSpPr txBox="1"/>
          <p:nvPr/>
        </p:nvSpPr>
        <p:spPr>
          <a:xfrm>
            <a:off x="5120640" y="5303520"/>
            <a:ext cx="2743200" cy="457200"/>
          </a:xfrm>
          <a:prstGeom prst="rect">
            <a:avLst/>
          </a:prstGeom>
          <a:noFill/>
          <a:ln/>
        </p:spPr>
        <p:txBody>
          <a:bodyPr wrap="square" lIns="0" tIns="0" rIns="0" bIns="0" rtlCol="0" anchor="t"/>
          <a:lstStyle/>
          <a:p>
            <a:pPr indent="0" marL="0">
              <a:buNone/>
            </a:pPr>
            <a:r>
              <a:rPr lang="en-US" sz="1300" dirty="0">
                <a:solidFill>
                  <a:schemeClr val="accent5"/>
                </a:solidFill>
              </a:rPr>
              <a:t>vond een verborgen bewerkpagina</a:t>
            </a:r>
            <a:endParaRPr lang="en-US" sz="1300" dirty="0"/>
          </a:p>
        </p:txBody>
      </p:sp>
      <p:sp>
        <p:nvSpPr>
          <p:cNvPr id="42" name="Cirkel Verkennend getest (EXT-testcases)"/>
          <p:cNvSpPr/>
          <p:nvPr/>
        </p:nvSpPr>
        <p:spPr>
          <a:xfrm>
            <a:off x="8046720" y="4754880"/>
            <a:ext cx="548640" cy="548640"/>
          </a:xfrm>
          <a:prstGeom prst="ellipse">
            <a:avLst/>
          </a:prstGeom>
          <a:solidFill>
            <a:schemeClr val="accent5"/>
          </a:solidFill>
          <a:ln w="12700">
            <a:solidFill>
              <a:schemeClr val="accent5"/>
            </a:solidFill>
            <a:prstDash val="solid"/>
          </a:ln>
        </p:spPr>
      </p:sp>
      <p:pic>
        <p:nvPicPr>
          <p:cNvPr id="43" name="Icoon Verkennend getest (EXT-testcases)" descr="Verkennend getest (EXT-testcases)">    </p:cNvPr>
          <p:cNvPicPr>
            <a:picLocks noChangeAspect="1"/>
          </p:cNvPicPr>
          <p:nvPr/>
        </p:nvPicPr>
        <p:blipFill>
          <a:blip r:embed="rId9"/>
          <a:stretch>
            <a:fillRect/>
          </a:stretch>
        </p:blipFill>
        <p:spPr>
          <a:xfrm>
            <a:off x="8183880" y="4892040"/>
            <a:ext cx="274320" cy="274320"/>
          </a:xfrm>
          <a:prstGeom prst="rect">
            <a:avLst/>
          </a:prstGeom>
        </p:spPr>
      </p:pic>
      <p:sp>
        <p:nvSpPr>
          <p:cNvPr id="44" name="Text 33"/>
          <p:cNvSpPr txBox="1"/>
          <p:nvPr/>
        </p:nvSpPr>
        <p:spPr>
          <a:xfrm>
            <a:off x="8732520" y="4709160"/>
            <a:ext cx="2743200" cy="548640"/>
          </a:xfrm>
          <a:prstGeom prst="rect">
            <a:avLst/>
          </a:prstGeom>
          <a:noFill/>
          <a:ln/>
        </p:spPr>
        <p:txBody>
          <a:bodyPr wrap="square" lIns="0" tIns="0" rIns="0" bIns="0" rtlCol="0" anchor="t"/>
          <a:lstStyle/>
          <a:p>
            <a:pPr indent="0" marL="0">
              <a:buNone/>
            </a:pPr>
            <a:r>
              <a:rPr lang="en-US" sz="1400" b="1" dirty="0">
                <a:solidFill>
                  <a:schemeClr val="tx1"/>
                </a:solidFill>
              </a:rPr>
              <a:t>Verkennend getest (EXT-testcases)</a:t>
            </a:r>
            <a:endParaRPr lang="en-US" sz="1400" dirty="0"/>
          </a:p>
        </p:txBody>
      </p:sp>
      <p:sp>
        <p:nvSpPr>
          <p:cNvPr id="45" name="Text 34"/>
          <p:cNvSpPr txBox="1"/>
          <p:nvPr/>
        </p:nvSpPr>
        <p:spPr>
          <a:xfrm>
            <a:off x="8732520" y="5303520"/>
            <a:ext cx="2743200" cy="457200"/>
          </a:xfrm>
          <a:prstGeom prst="rect">
            <a:avLst/>
          </a:prstGeom>
          <a:noFill/>
          <a:ln/>
        </p:spPr>
        <p:txBody>
          <a:bodyPr wrap="square" lIns="0" tIns="0" rIns="0" bIns="0" rtlCol="0" anchor="t"/>
          <a:lstStyle/>
          <a:p>
            <a:pPr indent="0" marL="0">
              <a:buNone/>
            </a:pPr>
            <a:r>
              <a:rPr lang="en-US" sz="1300" dirty="0">
                <a:solidFill>
                  <a:schemeClr val="accent5"/>
                </a:solidFill>
              </a:rPr>
              <a:t>beveiliging en gedrag buiten de criteria</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Testomgeving: automatisch, herhaalbaar, traceerbaar</a:t>
            </a:r>
            <a:endParaRPr lang="en-US" sz="3400" dirty="0"/>
          </a:p>
        </p:txBody>
      </p:sp>
      <p:sp>
        <p:nvSpPr>
          <p:cNvPr id="3" name="Kaart Stabiel en betrouwbaar"/>
          <p:cNvSpPr/>
          <p:nvPr/>
        </p:nvSpPr>
        <p:spPr>
          <a:xfrm>
            <a:off x="548640" y="1463040"/>
            <a:ext cx="5120640" cy="1298448"/>
          </a:xfrm>
          <a:prstGeom prst="roundRect">
            <a:avLst>
              <a:gd name="adj" fmla="val 84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Cirkel Stabiel en betrouwbaar"/>
          <p:cNvSpPr/>
          <p:nvPr/>
        </p:nvSpPr>
        <p:spPr>
          <a:xfrm>
            <a:off x="777240" y="1764792"/>
            <a:ext cx="685800" cy="685800"/>
          </a:xfrm>
          <a:prstGeom prst="ellipse">
            <a:avLst/>
          </a:prstGeom>
          <a:solidFill>
            <a:schemeClr val="accent1"/>
          </a:solidFill>
          <a:ln w="12700">
            <a:solidFill>
              <a:schemeClr val="accent1"/>
            </a:solidFill>
            <a:prstDash val="solid"/>
          </a:ln>
        </p:spPr>
      </p:sp>
      <p:pic>
        <p:nvPicPr>
          <p:cNvPr id="5" name="Icoon Stabiel en betrouwbaar" descr="Stabiel en betrouwbaar">    </p:cNvPr>
          <p:cNvPicPr>
            <a:picLocks noChangeAspect="1"/>
          </p:cNvPicPr>
          <p:nvPr/>
        </p:nvPicPr>
        <p:blipFill>
          <a:blip r:embed="rId1"/>
          <a:stretch>
            <a:fillRect/>
          </a:stretch>
        </p:blipFill>
        <p:spPr>
          <a:xfrm>
            <a:off x="948690" y="1936242"/>
            <a:ext cx="342900" cy="342900"/>
          </a:xfrm>
          <a:prstGeom prst="rect">
            <a:avLst/>
          </a:prstGeom>
        </p:spPr>
      </p:pic>
      <p:sp>
        <p:nvSpPr>
          <p:cNvPr id="6" name="Text 3"/>
          <p:cNvSpPr txBox="1"/>
          <p:nvPr/>
        </p:nvSpPr>
        <p:spPr>
          <a:xfrm>
            <a:off x="1645920" y="1645920"/>
            <a:ext cx="3840480" cy="365760"/>
          </a:xfrm>
          <a:prstGeom prst="rect">
            <a:avLst/>
          </a:prstGeom>
          <a:noFill/>
          <a:ln/>
        </p:spPr>
        <p:txBody>
          <a:bodyPr wrap="square" lIns="0" tIns="0" rIns="0" bIns="0" rtlCol="0" anchor="t"/>
          <a:lstStyle/>
          <a:p>
            <a:pPr indent="0" marL="0">
              <a:buNone/>
            </a:pPr>
            <a:r>
              <a:rPr lang="en-US" sz="1700" b="1" dirty="0">
                <a:solidFill>
                  <a:schemeClr val="tx2"/>
                </a:solidFill>
              </a:rPr>
              <a:t>Stabiel en betrouwbaar</a:t>
            </a:r>
            <a:endParaRPr lang="en-US" sz="1700" dirty="0"/>
          </a:p>
        </p:txBody>
      </p:sp>
      <p:sp>
        <p:nvSpPr>
          <p:cNvPr id="7" name="Text 4"/>
          <p:cNvSpPr txBox="1"/>
          <p:nvPr/>
        </p:nvSpPr>
        <p:spPr>
          <a:xfrm>
            <a:off x="1645920" y="2029968"/>
            <a:ext cx="3840480" cy="685800"/>
          </a:xfrm>
          <a:prstGeom prst="rect">
            <a:avLst/>
          </a:prstGeom>
          <a:noFill/>
          <a:ln/>
        </p:spPr>
        <p:txBody>
          <a:bodyPr wrap="square" lIns="0" tIns="0" rIns="0" bIns="0" rtlCol="0" anchor="t"/>
          <a:lstStyle/>
          <a:p>
            <a:pPr indent="0" marL="0">
              <a:buNone/>
            </a:pPr>
            <a:r>
              <a:rPr lang="en-US" sz="1300" dirty="0">
                <a:solidFill>
                  <a:schemeClr val="tx1"/>
                </a:solidFill>
              </a:rPr>
              <a:t>Testcases maken hun eigen gegevens aan; twee runs gaven exact hetzelfde resultaat</a:t>
            </a:r>
            <a:endParaRPr lang="en-US" sz="1300" dirty="0"/>
          </a:p>
        </p:txBody>
      </p:sp>
      <p:sp>
        <p:nvSpPr>
          <p:cNvPr id="8" name="Kaart Snelle reset"/>
          <p:cNvSpPr/>
          <p:nvPr/>
        </p:nvSpPr>
        <p:spPr>
          <a:xfrm>
            <a:off x="548640" y="2944368"/>
            <a:ext cx="5120640" cy="1298448"/>
          </a:xfrm>
          <a:prstGeom prst="roundRect">
            <a:avLst>
              <a:gd name="adj" fmla="val 84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Cirkel Snelle reset"/>
          <p:cNvSpPr/>
          <p:nvPr/>
        </p:nvSpPr>
        <p:spPr>
          <a:xfrm>
            <a:off x="777240" y="3246120"/>
            <a:ext cx="685800" cy="685800"/>
          </a:xfrm>
          <a:prstGeom prst="ellipse">
            <a:avLst/>
          </a:prstGeom>
          <a:solidFill>
            <a:schemeClr val="accent1"/>
          </a:solidFill>
          <a:ln w="12700">
            <a:solidFill>
              <a:schemeClr val="accent1"/>
            </a:solidFill>
            <a:prstDash val="solid"/>
          </a:ln>
        </p:spPr>
      </p:sp>
      <p:pic>
        <p:nvPicPr>
          <p:cNvPr id="10" name="Icoon Snelle reset" descr="Snelle reset">    </p:cNvPr>
          <p:cNvPicPr>
            <a:picLocks noChangeAspect="1"/>
          </p:cNvPicPr>
          <p:nvPr/>
        </p:nvPicPr>
        <p:blipFill>
          <a:blip r:embed="rId2"/>
          <a:stretch>
            <a:fillRect/>
          </a:stretch>
        </p:blipFill>
        <p:spPr>
          <a:xfrm>
            <a:off x="948690" y="3417570"/>
            <a:ext cx="342900" cy="342900"/>
          </a:xfrm>
          <a:prstGeom prst="rect">
            <a:avLst/>
          </a:prstGeom>
        </p:spPr>
      </p:pic>
      <p:sp>
        <p:nvSpPr>
          <p:cNvPr id="11" name="Text 7"/>
          <p:cNvSpPr txBox="1"/>
          <p:nvPr/>
        </p:nvSpPr>
        <p:spPr>
          <a:xfrm>
            <a:off x="1645920" y="3127248"/>
            <a:ext cx="3840480" cy="365760"/>
          </a:xfrm>
          <a:prstGeom prst="rect">
            <a:avLst/>
          </a:prstGeom>
          <a:noFill/>
          <a:ln/>
        </p:spPr>
        <p:txBody>
          <a:bodyPr wrap="square" lIns="0" tIns="0" rIns="0" bIns="0" rtlCol="0" anchor="t"/>
          <a:lstStyle/>
          <a:p>
            <a:pPr indent="0" marL="0">
              <a:buNone/>
            </a:pPr>
            <a:r>
              <a:rPr lang="en-US" sz="1700" b="1" dirty="0">
                <a:solidFill>
                  <a:schemeClr val="tx2"/>
                </a:solidFill>
              </a:rPr>
              <a:t>Snelle reset</a:t>
            </a:r>
            <a:endParaRPr lang="en-US" sz="1700" dirty="0"/>
          </a:p>
        </p:txBody>
      </p:sp>
      <p:sp>
        <p:nvSpPr>
          <p:cNvPr id="12" name="Text 8"/>
          <p:cNvSpPr txBox="1"/>
          <p:nvPr/>
        </p:nvSpPr>
        <p:spPr>
          <a:xfrm>
            <a:off x="1645920" y="3511296"/>
            <a:ext cx="3840480" cy="685800"/>
          </a:xfrm>
          <a:prstGeom prst="rect">
            <a:avLst/>
          </a:prstGeom>
          <a:noFill/>
          <a:ln/>
        </p:spPr>
        <p:txBody>
          <a:bodyPr wrap="square" lIns="0" tIns="0" rIns="0" bIns="0" rtlCol="0" anchor="t"/>
          <a:lstStyle/>
          <a:p>
            <a:pPr indent="0" marL="0">
              <a:buNone/>
            </a:pPr>
            <a:r>
              <a:rPr lang="en-US" sz="1300" dirty="0">
                <a:solidFill>
                  <a:schemeClr val="tx1"/>
                </a:solidFill>
              </a:rPr>
              <a:t>Elke run een nieuwe, lege database; testdata en configuratie in losse JSON-bestanden</a:t>
            </a:r>
            <a:endParaRPr lang="en-US" sz="1300" dirty="0"/>
          </a:p>
        </p:txBody>
      </p:sp>
      <p:sp>
        <p:nvSpPr>
          <p:cNvPr id="13" name="Kaart Gedocumenteerd en transparant"/>
          <p:cNvSpPr/>
          <p:nvPr/>
        </p:nvSpPr>
        <p:spPr>
          <a:xfrm>
            <a:off x="548640" y="4425696"/>
            <a:ext cx="5120640" cy="1298448"/>
          </a:xfrm>
          <a:prstGeom prst="roundRect">
            <a:avLst>
              <a:gd name="adj" fmla="val 845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Cirkel Gedocumenteerd en transparant"/>
          <p:cNvSpPr/>
          <p:nvPr/>
        </p:nvSpPr>
        <p:spPr>
          <a:xfrm>
            <a:off x="777240" y="4727448"/>
            <a:ext cx="685800" cy="685800"/>
          </a:xfrm>
          <a:prstGeom prst="ellipse">
            <a:avLst/>
          </a:prstGeom>
          <a:solidFill>
            <a:schemeClr val="accent1"/>
          </a:solidFill>
          <a:ln w="12700">
            <a:solidFill>
              <a:schemeClr val="accent1"/>
            </a:solidFill>
            <a:prstDash val="solid"/>
          </a:ln>
        </p:spPr>
      </p:sp>
      <p:pic>
        <p:nvPicPr>
          <p:cNvPr id="15" name="Icoon Gedocumenteerd en transparant" descr="Gedocumenteerd en transparant">    </p:cNvPr>
          <p:cNvPicPr>
            <a:picLocks noChangeAspect="1"/>
          </p:cNvPicPr>
          <p:nvPr/>
        </p:nvPicPr>
        <p:blipFill>
          <a:blip r:embed="rId3"/>
          <a:stretch>
            <a:fillRect/>
          </a:stretch>
        </p:blipFill>
        <p:spPr>
          <a:xfrm>
            <a:off x="948690" y="4898898"/>
            <a:ext cx="342900" cy="342900"/>
          </a:xfrm>
          <a:prstGeom prst="rect">
            <a:avLst/>
          </a:prstGeom>
        </p:spPr>
      </p:pic>
      <p:sp>
        <p:nvSpPr>
          <p:cNvPr id="16" name="Text 11"/>
          <p:cNvSpPr txBox="1"/>
          <p:nvPr/>
        </p:nvSpPr>
        <p:spPr>
          <a:xfrm>
            <a:off x="1645920" y="4608576"/>
            <a:ext cx="3840480" cy="365760"/>
          </a:xfrm>
          <a:prstGeom prst="rect">
            <a:avLst/>
          </a:prstGeom>
          <a:noFill/>
          <a:ln/>
        </p:spPr>
        <p:txBody>
          <a:bodyPr wrap="square" lIns="0" tIns="0" rIns="0" bIns="0" rtlCol="0" anchor="t"/>
          <a:lstStyle/>
          <a:p>
            <a:pPr indent="0" marL="0">
              <a:buNone/>
            </a:pPr>
            <a:r>
              <a:rPr lang="en-US" sz="1700" b="1" dirty="0">
                <a:solidFill>
                  <a:schemeClr val="tx2"/>
                </a:solidFill>
              </a:rPr>
              <a:t>Gedocumenteerd en transparant</a:t>
            </a:r>
            <a:endParaRPr lang="en-US" sz="1700" dirty="0"/>
          </a:p>
        </p:txBody>
      </p:sp>
      <p:sp>
        <p:nvSpPr>
          <p:cNvPr id="17" name="Text 12"/>
          <p:cNvSpPr txBox="1"/>
          <p:nvPr/>
        </p:nvSpPr>
        <p:spPr>
          <a:xfrm>
            <a:off x="1645920" y="4992624"/>
            <a:ext cx="3840480" cy="685800"/>
          </a:xfrm>
          <a:prstGeom prst="rect">
            <a:avLst/>
          </a:prstGeom>
          <a:noFill/>
          <a:ln/>
        </p:spPr>
        <p:txBody>
          <a:bodyPr wrap="square" lIns="0" tIns="0" rIns="0" bIns="0" rtlCol="0" anchor="t"/>
          <a:lstStyle/>
          <a:p>
            <a:pPr indent="0" marL="0">
              <a:buNone/>
            </a:pPr>
            <a:r>
              <a:rPr lang="en-US" sz="1300" dirty="0">
                <a:solidFill>
                  <a:schemeClr val="tx1"/>
                </a:solidFill>
              </a:rPr>
              <a:t>README, testlog per stap, rapport per run, screenshots, versie via vingerafdruk</a:t>
            </a:r>
            <a:endParaRPr lang="en-US" sz="1300" dirty="0"/>
          </a:p>
        </p:txBody>
      </p:sp>
      <p:sp>
        <p:nvSpPr>
          <p:cNvPr id="18" name="Kaart geteste versie"/>
          <p:cNvSpPr/>
          <p:nvPr/>
        </p:nvSpPr>
        <p:spPr>
          <a:xfrm>
            <a:off x="6035040" y="1463040"/>
            <a:ext cx="5577840" cy="1188720"/>
          </a:xfrm>
          <a:prstGeom prst="roundRect">
            <a:avLst>
              <a:gd name="adj" fmla="val 923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4"/>
          <p:cNvSpPr txBox="1"/>
          <p:nvPr/>
        </p:nvSpPr>
        <p:spPr>
          <a:xfrm>
            <a:off x="6263640" y="1572768"/>
            <a:ext cx="5120640" cy="320040"/>
          </a:xfrm>
          <a:prstGeom prst="rect">
            <a:avLst/>
          </a:prstGeom>
          <a:noFill/>
          <a:ln/>
        </p:spPr>
        <p:txBody>
          <a:bodyPr wrap="square" lIns="0" tIns="0" rIns="0" bIns="0" rtlCol="0" anchor="t"/>
          <a:lstStyle/>
          <a:p>
            <a:pPr indent="0" marL="0">
              <a:buNone/>
            </a:pPr>
            <a:r>
              <a:rPr lang="en-US" sz="1500" b="1" dirty="0">
                <a:solidFill>
                  <a:schemeClr val="tx2"/>
                </a:solidFill>
              </a:rPr>
              <a:t>Geteste versie (vastgelegd per run)</a:t>
            </a:r>
            <a:endParaRPr lang="en-US" sz="1500" dirty="0"/>
          </a:p>
        </p:txBody>
      </p:sp>
      <p:sp>
        <p:nvSpPr>
          <p:cNvPr id="20" name="Text 15"/>
          <p:cNvSpPr txBox="1"/>
          <p:nvPr/>
        </p:nvSpPr>
        <p:spPr>
          <a:xfrm>
            <a:off x="6263640" y="1901952"/>
            <a:ext cx="5212080" cy="731520"/>
          </a:xfrm>
          <a:prstGeom prst="rect">
            <a:avLst/>
          </a:prstGeom>
          <a:noFill/>
          <a:ln/>
        </p:spPr>
        <p:txBody>
          <a:bodyPr wrap="square" lIns="0" tIns="0" rIns="0" bIns="0" rtlCol="0" anchor="t"/>
          <a:lstStyle/>
          <a:p>
            <a:pPr indent="0" marL="0">
              <a:buNone/>
            </a:pPr>
            <a:r>
              <a:rPr lang="en-US" sz="1300" b="1" dirty="0">
                <a:solidFill>
                  <a:schemeClr val="tx1"/>
                </a:solidFill>
              </a:rPr>
              <a:t>Build: </a:t>
            </a:r>
            <a:pPr indent="0" marL="0">
              <a:buNone/>
            </a:pPr>
            <a:r>
              <a:rPr lang="en-US" sz="1300" dirty="0">
                <a:solidFill>
                  <a:schemeClr val="tx1"/>
                </a:solidFill>
              </a:rPr>
              <a:t>vingerafdruk 3f8c8b544bb8</a:t>
            </a:r>
            <a:endParaRPr lang="en-US" sz="1300" dirty="0"/>
          </a:p>
          <a:p>
            <a:pPr indent="0" marL="0">
              <a:buNone/>
            </a:pPr>
            <a:r>
              <a:rPr lang="en-US" sz="1300" b="1" dirty="0">
                <a:solidFill>
                  <a:schemeClr val="tx1"/>
                </a:solidFill>
              </a:rPr>
              <a:t>Broncode: </a:t>
            </a:r>
            <a:pPr indent="0" marL="0">
              <a:buNone/>
            </a:pPr>
            <a:r>
              <a:rPr lang="en-US" sz="1300" dirty="0">
                <a:solidFill>
                  <a:schemeClr val="tx1"/>
                </a:solidFill>
              </a:rPr>
              <a:t>vingerafdruk 8e249fb8d958 (84 bestanden; geen git meegeleverd)</a:t>
            </a:r>
            <a:endParaRPr lang="en-US" sz="1300" dirty="0"/>
          </a:p>
          <a:p>
            <a:pPr indent="0" marL="0">
              <a:buNone/>
            </a:pPr>
            <a:r>
              <a:rPr lang="en-US" sz="1300" b="1" dirty="0">
                <a:solidFill>
                  <a:schemeClr val="tx1"/>
                </a:solidFill>
              </a:rPr>
              <a:t>Database: </a:t>
            </a:r>
            <a:pPr indent="0" marL="0">
              <a:buNone/>
            </a:pPr>
            <a:r>
              <a:rPr lang="en-US" sz="1300" dirty="0">
                <a:solidFill>
                  <a:schemeClr val="tx1"/>
                </a:solidFill>
              </a:rPr>
              <a:t>nieuw per run, na afloop verwijderd</a:t>
            </a:r>
            <a:endParaRPr lang="en-US" sz="1300" dirty="0"/>
          </a:p>
        </p:txBody>
      </p:sp>
      <p:pic>
        <p:nvPicPr>
          <p:cNvPr id="21" name="Schermafdruk samenvatting" descr="Samenvatting uit het HTML-testrapport: 112 testcases, 76 geslaagd, 25 gefaald, 0 technische fouten, 11 observaties, 8 van 16 criteria voldaan">    </p:cNvPr>
          <p:cNvPicPr>
            <a:picLocks noChangeAspect="1"/>
          </p:cNvPicPr>
          <p:nvPr/>
        </p:nvPicPr>
        <p:blipFill>
          <a:blip r:embed="rId4"/>
          <a:stretch>
            <a:fillRect/>
          </a:stretch>
        </p:blipFill>
        <p:spPr>
          <a:xfrm>
            <a:off x="6035040" y="2743200"/>
            <a:ext cx="5577840" cy="530352"/>
          </a:xfrm>
          <a:prstGeom prst="rect">
            <a:avLst/>
          </a:prstGeom>
        </p:spPr>
      </p:pic>
      <p:sp>
        <p:nvSpPr>
          <p:cNvPr id="22" name="Text 16"/>
          <p:cNvSpPr txBox="1"/>
          <p:nvPr/>
        </p:nvSpPr>
        <p:spPr>
          <a:xfrm>
            <a:off x="6035040" y="3337560"/>
            <a:ext cx="5577840" cy="548640"/>
          </a:xfrm>
          <a:prstGeom prst="rect">
            <a:avLst/>
          </a:prstGeom>
          <a:noFill/>
          <a:ln/>
        </p:spPr>
        <p:txBody>
          <a:bodyPr wrap="square" lIns="0" tIns="0" rIns="0" bIns="0" rtlCol="0" anchor="t"/>
          <a:lstStyle/>
          <a:p>
            <a:pPr indent="0" marL="0">
              <a:buNone/>
            </a:pPr>
            <a:r>
              <a:rPr lang="en-US" sz="1100" i="1" dirty="0">
                <a:solidFill>
                  <a:schemeClr val="accent5"/>
                </a:solidFill>
              </a:rPr>
              <a:t>Samenvatting uit het automatisch gegenereerde rapport van de laatste testrun</a:t>
            </a:r>
            <a:endParaRPr lang="en-US" sz="1100" dirty="0"/>
          </a:p>
        </p:txBody>
      </p:sp>
      <p:sp>
        <p:nvSpPr>
          <p:cNvPr id="23" name="Kaart oplevering"/>
          <p:cNvSpPr/>
          <p:nvPr/>
        </p:nvSpPr>
        <p:spPr>
          <a:xfrm>
            <a:off x="6035040" y="4206240"/>
            <a:ext cx="557784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Cirkel zip"/>
          <p:cNvSpPr/>
          <p:nvPr/>
        </p:nvSpPr>
        <p:spPr>
          <a:xfrm>
            <a:off x="6263640" y="4434840"/>
            <a:ext cx="640080" cy="640080"/>
          </a:xfrm>
          <a:prstGeom prst="ellipse">
            <a:avLst/>
          </a:prstGeom>
          <a:solidFill>
            <a:schemeClr val="accent5"/>
          </a:solidFill>
          <a:ln w="12700">
            <a:solidFill>
              <a:schemeClr val="accent5"/>
            </a:solidFill>
            <a:prstDash val="solid"/>
          </a:ln>
        </p:spPr>
      </p:sp>
      <p:pic>
        <p:nvPicPr>
          <p:cNvPr id="25" name="Icoon zip" descr="zip">    </p:cNvPr>
          <p:cNvPicPr>
            <a:picLocks noChangeAspect="1"/>
          </p:cNvPicPr>
          <p:nvPr/>
        </p:nvPicPr>
        <p:blipFill>
          <a:blip r:embed="rId5"/>
          <a:stretch>
            <a:fillRect/>
          </a:stretch>
        </p:blipFill>
        <p:spPr>
          <a:xfrm>
            <a:off x="6423660" y="4594860"/>
            <a:ext cx="320040" cy="320040"/>
          </a:xfrm>
          <a:prstGeom prst="rect">
            <a:avLst/>
          </a:prstGeom>
        </p:spPr>
      </p:pic>
      <p:sp>
        <p:nvSpPr>
          <p:cNvPr id="26" name="Text 19"/>
          <p:cNvSpPr txBox="1"/>
          <p:nvPr/>
        </p:nvSpPr>
        <p:spPr>
          <a:xfrm>
            <a:off x="7086600" y="4434840"/>
            <a:ext cx="4389120" cy="365760"/>
          </a:xfrm>
          <a:prstGeom prst="rect">
            <a:avLst/>
          </a:prstGeom>
          <a:noFill/>
          <a:ln/>
        </p:spPr>
        <p:txBody>
          <a:bodyPr wrap="square" lIns="0" tIns="0" rIns="0" bIns="0" rtlCol="0" anchor="t"/>
          <a:lstStyle/>
          <a:p>
            <a:pPr indent="0" marL="0">
              <a:buNone/>
            </a:pPr>
            <a:r>
              <a:rPr lang="en-US" sz="1700" b="1" dirty="0">
                <a:solidFill>
                  <a:schemeClr val="tx2"/>
                </a:solidFill>
              </a:rPr>
              <a:t>Opgeleverd als zip</a:t>
            </a:r>
            <a:endParaRPr lang="en-US" sz="1700" dirty="0"/>
          </a:p>
        </p:txBody>
      </p:sp>
      <p:sp>
        <p:nvSpPr>
          <p:cNvPr id="27" name="Text 20"/>
          <p:cNvSpPr txBox="1"/>
          <p:nvPr/>
        </p:nvSpPr>
        <p:spPr>
          <a:xfrm>
            <a:off x="7086600" y="4846320"/>
            <a:ext cx="4343400" cy="1005840"/>
          </a:xfrm>
          <a:prstGeom prst="rect">
            <a:avLst/>
          </a:prstGeom>
          <a:noFill/>
          <a:ln/>
        </p:spPr>
        <p:txBody>
          <a:bodyPr wrap="square" lIns="0" tIns="0" rIns="0" bIns="0" rtlCol="0" anchor="t"/>
          <a:lstStyle/>
          <a:p>
            <a:pPr indent="0" marL="0">
              <a:buNone/>
            </a:pPr>
            <a:r>
              <a:rPr lang="en-US" sz="1300" dirty="0">
                <a:solidFill>
                  <a:schemeClr val="tx1"/>
                </a:solidFill>
              </a:rPr>
              <a:t>MMA-Testomgeving.sln met de applicatie en het testproject: Selenium (headless Chrome) en HTTP-tests in xUnit. Uitgepakt in een lege map gebouwd en gedraaid.</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Zo lees je de testresultaten</a:t>
            </a:r>
            <a:endParaRPr lang="en-US" sz="3400" dirty="0"/>
          </a:p>
        </p:txBody>
      </p:sp>
      <p:sp>
        <p:nvSpPr>
          <p:cNvPr id="3" name="Kaart Criterium voldaan"/>
          <p:cNvSpPr/>
          <p:nvPr/>
        </p:nvSpPr>
        <p:spPr>
          <a:xfrm>
            <a:off x="548640" y="1463040"/>
            <a:ext cx="544068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Cirkel Criterium voldaan"/>
          <p:cNvSpPr/>
          <p:nvPr/>
        </p:nvSpPr>
        <p:spPr>
          <a:xfrm>
            <a:off x="822960" y="1737360"/>
            <a:ext cx="685800" cy="685800"/>
          </a:xfrm>
          <a:prstGeom prst="ellipse">
            <a:avLst/>
          </a:prstGeom>
          <a:solidFill>
            <a:schemeClr val="accent4"/>
          </a:solidFill>
          <a:ln w="12700">
            <a:solidFill>
              <a:schemeClr val="accent4"/>
            </a:solidFill>
            <a:prstDash val="solid"/>
          </a:ln>
        </p:spPr>
      </p:sp>
      <p:pic>
        <p:nvPicPr>
          <p:cNvPr id="5" name="Icoon Criterium voldaan" descr="Criterium voldaan">    </p:cNvPr>
          <p:cNvPicPr>
            <a:picLocks noChangeAspect="1"/>
          </p:cNvPicPr>
          <p:nvPr/>
        </p:nvPicPr>
        <p:blipFill>
          <a:blip r:embed="rId1"/>
          <a:stretch>
            <a:fillRect/>
          </a:stretch>
        </p:blipFill>
        <p:spPr>
          <a:xfrm>
            <a:off x="994410" y="1908810"/>
            <a:ext cx="342900" cy="342900"/>
          </a:xfrm>
          <a:prstGeom prst="rect">
            <a:avLst/>
          </a:prstGeom>
        </p:spPr>
      </p:pic>
      <p:sp>
        <p:nvSpPr>
          <p:cNvPr id="6" name="Text 3"/>
          <p:cNvSpPr txBox="1"/>
          <p:nvPr/>
        </p:nvSpPr>
        <p:spPr>
          <a:xfrm>
            <a:off x="1737360" y="1783080"/>
            <a:ext cx="4023360" cy="411480"/>
          </a:xfrm>
          <a:prstGeom prst="rect">
            <a:avLst/>
          </a:prstGeom>
          <a:noFill/>
          <a:ln/>
        </p:spPr>
        <p:txBody>
          <a:bodyPr wrap="square" lIns="0" tIns="0" rIns="0" bIns="0" rtlCol="0" anchor="t"/>
          <a:lstStyle/>
          <a:p>
            <a:pPr indent="0" marL="0">
              <a:buNone/>
            </a:pPr>
            <a:r>
              <a:rPr lang="en-US" sz="1800" b="1" dirty="0">
                <a:solidFill>
                  <a:schemeClr val="tx2"/>
                </a:solidFill>
              </a:rPr>
              <a:t>Criterium voldaan</a:t>
            </a:r>
            <a:endParaRPr lang="en-US" sz="1800" dirty="0"/>
          </a:p>
        </p:txBody>
      </p:sp>
      <p:sp>
        <p:nvSpPr>
          <p:cNvPr id="7" name="Text 4"/>
          <p:cNvSpPr txBox="1"/>
          <p:nvPr/>
        </p:nvSpPr>
        <p:spPr>
          <a:xfrm>
            <a:off x="1737360" y="2240280"/>
            <a:ext cx="4023360" cy="1188720"/>
          </a:xfrm>
          <a:prstGeom prst="rect">
            <a:avLst/>
          </a:prstGeom>
          <a:noFill/>
          <a:ln/>
        </p:spPr>
        <p:txBody>
          <a:bodyPr wrap="square" lIns="0" tIns="0" rIns="0" bIns="0" rtlCol="0" anchor="t"/>
          <a:lstStyle/>
          <a:p>
            <a:pPr indent="0" marL="0">
              <a:buNone/>
            </a:pPr>
            <a:r>
              <a:rPr lang="en-US" sz="1400" dirty="0">
                <a:solidFill>
                  <a:schemeClr val="tx1"/>
                </a:solidFill>
              </a:rPr>
              <a:t>Alleen als álle gekoppelde testcases slagen. Eén gefaalde testcase = niet voldaan, ook als de hoofdflow werkt.</a:t>
            </a:r>
            <a:endParaRPr lang="en-US" sz="1400" dirty="0"/>
          </a:p>
        </p:txBody>
      </p:sp>
      <p:sp>
        <p:nvSpPr>
          <p:cNvPr id="8" name="Kaart Gefaald ≠ technische fout"/>
          <p:cNvSpPr/>
          <p:nvPr/>
        </p:nvSpPr>
        <p:spPr>
          <a:xfrm>
            <a:off x="6172200" y="1463040"/>
            <a:ext cx="544068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Cirkel Gefaald ≠ technische fout"/>
          <p:cNvSpPr/>
          <p:nvPr/>
        </p:nvSpPr>
        <p:spPr>
          <a:xfrm>
            <a:off x="6446520" y="1737360"/>
            <a:ext cx="685800" cy="685800"/>
          </a:xfrm>
          <a:prstGeom prst="ellipse">
            <a:avLst/>
          </a:prstGeom>
          <a:solidFill>
            <a:schemeClr val="accent2"/>
          </a:solidFill>
          <a:ln w="12700">
            <a:solidFill>
              <a:schemeClr val="accent2"/>
            </a:solidFill>
            <a:prstDash val="solid"/>
          </a:ln>
        </p:spPr>
      </p:sp>
      <p:pic>
        <p:nvPicPr>
          <p:cNvPr id="10" name="Icoon Gefaald ≠ technische fout" descr="Gefaald ≠ technische fout">    </p:cNvPr>
          <p:cNvPicPr>
            <a:picLocks noChangeAspect="1"/>
          </p:cNvPicPr>
          <p:nvPr/>
        </p:nvPicPr>
        <p:blipFill>
          <a:blip r:embed="rId2"/>
          <a:stretch>
            <a:fillRect/>
          </a:stretch>
        </p:blipFill>
        <p:spPr>
          <a:xfrm>
            <a:off x="6617970" y="1908810"/>
            <a:ext cx="342900" cy="342900"/>
          </a:xfrm>
          <a:prstGeom prst="rect">
            <a:avLst/>
          </a:prstGeom>
        </p:spPr>
      </p:pic>
      <p:sp>
        <p:nvSpPr>
          <p:cNvPr id="11" name="Text 7"/>
          <p:cNvSpPr txBox="1"/>
          <p:nvPr/>
        </p:nvSpPr>
        <p:spPr>
          <a:xfrm>
            <a:off x="7360920" y="1783080"/>
            <a:ext cx="4023360" cy="411480"/>
          </a:xfrm>
          <a:prstGeom prst="rect">
            <a:avLst/>
          </a:prstGeom>
          <a:noFill/>
          <a:ln/>
        </p:spPr>
        <p:txBody>
          <a:bodyPr wrap="square" lIns="0" tIns="0" rIns="0" bIns="0" rtlCol="0" anchor="t"/>
          <a:lstStyle/>
          <a:p>
            <a:pPr indent="0" marL="0">
              <a:buNone/>
            </a:pPr>
            <a:r>
              <a:rPr lang="en-US" sz="1800" b="1" dirty="0">
                <a:solidFill>
                  <a:schemeClr val="tx2"/>
                </a:solidFill>
              </a:rPr>
              <a:t>Gefaald ≠ technische fout</a:t>
            </a:r>
            <a:endParaRPr lang="en-US" sz="1800" dirty="0"/>
          </a:p>
        </p:txBody>
      </p:sp>
      <p:sp>
        <p:nvSpPr>
          <p:cNvPr id="12" name="Text 8"/>
          <p:cNvSpPr txBox="1"/>
          <p:nvPr/>
        </p:nvSpPr>
        <p:spPr>
          <a:xfrm>
            <a:off x="7360920" y="2240280"/>
            <a:ext cx="4023360" cy="1188720"/>
          </a:xfrm>
          <a:prstGeom prst="rect">
            <a:avLst/>
          </a:prstGeom>
          <a:noFill/>
          <a:ln/>
        </p:spPr>
        <p:txBody>
          <a:bodyPr wrap="square" lIns="0" tIns="0" rIns="0" bIns="0" rtlCol="0" anchor="t"/>
          <a:lstStyle/>
          <a:p>
            <a:pPr indent="0" marL="0">
              <a:buNone/>
            </a:pPr>
            <a:r>
              <a:rPr lang="en-US" sz="1400" dirty="0">
                <a:solidFill>
                  <a:schemeClr val="tx1"/>
                </a:solidFill>
              </a:rPr>
              <a:t>Gefaald: de software doet iets anders dan verwacht (een bevinding). Technische fout: de test kon niet afronden; zegt niets over de software.</a:t>
            </a:r>
            <a:endParaRPr lang="en-US" sz="1400" dirty="0"/>
          </a:p>
        </p:txBody>
      </p:sp>
      <p:sp>
        <p:nvSpPr>
          <p:cNvPr id="13" name="Kaart Observaties en EXT"/>
          <p:cNvSpPr/>
          <p:nvPr/>
        </p:nvSpPr>
        <p:spPr>
          <a:xfrm>
            <a:off x="548640" y="3749040"/>
            <a:ext cx="544068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Cirkel Observaties en EXT"/>
          <p:cNvSpPr/>
          <p:nvPr/>
        </p:nvSpPr>
        <p:spPr>
          <a:xfrm>
            <a:off x="822960" y="4023360"/>
            <a:ext cx="685800" cy="685800"/>
          </a:xfrm>
          <a:prstGeom prst="ellipse">
            <a:avLst/>
          </a:prstGeom>
          <a:solidFill>
            <a:schemeClr val="accent5"/>
          </a:solidFill>
          <a:ln w="12700">
            <a:solidFill>
              <a:schemeClr val="accent5"/>
            </a:solidFill>
            <a:prstDash val="solid"/>
          </a:ln>
        </p:spPr>
      </p:sp>
      <p:pic>
        <p:nvPicPr>
          <p:cNvPr id="15" name="Icoon Observaties en EXT" descr="Observaties en EXT">    </p:cNvPr>
          <p:cNvPicPr>
            <a:picLocks noChangeAspect="1"/>
          </p:cNvPicPr>
          <p:nvPr/>
        </p:nvPicPr>
        <p:blipFill>
          <a:blip r:embed="rId3"/>
          <a:stretch>
            <a:fillRect/>
          </a:stretch>
        </p:blipFill>
        <p:spPr>
          <a:xfrm>
            <a:off x="994410" y="4194810"/>
            <a:ext cx="342900" cy="342900"/>
          </a:xfrm>
          <a:prstGeom prst="rect">
            <a:avLst/>
          </a:prstGeom>
        </p:spPr>
      </p:pic>
      <p:sp>
        <p:nvSpPr>
          <p:cNvPr id="16" name="Text 11"/>
          <p:cNvSpPr txBox="1"/>
          <p:nvPr/>
        </p:nvSpPr>
        <p:spPr>
          <a:xfrm>
            <a:off x="1737360" y="4069080"/>
            <a:ext cx="4023360" cy="411480"/>
          </a:xfrm>
          <a:prstGeom prst="rect">
            <a:avLst/>
          </a:prstGeom>
          <a:noFill/>
          <a:ln/>
        </p:spPr>
        <p:txBody>
          <a:bodyPr wrap="square" lIns="0" tIns="0" rIns="0" bIns="0" rtlCol="0" anchor="t"/>
          <a:lstStyle/>
          <a:p>
            <a:pPr indent="0" marL="0">
              <a:buNone/>
            </a:pPr>
            <a:r>
              <a:rPr lang="en-US" sz="1800" b="1" dirty="0">
                <a:solidFill>
                  <a:schemeClr val="tx2"/>
                </a:solidFill>
              </a:rPr>
              <a:t>Observaties en EXT</a:t>
            </a:r>
            <a:endParaRPr lang="en-US" sz="1800" dirty="0"/>
          </a:p>
        </p:txBody>
      </p:sp>
      <p:sp>
        <p:nvSpPr>
          <p:cNvPr id="17" name="Text 12"/>
          <p:cNvSpPr txBox="1"/>
          <p:nvPr/>
        </p:nvSpPr>
        <p:spPr>
          <a:xfrm>
            <a:off x="1737360" y="4526280"/>
            <a:ext cx="4023360" cy="1188720"/>
          </a:xfrm>
          <a:prstGeom prst="rect">
            <a:avLst/>
          </a:prstGeom>
          <a:noFill/>
          <a:ln/>
        </p:spPr>
        <p:txBody>
          <a:bodyPr wrap="square" lIns="0" tIns="0" rIns="0" bIns="0" rtlCol="0" anchor="t"/>
          <a:lstStyle/>
          <a:p>
            <a:pPr indent="0" marL="0">
              <a:buNone/>
            </a:pPr>
            <a:r>
              <a:rPr lang="en-US" sz="1400" dirty="0">
                <a:solidFill>
                  <a:schemeClr val="tx1"/>
                </a:solidFill>
              </a:rPr>
              <a:t>Leggen gedrag vast buiten de criteria. Tellen niet mee voor ‘voldaan’, wel voor het advies.</a:t>
            </a:r>
            <a:endParaRPr lang="en-US" sz="1400" dirty="0"/>
          </a:p>
        </p:txBody>
      </p:sp>
      <p:sp>
        <p:nvSpPr>
          <p:cNvPr id="18" name="Kaart Selenium en HTTP"/>
          <p:cNvSpPr/>
          <p:nvPr/>
        </p:nvSpPr>
        <p:spPr>
          <a:xfrm>
            <a:off x="6172200" y="3749040"/>
            <a:ext cx="5440680" cy="20574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Cirkel Selenium en HTTP"/>
          <p:cNvSpPr/>
          <p:nvPr/>
        </p:nvSpPr>
        <p:spPr>
          <a:xfrm>
            <a:off x="6446520" y="4023360"/>
            <a:ext cx="685800" cy="685800"/>
          </a:xfrm>
          <a:prstGeom prst="ellipse">
            <a:avLst/>
          </a:prstGeom>
          <a:solidFill>
            <a:schemeClr val="accent1"/>
          </a:solidFill>
          <a:ln w="12700">
            <a:solidFill>
              <a:schemeClr val="accent1"/>
            </a:solidFill>
            <a:prstDash val="solid"/>
          </a:ln>
        </p:spPr>
      </p:sp>
      <p:pic>
        <p:nvPicPr>
          <p:cNvPr id="20" name="Icoon Selenium en HTTP" descr="Selenium en HTTP">    </p:cNvPr>
          <p:cNvPicPr>
            <a:picLocks noChangeAspect="1"/>
          </p:cNvPicPr>
          <p:nvPr/>
        </p:nvPicPr>
        <p:blipFill>
          <a:blip r:embed="rId4"/>
          <a:stretch>
            <a:fillRect/>
          </a:stretch>
        </p:blipFill>
        <p:spPr>
          <a:xfrm>
            <a:off x="6617970" y="4194810"/>
            <a:ext cx="342900" cy="342900"/>
          </a:xfrm>
          <a:prstGeom prst="rect">
            <a:avLst/>
          </a:prstGeom>
        </p:spPr>
      </p:pic>
      <p:sp>
        <p:nvSpPr>
          <p:cNvPr id="21" name="Text 15"/>
          <p:cNvSpPr txBox="1"/>
          <p:nvPr/>
        </p:nvSpPr>
        <p:spPr>
          <a:xfrm>
            <a:off x="7360920" y="4069080"/>
            <a:ext cx="4023360" cy="411480"/>
          </a:xfrm>
          <a:prstGeom prst="rect">
            <a:avLst/>
          </a:prstGeom>
          <a:noFill/>
          <a:ln/>
        </p:spPr>
        <p:txBody>
          <a:bodyPr wrap="square" lIns="0" tIns="0" rIns="0" bIns="0" rtlCol="0" anchor="t"/>
          <a:lstStyle/>
          <a:p>
            <a:pPr indent="0" marL="0">
              <a:buNone/>
            </a:pPr>
            <a:r>
              <a:rPr lang="en-US" sz="1800" b="1" dirty="0">
                <a:solidFill>
                  <a:schemeClr val="tx2"/>
                </a:solidFill>
              </a:rPr>
              <a:t>Selenium en HTTP</a:t>
            </a:r>
            <a:endParaRPr lang="en-US" sz="1800" dirty="0"/>
          </a:p>
        </p:txBody>
      </p:sp>
      <p:sp>
        <p:nvSpPr>
          <p:cNvPr id="22" name="Text 16"/>
          <p:cNvSpPr txBox="1"/>
          <p:nvPr/>
        </p:nvSpPr>
        <p:spPr>
          <a:xfrm>
            <a:off x="7360920" y="4526280"/>
            <a:ext cx="4023360" cy="1188720"/>
          </a:xfrm>
          <a:prstGeom prst="rect">
            <a:avLst/>
          </a:prstGeom>
          <a:noFill/>
          <a:ln/>
        </p:spPr>
        <p:txBody>
          <a:bodyPr wrap="square" lIns="0" tIns="0" rIns="0" bIns="0" rtlCol="0" anchor="t"/>
          <a:lstStyle/>
          <a:p>
            <a:pPr indent="0" marL="0">
              <a:buNone/>
            </a:pPr>
            <a:r>
              <a:rPr lang="en-US" sz="1400" dirty="0">
                <a:solidFill>
                  <a:schemeClr val="tx1"/>
                </a:solidFill>
              </a:rPr>
              <a:t>Faalt een Selenium-test, dan ziet de gebruiker het. Faalt alleen een HTTP-test, dan kan een kwaadwillende het misbruiken. Beide tellen even zwaar.</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Resultaat per user story</a:t>
            </a:r>
            <a:endParaRPr lang="en-US" sz="3400" dirty="0"/>
          </a:p>
        </p:txBody>
      </p:sp>
      <p:sp>
        <p:nvSpPr>
          <p:cNvPr id="3" name="Text 1"/>
          <p:cNvSpPr txBox="1"/>
          <p:nvPr/>
        </p:nvSpPr>
        <p:spPr>
          <a:xfrm>
            <a:off x="4160520" y="1417320"/>
            <a:ext cx="1188720" cy="320040"/>
          </a:xfrm>
          <a:prstGeom prst="rect">
            <a:avLst/>
          </a:prstGeom>
          <a:noFill/>
          <a:ln/>
        </p:spPr>
        <p:txBody>
          <a:bodyPr wrap="square" lIns="0" tIns="0" rIns="0" bIns="0" rtlCol="0" anchor="t"/>
          <a:lstStyle/>
          <a:p>
            <a:pPr algn="ctr" indent="0" marL="0">
              <a:buNone/>
            </a:pPr>
            <a:r>
              <a:rPr lang="en-US" sz="1400" b="1" dirty="0">
                <a:solidFill>
                  <a:schemeClr val="tx2"/>
                </a:solidFill>
              </a:rPr>
              <a:t>Week 4</a:t>
            </a:r>
            <a:endParaRPr lang="en-US" sz="1400" dirty="0"/>
          </a:p>
        </p:txBody>
      </p:sp>
      <p:sp>
        <p:nvSpPr>
          <p:cNvPr id="4" name="Text 2"/>
          <p:cNvSpPr txBox="1"/>
          <p:nvPr/>
        </p:nvSpPr>
        <p:spPr>
          <a:xfrm>
            <a:off x="5486400" y="1417320"/>
            <a:ext cx="1188720" cy="320040"/>
          </a:xfrm>
          <a:prstGeom prst="rect">
            <a:avLst/>
          </a:prstGeom>
          <a:noFill/>
          <a:ln/>
        </p:spPr>
        <p:txBody>
          <a:bodyPr wrap="square" lIns="0" tIns="0" rIns="0" bIns="0" rtlCol="0" anchor="t"/>
          <a:lstStyle/>
          <a:p>
            <a:pPr algn="ctr" indent="0" marL="0">
              <a:buNone/>
            </a:pPr>
            <a:r>
              <a:rPr lang="en-US" sz="1400" b="1" dirty="0">
                <a:solidFill>
                  <a:schemeClr val="tx2"/>
                </a:solidFill>
              </a:rPr>
              <a:t>Week 7</a:t>
            </a:r>
            <a:endParaRPr lang="en-US" sz="1400" dirty="0"/>
          </a:p>
        </p:txBody>
      </p:sp>
      <p:sp>
        <p:nvSpPr>
          <p:cNvPr id="5" name="Text 3"/>
          <p:cNvSpPr txBox="1"/>
          <p:nvPr/>
        </p:nvSpPr>
        <p:spPr>
          <a:xfrm>
            <a:off x="548640" y="1901952"/>
            <a:ext cx="3474720" cy="365760"/>
          </a:xfrm>
          <a:prstGeom prst="rect">
            <a:avLst/>
          </a:prstGeom>
          <a:noFill/>
          <a:ln/>
        </p:spPr>
        <p:txBody>
          <a:bodyPr wrap="square" lIns="0" tIns="0" rIns="0" bIns="0" rtlCol="0" anchor="t"/>
          <a:lstStyle/>
          <a:p>
            <a:pPr indent="0" marL="0">
              <a:buNone/>
            </a:pPr>
            <a:r>
              <a:rPr lang="en-US" sz="1400" dirty="0">
                <a:solidFill>
                  <a:schemeClr val="tx1"/>
                </a:solidFill>
              </a:rPr>
              <a:t>Gebruikersrollen beheren</a:t>
            </a:r>
            <a:endParaRPr lang="en-US" sz="1400" dirty="0"/>
          </a:p>
        </p:txBody>
      </p:sp>
      <p:sp>
        <p:nvSpPr>
          <p:cNvPr id="6" name="Status Gebruikersrollen beheren week 4 AC1"/>
          <p:cNvSpPr/>
          <p:nvPr/>
        </p:nvSpPr>
        <p:spPr>
          <a:xfrm>
            <a:off x="4160520" y="1828800"/>
            <a:ext cx="548640" cy="402336"/>
          </a:xfrm>
          <a:prstGeom prst="roundRect">
            <a:avLst>
              <a:gd name="adj" fmla="val 13636"/>
            </a:avLst>
          </a:prstGeom>
          <a:solidFill>
            <a:schemeClr val="accent4"/>
          </a:solidFill>
          <a:ln w="12700">
            <a:solidFill>
              <a:schemeClr val="accent4"/>
            </a:solidFill>
            <a:prstDash val="solid"/>
          </a:ln>
        </p:spPr>
      </p:sp>
      <p:sp>
        <p:nvSpPr>
          <p:cNvPr id="7" name="Text 5"/>
          <p:cNvSpPr txBox="1"/>
          <p:nvPr/>
        </p:nvSpPr>
        <p:spPr>
          <a:xfrm>
            <a:off x="4160520" y="1865376"/>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Status Gebruikersrollen beheren week 4 AC2"/>
          <p:cNvSpPr/>
          <p:nvPr/>
        </p:nvSpPr>
        <p:spPr>
          <a:xfrm>
            <a:off x="4773168" y="1828800"/>
            <a:ext cx="548640" cy="402336"/>
          </a:xfrm>
          <a:prstGeom prst="roundRect">
            <a:avLst>
              <a:gd name="adj" fmla="val 13636"/>
            </a:avLst>
          </a:prstGeom>
          <a:solidFill>
            <a:schemeClr val="accent2"/>
          </a:solidFill>
          <a:ln w="12700">
            <a:solidFill>
              <a:schemeClr val="accent2"/>
            </a:solidFill>
            <a:prstDash val="solid"/>
          </a:ln>
        </p:spPr>
      </p:sp>
      <p:sp>
        <p:nvSpPr>
          <p:cNvPr id="9" name="Text 7"/>
          <p:cNvSpPr txBox="1"/>
          <p:nvPr/>
        </p:nvSpPr>
        <p:spPr>
          <a:xfrm>
            <a:off x="4773168" y="1865376"/>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Status Gebruikersrollen beheren week 7 AC1"/>
          <p:cNvSpPr/>
          <p:nvPr/>
        </p:nvSpPr>
        <p:spPr>
          <a:xfrm>
            <a:off x="5486400" y="1828800"/>
            <a:ext cx="548640" cy="402336"/>
          </a:xfrm>
          <a:prstGeom prst="roundRect">
            <a:avLst>
              <a:gd name="adj" fmla="val 13636"/>
            </a:avLst>
          </a:prstGeom>
          <a:solidFill>
            <a:schemeClr val="accent4"/>
          </a:solidFill>
          <a:ln w="12700">
            <a:solidFill>
              <a:schemeClr val="accent4"/>
            </a:solidFill>
            <a:prstDash val="solid"/>
          </a:ln>
        </p:spPr>
      </p:sp>
      <p:sp>
        <p:nvSpPr>
          <p:cNvPr id="11" name="Text 9"/>
          <p:cNvSpPr txBox="1"/>
          <p:nvPr/>
        </p:nvSpPr>
        <p:spPr>
          <a:xfrm>
            <a:off x="5486400" y="1865376"/>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Status Gebruikersrollen beheren week 7 AC2"/>
          <p:cNvSpPr/>
          <p:nvPr/>
        </p:nvSpPr>
        <p:spPr>
          <a:xfrm>
            <a:off x="6099048" y="1828800"/>
            <a:ext cx="548640" cy="402336"/>
          </a:xfrm>
          <a:prstGeom prst="roundRect">
            <a:avLst>
              <a:gd name="adj" fmla="val 13636"/>
            </a:avLst>
          </a:prstGeom>
          <a:solidFill>
            <a:schemeClr val="accent2"/>
          </a:solidFill>
          <a:ln w="12700">
            <a:solidFill>
              <a:schemeClr val="accent2"/>
            </a:solidFill>
            <a:prstDash val="solid"/>
          </a:ln>
        </p:spPr>
      </p:sp>
      <p:sp>
        <p:nvSpPr>
          <p:cNvPr id="13" name="Text 11"/>
          <p:cNvSpPr txBox="1"/>
          <p:nvPr/>
        </p:nvSpPr>
        <p:spPr>
          <a:xfrm>
            <a:off x="6099048" y="1865376"/>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Text 12"/>
          <p:cNvSpPr txBox="1"/>
          <p:nvPr/>
        </p:nvSpPr>
        <p:spPr>
          <a:xfrm>
            <a:off x="548640" y="2414016"/>
            <a:ext cx="3474720" cy="365760"/>
          </a:xfrm>
          <a:prstGeom prst="rect">
            <a:avLst/>
          </a:prstGeom>
          <a:noFill/>
          <a:ln/>
        </p:spPr>
        <p:txBody>
          <a:bodyPr wrap="square" lIns="0" tIns="0" rIns="0" bIns="0" rtlCol="0" anchor="t"/>
          <a:lstStyle/>
          <a:p>
            <a:pPr indent="0" marL="0">
              <a:buNone/>
            </a:pPr>
            <a:r>
              <a:rPr lang="en-US" sz="1400" dirty="0">
                <a:solidFill>
                  <a:schemeClr val="tx1"/>
                </a:solidFill>
              </a:rPr>
              <a:t>Inloggen</a:t>
            </a:r>
            <a:endParaRPr lang="en-US" sz="1400" dirty="0"/>
          </a:p>
        </p:txBody>
      </p:sp>
      <p:sp>
        <p:nvSpPr>
          <p:cNvPr id="15" name="Status Inloggen week 4 AC1"/>
          <p:cNvSpPr/>
          <p:nvPr/>
        </p:nvSpPr>
        <p:spPr>
          <a:xfrm>
            <a:off x="4160520" y="2340864"/>
            <a:ext cx="548640" cy="402336"/>
          </a:xfrm>
          <a:prstGeom prst="roundRect">
            <a:avLst>
              <a:gd name="adj" fmla="val 13636"/>
            </a:avLst>
          </a:prstGeom>
          <a:solidFill>
            <a:schemeClr val="accent4"/>
          </a:solidFill>
          <a:ln w="12700">
            <a:solidFill>
              <a:schemeClr val="accent4"/>
            </a:solidFill>
            <a:prstDash val="solid"/>
          </a:ln>
        </p:spPr>
      </p:sp>
      <p:sp>
        <p:nvSpPr>
          <p:cNvPr id="16" name="Text 14"/>
          <p:cNvSpPr txBox="1"/>
          <p:nvPr/>
        </p:nvSpPr>
        <p:spPr>
          <a:xfrm>
            <a:off x="4160520" y="2377440"/>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7" name="Status Inloggen week 4 AC2"/>
          <p:cNvSpPr/>
          <p:nvPr/>
        </p:nvSpPr>
        <p:spPr>
          <a:xfrm>
            <a:off x="4773168" y="2340864"/>
            <a:ext cx="548640" cy="402336"/>
          </a:xfrm>
          <a:prstGeom prst="roundRect">
            <a:avLst>
              <a:gd name="adj" fmla="val 13636"/>
            </a:avLst>
          </a:prstGeom>
          <a:solidFill>
            <a:schemeClr val="accent4"/>
          </a:solidFill>
          <a:ln w="12700">
            <a:solidFill>
              <a:schemeClr val="accent4"/>
            </a:solidFill>
            <a:prstDash val="solid"/>
          </a:ln>
        </p:spPr>
      </p:sp>
      <p:sp>
        <p:nvSpPr>
          <p:cNvPr id="18" name="Text 16"/>
          <p:cNvSpPr txBox="1"/>
          <p:nvPr/>
        </p:nvSpPr>
        <p:spPr>
          <a:xfrm>
            <a:off x="4773168" y="2377440"/>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9" name="Status Inloggen week 7 AC1"/>
          <p:cNvSpPr/>
          <p:nvPr/>
        </p:nvSpPr>
        <p:spPr>
          <a:xfrm>
            <a:off x="5486400" y="2340864"/>
            <a:ext cx="548640" cy="402336"/>
          </a:xfrm>
          <a:prstGeom prst="roundRect">
            <a:avLst>
              <a:gd name="adj" fmla="val 13636"/>
            </a:avLst>
          </a:prstGeom>
          <a:solidFill>
            <a:schemeClr val="accent4"/>
          </a:solidFill>
          <a:ln w="12700">
            <a:solidFill>
              <a:schemeClr val="accent4"/>
            </a:solidFill>
            <a:prstDash val="solid"/>
          </a:ln>
        </p:spPr>
      </p:sp>
      <p:sp>
        <p:nvSpPr>
          <p:cNvPr id="20" name="Text 18"/>
          <p:cNvSpPr txBox="1"/>
          <p:nvPr/>
        </p:nvSpPr>
        <p:spPr>
          <a:xfrm>
            <a:off x="5486400" y="2377440"/>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1" name="Status Inloggen week 7 AC2"/>
          <p:cNvSpPr/>
          <p:nvPr/>
        </p:nvSpPr>
        <p:spPr>
          <a:xfrm>
            <a:off x="6099048" y="2340864"/>
            <a:ext cx="548640" cy="402336"/>
          </a:xfrm>
          <a:prstGeom prst="roundRect">
            <a:avLst>
              <a:gd name="adj" fmla="val 13636"/>
            </a:avLst>
          </a:prstGeom>
          <a:solidFill>
            <a:schemeClr val="accent4"/>
          </a:solidFill>
          <a:ln w="12700">
            <a:solidFill>
              <a:schemeClr val="accent4"/>
            </a:solidFill>
            <a:prstDash val="solid"/>
          </a:ln>
        </p:spPr>
      </p:sp>
      <p:sp>
        <p:nvSpPr>
          <p:cNvPr id="22" name="Text 20"/>
          <p:cNvSpPr txBox="1"/>
          <p:nvPr/>
        </p:nvSpPr>
        <p:spPr>
          <a:xfrm>
            <a:off x="6099048" y="2377440"/>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3" name="Text 21"/>
          <p:cNvSpPr txBox="1"/>
          <p:nvPr/>
        </p:nvSpPr>
        <p:spPr>
          <a:xfrm>
            <a:off x="548640" y="2926080"/>
            <a:ext cx="3474720" cy="365760"/>
          </a:xfrm>
          <a:prstGeom prst="rect">
            <a:avLst/>
          </a:prstGeom>
          <a:noFill/>
          <a:ln/>
        </p:spPr>
        <p:txBody>
          <a:bodyPr wrap="square" lIns="0" tIns="0" rIns="0" bIns="0" rtlCol="0" anchor="t"/>
          <a:lstStyle/>
          <a:p>
            <a:pPr indent="0" marL="0">
              <a:buNone/>
            </a:pPr>
            <a:r>
              <a:rPr lang="en-US" sz="1400" dirty="0">
                <a:solidFill>
                  <a:schemeClr val="tx1"/>
                </a:solidFill>
              </a:rPr>
              <a:t>Medicatie voorschrijven</a:t>
            </a:r>
            <a:endParaRPr lang="en-US" sz="1400" dirty="0"/>
          </a:p>
        </p:txBody>
      </p:sp>
      <p:sp>
        <p:nvSpPr>
          <p:cNvPr id="24" name="Status Medicatie voorschrijven week 4 AC1"/>
          <p:cNvSpPr/>
          <p:nvPr/>
        </p:nvSpPr>
        <p:spPr>
          <a:xfrm>
            <a:off x="4160520" y="2852928"/>
            <a:ext cx="548640" cy="402336"/>
          </a:xfrm>
          <a:prstGeom prst="roundRect">
            <a:avLst>
              <a:gd name="adj" fmla="val 13636"/>
            </a:avLst>
          </a:prstGeom>
          <a:solidFill>
            <a:schemeClr val="accent2"/>
          </a:solidFill>
          <a:ln w="12700">
            <a:solidFill>
              <a:schemeClr val="accent2"/>
            </a:solidFill>
            <a:prstDash val="solid"/>
          </a:ln>
        </p:spPr>
      </p:sp>
      <p:sp>
        <p:nvSpPr>
          <p:cNvPr id="25" name="Text 23"/>
          <p:cNvSpPr txBox="1"/>
          <p:nvPr/>
        </p:nvSpPr>
        <p:spPr>
          <a:xfrm>
            <a:off x="4160520" y="2889504"/>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6" name="Status Medicatie voorschrijven week 4 AC2"/>
          <p:cNvSpPr/>
          <p:nvPr/>
        </p:nvSpPr>
        <p:spPr>
          <a:xfrm>
            <a:off x="4773168" y="2852928"/>
            <a:ext cx="548640" cy="402336"/>
          </a:xfrm>
          <a:prstGeom prst="roundRect">
            <a:avLst>
              <a:gd name="adj" fmla="val 13636"/>
            </a:avLst>
          </a:prstGeom>
          <a:solidFill>
            <a:schemeClr val="accent2"/>
          </a:solidFill>
          <a:ln w="12700">
            <a:solidFill>
              <a:schemeClr val="accent2"/>
            </a:solidFill>
            <a:prstDash val="solid"/>
          </a:ln>
        </p:spPr>
      </p:sp>
      <p:sp>
        <p:nvSpPr>
          <p:cNvPr id="27" name="Text 25"/>
          <p:cNvSpPr txBox="1"/>
          <p:nvPr/>
        </p:nvSpPr>
        <p:spPr>
          <a:xfrm>
            <a:off x="4773168" y="2889504"/>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8" name="Status Medicatie voorschrijven week 7 AC1"/>
          <p:cNvSpPr/>
          <p:nvPr/>
        </p:nvSpPr>
        <p:spPr>
          <a:xfrm>
            <a:off x="5486400" y="2852928"/>
            <a:ext cx="548640" cy="402336"/>
          </a:xfrm>
          <a:prstGeom prst="roundRect">
            <a:avLst>
              <a:gd name="adj" fmla="val 13636"/>
            </a:avLst>
          </a:prstGeom>
          <a:solidFill>
            <a:schemeClr val="accent2"/>
          </a:solidFill>
          <a:ln w="12700">
            <a:solidFill>
              <a:schemeClr val="accent2"/>
            </a:solidFill>
            <a:prstDash val="solid"/>
          </a:ln>
        </p:spPr>
      </p:sp>
      <p:sp>
        <p:nvSpPr>
          <p:cNvPr id="29" name="Text 27"/>
          <p:cNvSpPr txBox="1"/>
          <p:nvPr/>
        </p:nvSpPr>
        <p:spPr>
          <a:xfrm>
            <a:off x="5486400" y="2889504"/>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0" name="Status Medicatie voorschrijven week 7 AC2"/>
          <p:cNvSpPr/>
          <p:nvPr/>
        </p:nvSpPr>
        <p:spPr>
          <a:xfrm>
            <a:off x="6099048" y="2852928"/>
            <a:ext cx="548640" cy="402336"/>
          </a:xfrm>
          <a:prstGeom prst="roundRect">
            <a:avLst>
              <a:gd name="adj" fmla="val 13636"/>
            </a:avLst>
          </a:prstGeom>
          <a:solidFill>
            <a:schemeClr val="accent2"/>
          </a:solidFill>
          <a:ln w="12700">
            <a:solidFill>
              <a:schemeClr val="accent2"/>
            </a:solidFill>
            <a:prstDash val="solid"/>
          </a:ln>
        </p:spPr>
      </p:sp>
      <p:sp>
        <p:nvSpPr>
          <p:cNvPr id="31" name="Text 29"/>
          <p:cNvSpPr txBox="1"/>
          <p:nvPr/>
        </p:nvSpPr>
        <p:spPr>
          <a:xfrm>
            <a:off x="6099048" y="2889504"/>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2" name="Text 30"/>
          <p:cNvSpPr txBox="1"/>
          <p:nvPr/>
        </p:nvSpPr>
        <p:spPr>
          <a:xfrm>
            <a:off x="548640" y="3438144"/>
            <a:ext cx="3474720" cy="365760"/>
          </a:xfrm>
          <a:prstGeom prst="rect">
            <a:avLst/>
          </a:prstGeom>
          <a:noFill/>
          <a:ln/>
        </p:spPr>
        <p:txBody>
          <a:bodyPr wrap="square" lIns="0" tIns="0" rIns="0" bIns="0" rtlCol="0" anchor="t"/>
          <a:lstStyle/>
          <a:p>
            <a:pPr indent="0" marL="0">
              <a:buNone/>
            </a:pPr>
            <a:r>
              <a:rPr lang="en-US" sz="1400" dirty="0">
                <a:solidFill>
                  <a:schemeClr val="tx1"/>
                </a:solidFill>
              </a:rPr>
              <a:t>Dosering en innametijden</a:t>
            </a:r>
            <a:endParaRPr lang="en-US" sz="1400" dirty="0"/>
          </a:p>
        </p:txBody>
      </p:sp>
      <p:sp>
        <p:nvSpPr>
          <p:cNvPr id="33" name="Status Dosering en innametijden week 4 AC1"/>
          <p:cNvSpPr/>
          <p:nvPr/>
        </p:nvSpPr>
        <p:spPr>
          <a:xfrm>
            <a:off x="4160520" y="3364992"/>
            <a:ext cx="548640" cy="402336"/>
          </a:xfrm>
          <a:prstGeom prst="roundRect">
            <a:avLst>
              <a:gd name="adj" fmla="val 13636"/>
            </a:avLst>
          </a:prstGeom>
          <a:solidFill>
            <a:schemeClr val="accent4"/>
          </a:solidFill>
          <a:ln w="12700">
            <a:solidFill>
              <a:schemeClr val="accent4"/>
            </a:solidFill>
            <a:prstDash val="solid"/>
          </a:ln>
        </p:spPr>
      </p:sp>
      <p:sp>
        <p:nvSpPr>
          <p:cNvPr id="34" name="Text 32"/>
          <p:cNvSpPr txBox="1"/>
          <p:nvPr/>
        </p:nvSpPr>
        <p:spPr>
          <a:xfrm>
            <a:off x="4160520" y="3401568"/>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5" name="Status Dosering en innametijden week 4 AC2"/>
          <p:cNvSpPr/>
          <p:nvPr/>
        </p:nvSpPr>
        <p:spPr>
          <a:xfrm>
            <a:off x="4773168" y="3364992"/>
            <a:ext cx="548640" cy="402336"/>
          </a:xfrm>
          <a:prstGeom prst="roundRect">
            <a:avLst>
              <a:gd name="adj" fmla="val 13636"/>
            </a:avLst>
          </a:prstGeom>
          <a:solidFill>
            <a:schemeClr val="accent4"/>
          </a:solidFill>
          <a:ln w="12700">
            <a:solidFill>
              <a:schemeClr val="accent4"/>
            </a:solidFill>
            <a:prstDash val="solid"/>
          </a:ln>
        </p:spPr>
      </p:sp>
      <p:sp>
        <p:nvSpPr>
          <p:cNvPr id="36" name="Text 34"/>
          <p:cNvSpPr txBox="1"/>
          <p:nvPr/>
        </p:nvSpPr>
        <p:spPr>
          <a:xfrm>
            <a:off x="4773168" y="3401568"/>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7" name="Status Dosering en innametijden week 7 AC1"/>
          <p:cNvSpPr/>
          <p:nvPr/>
        </p:nvSpPr>
        <p:spPr>
          <a:xfrm>
            <a:off x="5486400" y="3364992"/>
            <a:ext cx="548640" cy="402336"/>
          </a:xfrm>
          <a:prstGeom prst="roundRect">
            <a:avLst>
              <a:gd name="adj" fmla="val 13636"/>
            </a:avLst>
          </a:prstGeom>
          <a:solidFill>
            <a:schemeClr val="accent4"/>
          </a:solidFill>
          <a:ln w="12700">
            <a:solidFill>
              <a:schemeClr val="accent4"/>
            </a:solidFill>
            <a:prstDash val="solid"/>
          </a:ln>
        </p:spPr>
      </p:sp>
      <p:sp>
        <p:nvSpPr>
          <p:cNvPr id="38" name="Text 36"/>
          <p:cNvSpPr txBox="1"/>
          <p:nvPr/>
        </p:nvSpPr>
        <p:spPr>
          <a:xfrm>
            <a:off x="5486400" y="3401568"/>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9" name="Status Dosering en innametijden week 7 AC2"/>
          <p:cNvSpPr/>
          <p:nvPr/>
        </p:nvSpPr>
        <p:spPr>
          <a:xfrm>
            <a:off x="6099048" y="3364992"/>
            <a:ext cx="548640" cy="402336"/>
          </a:xfrm>
          <a:prstGeom prst="roundRect">
            <a:avLst>
              <a:gd name="adj" fmla="val 13636"/>
            </a:avLst>
          </a:prstGeom>
          <a:solidFill>
            <a:schemeClr val="accent4"/>
          </a:solidFill>
          <a:ln w="12700">
            <a:solidFill>
              <a:schemeClr val="accent4"/>
            </a:solidFill>
            <a:prstDash val="solid"/>
          </a:ln>
        </p:spPr>
      </p:sp>
      <p:sp>
        <p:nvSpPr>
          <p:cNvPr id="40" name="Text 38"/>
          <p:cNvSpPr txBox="1"/>
          <p:nvPr/>
        </p:nvSpPr>
        <p:spPr>
          <a:xfrm>
            <a:off x="6099048" y="3401568"/>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1" name="Text 39"/>
          <p:cNvSpPr txBox="1"/>
          <p:nvPr/>
        </p:nvSpPr>
        <p:spPr>
          <a:xfrm>
            <a:off x="548640" y="3950208"/>
            <a:ext cx="3474720" cy="365760"/>
          </a:xfrm>
          <a:prstGeom prst="rect">
            <a:avLst/>
          </a:prstGeom>
          <a:noFill/>
          <a:ln/>
        </p:spPr>
        <p:txBody>
          <a:bodyPr wrap="square" lIns="0" tIns="0" rIns="0" bIns="0" rtlCol="0" anchor="t"/>
          <a:lstStyle/>
          <a:p>
            <a:pPr indent="0" marL="0">
              <a:buNone/>
            </a:pPr>
            <a:r>
              <a:rPr lang="en-US" sz="1400" dirty="0">
                <a:solidFill>
                  <a:schemeClr val="tx1"/>
                </a:solidFill>
              </a:rPr>
              <a:t>Medicatie inzien (patiënt)</a:t>
            </a:r>
            <a:endParaRPr lang="en-US" sz="1400" dirty="0"/>
          </a:p>
        </p:txBody>
      </p:sp>
      <p:sp>
        <p:nvSpPr>
          <p:cNvPr id="42" name="Status Medicatie inzien (patiënt) week 4 AC1"/>
          <p:cNvSpPr/>
          <p:nvPr/>
        </p:nvSpPr>
        <p:spPr>
          <a:xfrm>
            <a:off x="4160520" y="3877056"/>
            <a:ext cx="548640" cy="402336"/>
          </a:xfrm>
          <a:prstGeom prst="roundRect">
            <a:avLst>
              <a:gd name="adj" fmla="val 13636"/>
            </a:avLst>
          </a:prstGeom>
          <a:solidFill>
            <a:schemeClr val="accent4"/>
          </a:solidFill>
          <a:ln w="12700">
            <a:solidFill>
              <a:schemeClr val="accent4"/>
            </a:solidFill>
            <a:prstDash val="solid"/>
          </a:ln>
        </p:spPr>
      </p:sp>
      <p:sp>
        <p:nvSpPr>
          <p:cNvPr id="43" name="Text 41"/>
          <p:cNvSpPr txBox="1"/>
          <p:nvPr/>
        </p:nvSpPr>
        <p:spPr>
          <a:xfrm>
            <a:off x="4160520" y="3913632"/>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4" name="Status Medicatie inzien (patiënt) week 4 AC2"/>
          <p:cNvSpPr/>
          <p:nvPr/>
        </p:nvSpPr>
        <p:spPr>
          <a:xfrm>
            <a:off x="4773168" y="3877056"/>
            <a:ext cx="548640" cy="402336"/>
          </a:xfrm>
          <a:prstGeom prst="roundRect">
            <a:avLst>
              <a:gd name="adj" fmla="val 13636"/>
            </a:avLst>
          </a:prstGeom>
          <a:solidFill>
            <a:schemeClr val="accent4"/>
          </a:solidFill>
          <a:ln w="12700">
            <a:solidFill>
              <a:schemeClr val="accent4"/>
            </a:solidFill>
            <a:prstDash val="solid"/>
          </a:ln>
        </p:spPr>
      </p:sp>
      <p:sp>
        <p:nvSpPr>
          <p:cNvPr id="45" name="Text 43"/>
          <p:cNvSpPr txBox="1"/>
          <p:nvPr/>
        </p:nvSpPr>
        <p:spPr>
          <a:xfrm>
            <a:off x="4773168" y="3913632"/>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6" name="Status Medicatie inzien (patiënt) week 7 AC1"/>
          <p:cNvSpPr/>
          <p:nvPr/>
        </p:nvSpPr>
        <p:spPr>
          <a:xfrm>
            <a:off x="5486400" y="3877056"/>
            <a:ext cx="548640" cy="402336"/>
          </a:xfrm>
          <a:prstGeom prst="roundRect">
            <a:avLst>
              <a:gd name="adj" fmla="val 13636"/>
            </a:avLst>
          </a:prstGeom>
          <a:solidFill>
            <a:schemeClr val="accent2"/>
          </a:solidFill>
          <a:ln w="12700">
            <a:solidFill>
              <a:schemeClr val="accent2"/>
            </a:solidFill>
            <a:prstDash val="solid"/>
          </a:ln>
        </p:spPr>
      </p:sp>
      <p:sp>
        <p:nvSpPr>
          <p:cNvPr id="47" name="Text 45"/>
          <p:cNvSpPr txBox="1"/>
          <p:nvPr/>
        </p:nvSpPr>
        <p:spPr>
          <a:xfrm>
            <a:off x="5486400" y="3913632"/>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48" name="Status Medicatie inzien (patiënt) week 7 AC2"/>
          <p:cNvSpPr/>
          <p:nvPr/>
        </p:nvSpPr>
        <p:spPr>
          <a:xfrm>
            <a:off x="6099048" y="3877056"/>
            <a:ext cx="548640" cy="402336"/>
          </a:xfrm>
          <a:prstGeom prst="roundRect">
            <a:avLst>
              <a:gd name="adj" fmla="val 13636"/>
            </a:avLst>
          </a:prstGeom>
          <a:solidFill>
            <a:schemeClr val="accent4"/>
          </a:solidFill>
          <a:ln w="12700">
            <a:solidFill>
              <a:schemeClr val="accent4"/>
            </a:solidFill>
            <a:prstDash val="solid"/>
          </a:ln>
        </p:spPr>
      </p:sp>
      <p:sp>
        <p:nvSpPr>
          <p:cNvPr id="49" name="Text 47"/>
          <p:cNvSpPr txBox="1"/>
          <p:nvPr/>
        </p:nvSpPr>
        <p:spPr>
          <a:xfrm>
            <a:off x="6099048" y="3913632"/>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50" name="Text 48"/>
          <p:cNvSpPr txBox="1"/>
          <p:nvPr/>
        </p:nvSpPr>
        <p:spPr>
          <a:xfrm>
            <a:off x="548640" y="4462272"/>
            <a:ext cx="3474720" cy="365760"/>
          </a:xfrm>
          <a:prstGeom prst="rect">
            <a:avLst/>
          </a:prstGeom>
          <a:noFill/>
          <a:ln/>
        </p:spPr>
        <p:txBody>
          <a:bodyPr wrap="square" lIns="0" tIns="0" rIns="0" bIns="0" rtlCol="0" anchor="t"/>
          <a:lstStyle/>
          <a:p>
            <a:pPr indent="0" marL="0">
              <a:buNone/>
            </a:pPr>
            <a:r>
              <a:rPr lang="en-US" sz="1400" dirty="0">
                <a:solidFill>
                  <a:schemeClr val="tx1"/>
                </a:solidFill>
              </a:rPr>
              <a:t>Logbestanden raadplegen</a:t>
            </a:r>
            <a:endParaRPr lang="en-US" sz="1400" dirty="0"/>
          </a:p>
        </p:txBody>
      </p:sp>
      <p:sp>
        <p:nvSpPr>
          <p:cNvPr id="51" name="Status Logbestanden raadplegen week 4 AC1"/>
          <p:cNvSpPr/>
          <p:nvPr/>
        </p:nvSpPr>
        <p:spPr>
          <a:xfrm>
            <a:off x="4160520" y="4389120"/>
            <a:ext cx="548640" cy="402336"/>
          </a:xfrm>
          <a:prstGeom prst="roundRect">
            <a:avLst>
              <a:gd name="adj" fmla="val 13636"/>
            </a:avLst>
          </a:prstGeom>
          <a:solidFill>
            <a:schemeClr val="accent2"/>
          </a:solidFill>
          <a:ln w="12700">
            <a:solidFill>
              <a:schemeClr val="accent2"/>
            </a:solidFill>
            <a:prstDash val="solid"/>
          </a:ln>
        </p:spPr>
      </p:sp>
      <p:sp>
        <p:nvSpPr>
          <p:cNvPr id="52" name="Text 50"/>
          <p:cNvSpPr txBox="1"/>
          <p:nvPr/>
        </p:nvSpPr>
        <p:spPr>
          <a:xfrm>
            <a:off x="4160520" y="4425696"/>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53" name="Status Logbestanden raadplegen week 4 AC2"/>
          <p:cNvSpPr/>
          <p:nvPr/>
        </p:nvSpPr>
        <p:spPr>
          <a:xfrm>
            <a:off x="4773168" y="4389120"/>
            <a:ext cx="548640" cy="402336"/>
          </a:xfrm>
          <a:prstGeom prst="roundRect">
            <a:avLst>
              <a:gd name="adj" fmla="val 13636"/>
            </a:avLst>
          </a:prstGeom>
          <a:solidFill>
            <a:schemeClr val="accent4"/>
          </a:solidFill>
          <a:ln w="12700">
            <a:solidFill>
              <a:schemeClr val="accent4"/>
            </a:solidFill>
            <a:prstDash val="solid"/>
          </a:ln>
        </p:spPr>
      </p:sp>
      <p:sp>
        <p:nvSpPr>
          <p:cNvPr id="54" name="Text 52"/>
          <p:cNvSpPr txBox="1"/>
          <p:nvPr/>
        </p:nvSpPr>
        <p:spPr>
          <a:xfrm>
            <a:off x="4773168" y="4425696"/>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55" name="Status Logbestanden raadplegen week 7 AC1"/>
          <p:cNvSpPr/>
          <p:nvPr/>
        </p:nvSpPr>
        <p:spPr>
          <a:xfrm>
            <a:off x="5486400" y="4389120"/>
            <a:ext cx="548640" cy="402336"/>
          </a:xfrm>
          <a:prstGeom prst="roundRect">
            <a:avLst>
              <a:gd name="adj" fmla="val 13636"/>
            </a:avLst>
          </a:prstGeom>
          <a:solidFill>
            <a:schemeClr val="accent2"/>
          </a:solidFill>
          <a:ln w="12700">
            <a:solidFill>
              <a:schemeClr val="accent2"/>
            </a:solidFill>
            <a:prstDash val="solid"/>
          </a:ln>
        </p:spPr>
      </p:sp>
      <p:sp>
        <p:nvSpPr>
          <p:cNvPr id="56" name="Text 54"/>
          <p:cNvSpPr txBox="1"/>
          <p:nvPr/>
        </p:nvSpPr>
        <p:spPr>
          <a:xfrm>
            <a:off x="5486400" y="4425696"/>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57" name="Status Logbestanden raadplegen week 7 AC2"/>
          <p:cNvSpPr/>
          <p:nvPr/>
        </p:nvSpPr>
        <p:spPr>
          <a:xfrm>
            <a:off x="6099048" y="4389120"/>
            <a:ext cx="548640" cy="402336"/>
          </a:xfrm>
          <a:prstGeom prst="roundRect">
            <a:avLst>
              <a:gd name="adj" fmla="val 13636"/>
            </a:avLst>
          </a:prstGeom>
          <a:solidFill>
            <a:schemeClr val="accent4"/>
          </a:solidFill>
          <a:ln w="12700">
            <a:solidFill>
              <a:schemeClr val="accent4"/>
            </a:solidFill>
            <a:prstDash val="solid"/>
          </a:ln>
        </p:spPr>
      </p:sp>
      <p:sp>
        <p:nvSpPr>
          <p:cNvPr id="58" name="Text 56"/>
          <p:cNvSpPr txBox="1"/>
          <p:nvPr/>
        </p:nvSpPr>
        <p:spPr>
          <a:xfrm>
            <a:off x="6099048" y="4425696"/>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59" name="Text 57"/>
          <p:cNvSpPr txBox="1"/>
          <p:nvPr/>
        </p:nvSpPr>
        <p:spPr>
          <a:xfrm>
            <a:off x="548640" y="4974336"/>
            <a:ext cx="3474720" cy="365760"/>
          </a:xfrm>
          <a:prstGeom prst="rect">
            <a:avLst/>
          </a:prstGeom>
          <a:noFill/>
          <a:ln/>
        </p:spPr>
        <p:txBody>
          <a:bodyPr wrap="square" lIns="0" tIns="0" rIns="0" bIns="0" rtlCol="0" anchor="t"/>
          <a:lstStyle/>
          <a:p>
            <a:pPr indent="0" marL="0">
              <a:buNone/>
            </a:pPr>
            <a:r>
              <a:rPr lang="en-US" sz="1400" dirty="0">
                <a:solidFill>
                  <a:schemeClr val="tx1"/>
                </a:solidFill>
              </a:rPr>
              <a:t>Voorschriften inzien (apotheker)</a:t>
            </a:r>
            <a:endParaRPr lang="en-US" sz="1400" dirty="0"/>
          </a:p>
        </p:txBody>
      </p:sp>
      <p:sp>
        <p:nvSpPr>
          <p:cNvPr id="60" name="Status Voorschriften inzien (apotheker) week 4 AC1"/>
          <p:cNvSpPr/>
          <p:nvPr/>
        </p:nvSpPr>
        <p:spPr>
          <a:xfrm>
            <a:off x="4160520" y="4901184"/>
            <a:ext cx="548640" cy="402336"/>
          </a:xfrm>
          <a:prstGeom prst="roundRect">
            <a:avLst>
              <a:gd name="adj" fmla="val 13636"/>
            </a:avLst>
          </a:prstGeom>
          <a:solidFill>
            <a:schemeClr val="bg2"/>
          </a:solidFill>
          <a:ln w="12700">
            <a:solidFill>
              <a:schemeClr val="bg2"/>
            </a:solidFill>
            <a:prstDash val="solid"/>
          </a:ln>
        </p:spPr>
      </p:sp>
      <p:sp>
        <p:nvSpPr>
          <p:cNvPr id="61" name="Text 59"/>
          <p:cNvSpPr txBox="1"/>
          <p:nvPr/>
        </p:nvSpPr>
        <p:spPr>
          <a:xfrm>
            <a:off x="4160520" y="4937760"/>
            <a:ext cx="548640" cy="329184"/>
          </a:xfrm>
          <a:prstGeom prst="rect">
            <a:avLst/>
          </a:prstGeom>
          <a:noFill/>
          <a:ln/>
        </p:spPr>
        <p:txBody>
          <a:bodyPr wrap="square" lIns="0" tIns="0" rIns="0" bIns="0" rtlCol="0" anchor="ctr"/>
          <a:lstStyle/>
          <a:p>
            <a:pPr algn="ctr" indent="0" marL="0">
              <a:buNone/>
            </a:pPr>
            <a:r>
              <a:rPr lang="en-US" sz="1600" b="1" dirty="0">
                <a:solidFill>
                  <a:schemeClr val="accent5"/>
                </a:solidFill>
              </a:rPr>
              <a:t>–</a:t>
            </a:r>
            <a:endParaRPr lang="en-US" sz="1600" dirty="0"/>
          </a:p>
        </p:txBody>
      </p:sp>
      <p:sp>
        <p:nvSpPr>
          <p:cNvPr id="62" name="Status Voorschriften inzien (apotheker) week 4 AC2"/>
          <p:cNvSpPr/>
          <p:nvPr/>
        </p:nvSpPr>
        <p:spPr>
          <a:xfrm>
            <a:off x="4773168" y="4901184"/>
            <a:ext cx="548640" cy="402336"/>
          </a:xfrm>
          <a:prstGeom prst="roundRect">
            <a:avLst>
              <a:gd name="adj" fmla="val 13636"/>
            </a:avLst>
          </a:prstGeom>
          <a:solidFill>
            <a:schemeClr val="bg2"/>
          </a:solidFill>
          <a:ln w="12700">
            <a:solidFill>
              <a:schemeClr val="bg2"/>
            </a:solidFill>
            <a:prstDash val="solid"/>
          </a:ln>
        </p:spPr>
      </p:sp>
      <p:sp>
        <p:nvSpPr>
          <p:cNvPr id="63" name="Text 61"/>
          <p:cNvSpPr txBox="1"/>
          <p:nvPr/>
        </p:nvSpPr>
        <p:spPr>
          <a:xfrm>
            <a:off x="4773168" y="4937760"/>
            <a:ext cx="548640" cy="329184"/>
          </a:xfrm>
          <a:prstGeom prst="rect">
            <a:avLst/>
          </a:prstGeom>
          <a:noFill/>
          <a:ln/>
        </p:spPr>
        <p:txBody>
          <a:bodyPr wrap="square" lIns="0" tIns="0" rIns="0" bIns="0" rtlCol="0" anchor="ctr"/>
          <a:lstStyle/>
          <a:p>
            <a:pPr algn="ctr" indent="0" marL="0">
              <a:buNone/>
            </a:pPr>
            <a:r>
              <a:rPr lang="en-US" sz="1600" b="1" dirty="0">
                <a:solidFill>
                  <a:schemeClr val="accent5"/>
                </a:solidFill>
              </a:rPr>
              <a:t>–</a:t>
            </a:r>
            <a:endParaRPr lang="en-US" sz="1600" dirty="0"/>
          </a:p>
        </p:txBody>
      </p:sp>
      <p:sp>
        <p:nvSpPr>
          <p:cNvPr id="64" name="Status Voorschriften inzien (apotheker) week 7 AC1"/>
          <p:cNvSpPr/>
          <p:nvPr/>
        </p:nvSpPr>
        <p:spPr>
          <a:xfrm>
            <a:off x="5486400" y="4901184"/>
            <a:ext cx="548640" cy="402336"/>
          </a:xfrm>
          <a:prstGeom prst="roundRect">
            <a:avLst>
              <a:gd name="adj" fmla="val 13636"/>
            </a:avLst>
          </a:prstGeom>
          <a:solidFill>
            <a:schemeClr val="accent2"/>
          </a:solidFill>
          <a:ln w="12700">
            <a:solidFill>
              <a:schemeClr val="accent2"/>
            </a:solidFill>
            <a:prstDash val="solid"/>
          </a:ln>
        </p:spPr>
      </p:sp>
      <p:sp>
        <p:nvSpPr>
          <p:cNvPr id="65" name="Text 63"/>
          <p:cNvSpPr txBox="1"/>
          <p:nvPr/>
        </p:nvSpPr>
        <p:spPr>
          <a:xfrm>
            <a:off x="5486400" y="4937760"/>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6" name="Status Voorschriften inzien (apotheker) week 7 AC2"/>
          <p:cNvSpPr/>
          <p:nvPr/>
        </p:nvSpPr>
        <p:spPr>
          <a:xfrm>
            <a:off x="6099048" y="4901184"/>
            <a:ext cx="548640" cy="402336"/>
          </a:xfrm>
          <a:prstGeom prst="roundRect">
            <a:avLst>
              <a:gd name="adj" fmla="val 13636"/>
            </a:avLst>
          </a:prstGeom>
          <a:solidFill>
            <a:schemeClr val="accent4"/>
          </a:solidFill>
          <a:ln w="12700">
            <a:solidFill>
              <a:schemeClr val="accent4"/>
            </a:solidFill>
            <a:prstDash val="solid"/>
          </a:ln>
        </p:spPr>
      </p:sp>
      <p:sp>
        <p:nvSpPr>
          <p:cNvPr id="67" name="Text 65"/>
          <p:cNvSpPr txBox="1"/>
          <p:nvPr/>
        </p:nvSpPr>
        <p:spPr>
          <a:xfrm>
            <a:off x="6099048" y="4937760"/>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68" name="Text 66"/>
          <p:cNvSpPr txBox="1"/>
          <p:nvPr/>
        </p:nvSpPr>
        <p:spPr>
          <a:xfrm>
            <a:off x="548640" y="5486400"/>
            <a:ext cx="3474720" cy="365760"/>
          </a:xfrm>
          <a:prstGeom prst="rect">
            <a:avLst/>
          </a:prstGeom>
          <a:noFill/>
          <a:ln/>
        </p:spPr>
        <p:txBody>
          <a:bodyPr wrap="square" lIns="0" tIns="0" rIns="0" bIns="0" rtlCol="0" anchor="t"/>
          <a:lstStyle/>
          <a:p>
            <a:pPr indent="0" marL="0">
              <a:buNone/>
            </a:pPr>
            <a:r>
              <a:rPr lang="en-US" sz="1400" dirty="0">
                <a:solidFill>
                  <a:schemeClr val="tx1"/>
                </a:solidFill>
              </a:rPr>
              <a:t>Medicijnen beheren</a:t>
            </a:r>
            <a:endParaRPr lang="en-US" sz="1400" dirty="0"/>
          </a:p>
        </p:txBody>
      </p:sp>
      <p:sp>
        <p:nvSpPr>
          <p:cNvPr id="69" name="Status Medicijnen beheren week 4 AC1"/>
          <p:cNvSpPr/>
          <p:nvPr/>
        </p:nvSpPr>
        <p:spPr>
          <a:xfrm>
            <a:off x="4160520" y="5413248"/>
            <a:ext cx="548640" cy="402336"/>
          </a:xfrm>
          <a:prstGeom prst="roundRect">
            <a:avLst>
              <a:gd name="adj" fmla="val 13636"/>
            </a:avLst>
          </a:prstGeom>
          <a:solidFill>
            <a:schemeClr val="bg2"/>
          </a:solidFill>
          <a:ln w="12700">
            <a:solidFill>
              <a:schemeClr val="bg2"/>
            </a:solidFill>
            <a:prstDash val="solid"/>
          </a:ln>
        </p:spPr>
      </p:sp>
      <p:sp>
        <p:nvSpPr>
          <p:cNvPr id="70" name="Text 68"/>
          <p:cNvSpPr txBox="1"/>
          <p:nvPr/>
        </p:nvSpPr>
        <p:spPr>
          <a:xfrm>
            <a:off x="4160520" y="5449824"/>
            <a:ext cx="548640" cy="329184"/>
          </a:xfrm>
          <a:prstGeom prst="rect">
            <a:avLst/>
          </a:prstGeom>
          <a:noFill/>
          <a:ln/>
        </p:spPr>
        <p:txBody>
          <a:bodyPr wrap="square" lIns="0" tIns="0" rIns="0" bIns="0" rtlCol="0" anchor="ctr"/>
          <a:lstStyle/>
          <a:p>
            <a:pPr algn="ctr" indent="0" marL="0">
              <a:buNone/>
            </a:pPr>
            <a:r>
              <a:rPr lang="en-US" sz="1600" b="1" dirty="0">
                <a:solidFill>
                  <a:schemeClr val="accent5"/>
                </a:solidFill>
              </a:rPr>
              <a:t>–</a:t>
            </a:r>
            <a:endParaRPr lang="en-US" sz="1600" dirty="0"/>
          </a:p>
        </p:txBody>
      </p:sp>
      <p:sp>
        <p:nvSpPr>
          <p:cNvPr id="71" name="Status Medicijnen beheren week 4 AC2"/>
          <p:cNvSpPr/>
          <p:nvPr/>
        </p:nvSpPr>
        <p:spPr>
          <a:xfrm>
            <a:off x="4773168" y="5413248"/>
            <a:ext cx="548640" cy="402336"/>
          </a:xfrm>
          <a:prstGeom prst="roundRect">
            <a:avLst>
              <a:gd name="adj" fmla="val 13636"/>
            </a:avLst>
          </a:prstGeom>
          <a:solidFill>
            <a:schemeClr val="bg2"/>
          </a:solidFill>
          <a:ln w="12700">
            <a:solidFill>
              <a:schemeClr val="bg2"/>
            </a:solidFill>
            <a:prstDash val="solid"/>
          </a:ln>
        </p:spPr>
      </p:sp>
      <p:sp>
        <p:nvSpPr>
          <p:cNvPr id="72" name="Text 70"/>
          <p:cNvSpPr txBox="1"/>
          <p:nvPr/>
        </p:nvSpPr>
        <p:spPr>
          <a:xfrm>
            <a:off x="4773168" y="5449824"/>
            <a:ext cx="548640" cy="329184"/>
          </a:xfrm>
          <a:prstGeom prst="rect">
            <a:avLst/>
          </a:prstGeom>
          <a:noFill/>
          <a:ln/>
        </p:spPr>
        <p:txBody>
          <a:bodyPr wrap="square" lIns="0" tIns="0" rIns="0" bIns="0" rtlCol="0" anchor="ctr"/>
          <a:lstStyle/>
          <a:p>
            <a:pPr algn="ctr" indent="0" marL="0">
              <a:buNone/>
            </a:pPr>
            <a:r>
              <a:rPr lang="en-US" sz="1600" b="1" dirty="0">
                <a:solidFill>
                  <a:schemeClr val="accent5"/>
                </a:solidFill>
              </a:rPr>
              <a:t>–</a:t>
            </a:r>
            <a:endParaRPr lang="en-US" sz="1600" dirty="0"/>
          </a:p>
        </p:txBody>
      </p:sp>
      <p:sp>
        <p:nvSpPr>
          <p:cNvPr id="73" name="Status Medicijnen beheren week 7 AC1"/>
          <p:cNvSpPr/>
          <p:nvPr/>
        </p:nvSpPr>
        <p:spPr>
          <a:xfrm>
            <a:off x="5486400" y="5413248"/>
            <a:ext cx="548640" cy="402336"/>
          </a:xfrm>
          <a:prstGeom prst="roundRect">
            <a:avLst>
              <a:gd name="adj" fmla="val 13636"/>
            </a:avLst>
          </a:prstGeom>
          <a:solidFill>
            <a:schemeClr val="accent2"/>
          </a:solidFill>
          <a:ln w="12700">
            <a:solidFill>
              <a:schemeClr val="accent2"/>
            </a:solidFill>
            <a:prstDash val="solid"/>
          </a:ln>
        </p:spPr>
      </p:sp>
      <p:sp>
        <p:nvSpPr>
          <p:cNvPr id="74" name="Text 72"/>
          <p:cNvSpPr txBox="1"/>
          <p:nvPr/>
        </p:nvSpPr>
        <p:spPr>
          <a:xfrm>
            <a:off x="5486400" y="5449824"/>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5" name="Status Medicijnen beheren week 7 AC2"/>
          <p:cNvSpPr/>
          <p:nvPr/>
        </p:nvSpPr>
        <p:spPr>
          <a:xfrm>
            <a:off x="6099048" y="5413248"/>
            <a:ext cx="548640" cy="402336"/>
          </a:xfrm>
          <a:prstGeom prst="roundRect">
            <a:avLst>
              <a:gd name="adj" fmla="val 13636"/>
            </a:avLst>
          </a:prstGeom>
          <a:solidFill>
            <a:schemeClr val="accent2"/>
          </a:solidFill>
          <a:ln w="12700">
            <a:solidFill>
              <a:schemeClr val="accent2"/>
            </a:solidFill>
            <a:prstDash val="solid"/>
          </a:ln>
        </p:spPr>
      </p:sp>
      <p:sp>
        <p:nvSpPr>
          <p:cNvPr id="76" name="Text 74"/>
          <p:cNvSpPr txBox="1"/>
          <p:nvPr/>
        </p:nvSpPr>
        <p:spPr>
          <a:xfrm>
            <a:off x="6099048" y="5449824"/>
            <a:ext cx="548640" cy="329184"/>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7" name="Text 75"/>
          <p:cNvSpPr txBox="1"/>
          <p:nvPr/>
        </p:nvSpPr>
        <p:spPr>
          <a:xfrm>
            <a:off x="548640" y="5989320"/>
            <a:ext cx="6400800" cy="274320"/>
          </a:xfrm>
          <a:prstGeom prst="rect">
            <a:avLst/>
          </a:prstGeom>
          <a:noFill/>
          <a:ln/>
        </p:spPr>
        <p:txBody>
          <a:bodyPr wrap="square" lIns="0" tIns="0" rIns="0" bIns="0" rtlCol="0" anchor="t"/>
          <a:lstStyle/>
          <a:p>
            <a:pPr indent="0" marL="0">
              <a:buNone/>
            </a:pPr>
            <a:r>
              <a:rPr lang="en-US" sz="1100" dirty="0">
                <a:solidFill>
                  <a:schemeClr val="accent5"/>
                </a:solidFill>
              </a:rPr>
              <a:t>✓ voldaan   ✗ niet voldaan   – niet opgeleverd   (twee criteria per story)</a:t>
            </a:r>
            <a:endParaRPr lang="en-US" sz="1100" dirty="0"/>
          </a:p>
        </p:txBody>
      </p:sp>
      <p:graphicFrame>
        <p:nvGraphicFramePr>
          <p:cNvPr id="78" name="Chart 0" descr=""/>
          <p:cNvGraphicFramePr/>
          <p:nvPr/>
        </p:nvGraphicFramePr>
        <p:xfrm>
          <a:off x="7132320" y="1417320"/>
          <a:ext cx="4480560" cy="3657600"/>
        </p:xfrm>
        <a:graphic xmlns:a="http://schemas.openxmlformats.org/drawingml/2006/main">
          <a:graphicData uri="http://schemas.openxmlformats.org/drawingml/2006/chart">
            <c:chart xmlns:c="http://schemas.openxmlformats.org/drawingml/2006/chart" r:id="rId1"/>
          </a:graphicData>
        </a:graphic>
      </p:graphicFrame>
      <p:sp>
        <p:nvSpPr>
          <p:cNvPr id="79" name="Kaart regressie"/>
          <p:cNvSpPr/>
          <p:nvPr/>
        </p:nvSpPr>
        <p:spPr>
          <a:xfrm>
            <a:off x="7132320" y="5212080"/>
            <a:ext cx="4480560" cy="777240"/>
          </a:xfrm>
          <a:prstGeom prst="roundRect">
            <a:avLst>
              <a:gd name="adj" fmla="val 1411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0" name="Text 77"/>
          <p:cNvSpPr txBox="1"/>
          <p:nvPr/>
        </p:nvSpPr>
        <p:spPr>
          <a:xfrm>
            <a:off x="7315200" y="5321808"/>
            <a:ext cx="4114800" cy="594360"/>
          </a:xfrm>
          <a:prstGeom prst="rect">
            <a:avLst/>
          </a:prstGeom>
          <a:noFill/>
          <a:ln/>
        </p:spPr>
        <p:txBody>
          <a:bodyPr wrap="square" lIns="0" tIns="0" rIns="0" bIns="0" rtlCol="0" anchor="t"/>
          <a:lstStyle/>
          <a:p>
            <a:pPr indent="0" marL="0">
              <a:buNone/>
            </a:pPr>
            <a:r>
              <a:rPr lang="en-US" sz="1300" b="1" dirty="0">
                <a:solidFill>
                  <a:schemeClr val="accent2"/>
                </a:solidFill>
              </a:rPr>
              <a:t>Regressie: </a:t>
            </a:r>
            <a:pPr indent="0" marL="0">
              <a:buNone/>
            </a:pPr>
            <a:r>
              <a:rPr lang="en-US" sz="1300" dirty="0">
                <a:solidFill>
                  <a:schemeClr val="tx1"/>
                </a:solidFill>
              </a:rPr>
              <a:t>Medicatie inzien was in week 4 volledig voldaan, nu niet meer.</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Kritiek: zonder account bij gevoelige functies</a:t>
            </a:r>
            <a:endParaRPr lang="en-US" sz="3400" dirty="0"/>
          </a:p>
        </p:txBody>
      </p:sp>
      <p:sp>
        <p:nvSpPr>
          <p:cNvPr id="3" name="Kaart BUG-03"/>
          <p:cNvSpPr/>
          <p:nvPr/>
        </p:nvSpPr>
        <p:spPr>
          <a:xfrm>
            <a:off x="54864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Cirkel BUG-03"/>
          <p:cNvSpPr/>
          <p:nvPr/>
        </p:nvSpPr>
        <p:spPr>
          <a:xfrm>
            <a:off x="822960" y="1737360"/>
            <a:ext cx="685800" cy="685800"/>
          </a:xfrm>
          <a:prstGeom prst="ellipse">
            <a:avLst/>
          </a:prstGeom>
          <a:solidFill>
            <a:schemeClr val="accent2"/>
          </a:solidFill>
          <a:ln w="12700">
            <a:solidFill>
              <a:schemeClr val="accent2"/>
            </a:solidFill>
            <a:prstDash val="solid"/>
          </a:ln>
        </p:spPr>
      </p:sp>
      <p:pic>
        <p:nvPicPr>
          <p:cNvPr id="5" name="Icoon BUG-03" descr="BUG-03">    </p:cNvPr>
          <p:cNvPicPr>
            <a:picLocks noChangeAspect="1"/>
          </p:cNvPicPr>
          <p:nvPr/>
        </p:nvPicPr>
        <p:blipFill>
          <a:blip r:embed="rId1"/>
          <a:stretch>
            <a:fillRect/>
          </a:stretch>
        </p:blipFill>
        <p:spPr>
          <a:xfrm>
            <a:off x="994410" y="1908810"/>
            <a:ext cx="342900" cy="342900"/>
          </a:xfrm>
          <a:prstGeom prst="rect">
            <a:avLst/>
          </a:prstGeom>
        </p:spPr>
      </p:pic>
      <p:sp>
        <p:nvSpPr>
          <p:cNvPr id="6" name="Text 3"/>
          <p:cNvSpPr txBox="1"/>
          <p:nvPr/>
        </p:nvSpPr>
        <p:spPr>
          <a:xfrm>
            <a:off x="1691640" y="1737360"/>
            <a:ext cx="2194560" cy="320040"/>
          </a:xfrm>
          <a:prstGeom prst="rect">
            <a:avLst/>
          </a:prstGeom>
          <a:noFill/>
          <a:ln/>
        </p:spPr>
        <p:txBody>
          <a:bodyPr wrap="square" lIns="0" tIns="0" rIns="0" bIns="0" rtlCol="0" anchor="t"/>
          <a:lstStyle/>
          <a:p>
            <a:pPr indent="0" marL="0">
              <a:buNone/>
            </a:pPr>
            <a:r>
              <a:rPr lang="en-US" sz="1300" b="1" dirty="0">
                <a:solidFill>
                  <a:schemeClr val="accent2"/>
                </a:solidFill>
              </a:rPr>
              <a:t>BUG-03</a:t>
            </a:r>
            <a:endParaRPr lang="en-US" sz="1300" dirty="0"/>
          </a:p>
        </p:txBody>
      </p:sp>
      <p:sp>
        <p:nvSpPr>
          <p:cNvPr id="7" name="Text 4"/>
          <p:cNvSpPr txBox="1"/>
          <p:nvPr/>
        </p:nvSpPr>
        <p:spPr>
          <a:xfrm>
            <a:off x="1691640" y="2029968"/>
            <a:ext cx="2240280" cy="685800"/>
          </a:xfrm>
          <a:prstGeom prst="rect">
            <a:avLst/>
          </a:prstGeom>
          <a:noFill/>
          <a:ln/>
        </p:spPr>
        <p:txBody>
          <a:bodyPr wrap="square" lIns="0" tIns="0" rIns="0" bIns="0" rtlCol="0" anchor="t"/>
          <a:lstStyle/>
          <a:p>
            <a:pPr indent="0" marL="0">
              <a:buNone/>
            </a:pPr>
            <a:r>
              <a:rPr lang="en-US" sz="1600" b="1" dirty="0">
                <a:solidFill>
                  <a:schemeClr val="tx2"/>
                </a:solidFill>
              </a:rPr>
              <a:t>Voorschrijven zonder inloggen</a:t>
            </a:r>
            <a:endParaRPr lang="en-US" sz="1600" dirty="0"/>
          </a:p>
        </p:txBody>
      </p:sp>
      <p:sp>
        <p:nvSpPr>
          <p:cNvPr id="8" name="Text 5"/>
          <p:cNvSpPr txBox="1"/>
          <p:nvPr/>
        </p:nvSpPr>
        <p:spPr>
          <a:xfrm>
            <a:off x="822960" y="2743200"/>
            <a:ext cx="3017520" cy="731520"/>
          </a:xfrm>
          <a:prstGeom prst="rect">
            <a:avLst/>
          </a:prstGeom>
          <a:noFill/>
          <a:ln/>
        </p:spPr>
        <p:txBody>
          <a:bodyPr wrap="square" lIns="0" tIns="0" rIns="0" bIns="0" rtlCol="0" anchor="t"/>
          <a:lstStyle/>
          <a:p>
            <a:pPr indent="0" marL="0">
              <a:buNone/>
            </a:pPr>
            <a:r>
              <a:rPr lang="en-US" sz="1300" dirty="0">
                <a:solidFill>
                  <a:schemeClr val="tx1"/>
                </a:solidFill>
              </a:rPr>
              <a:t>Voorschrift opgeslagen met voorschrijver 0; patiënt ziet het als echt</a:t>
            </a:r>
            <a:endParaRPr lang="en-US" sz="1300" dirty="0"/>
          </a:p>
        </p:txBody>
      </p:sp>
      <p:sp>
        <p:nvSpPr>
          <p:cNvPr id="9" name="Kaart BUG-20"/>
          <p:cNvSpPr/>
          <p:nvPr/>
        </p:nvSpPr>
        <p:spPr>
          <a:xfrm>
            <a:off x="429768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Cirkel BUG-20"/>
          <p:cNvSpPr/>
          <p:nvPr/>
        </p:nvSpPr>
        <p:spPr>
          <a:xfrm>
            <a:off x="4572000" y="1737360"/>
            <a:ext cx="685800" cy="685800"/>
          </a:xfrm>
          <a:prstGeom prst="ellipse">
            <a:avLst/>
          </a:prstGeom>
          <a:solidFill>
            <a:schemeClr val="accent2"/>
          </a:solidFill>
          <a:ln w="12700">
            <a:solidFill>
              <a:schemeClr val="accent2"/>
            </a:solidFill>
            <a:prstDash val="solid"/>
          </a:ln>
        </p:spPr>
      </p:sp>
      <p:pic>
        <p:nvPicPr>
          <p:cNvPr id="11" name="Icoon BUG-20" descr="BUG-20">    </p:cNvPr>
          <p:cNvPicPr>
            <a:picLocks noChangeAspect="1"/>
          </p:cNvPicPr>
          <p:nvPr/>
        </p:nvPicPr>
        <p:blipFill>
          <a:blip r:embed="rId2"/>
          <a:stretch>
            <a:fillRect/>
          </a:stretch>
        </p:blipFill>
        <p:spPr>
          <a:xfrm>
            <a:off x="4743450" y="1908810"/>
            <a:ext cx="342900" cy="342900"/>
          </a:xfrm>
          <a:prstGeom prst="rect">
            <a:avLst/>
          </a:prstGeom>
        </p:spPr>
      </p:pic>
      <p:sp>
        <p:nvSpPr>
          <p:cNvPr id="12" name="Text 8"/>
          <p:cNvSpPr txBox="1"/>
          <p:nvPr/>
        </p:nvSpPr>
        <p:spPr>
          <a:xfrm>
            <a:off x="5440680" y="1737360"/>
            <a:ext cx="2194560" cy="320040"/>
          </a:xfrm>
          <a:prstGeom prst="rect">
            <a:avLst/>
          </a:prstGeom>
          <a:noFill/>
          <a:ln/>
        </p:spPr>
        <p:txBody>
          <a:bodyPr wrap="square" lIns="0" tIns="0" rIns="0" bIns="0" rtlCol="0" anchor="t"/>
          <a:lstStyle/>
          <a:p>
            <a:pPr indent="0" marL="0">
              <a:buNone/>
            </a:pPr>
            <a:r>
              <a:rPr lang="en-US" sz="1300" b="1" dirty="0">
                <a:solidFill>
                  <a:schemeClr val="accent2"/>
                </a:solidFill>
              </a:rPr>
              <a:t>BUG-20</a:t>
            </a:r>
            <a:endParaRPr lang="en-US" sz="1300" dirty="0"/>
          </a:p>
        </p:txBody>
      </p:sp>
      <p:sp>
        <p:nvSpPr>
          <p:cNvPr id="13" name="Text 9"/>
          <p:cNvSpPr txBox="1"/>
          <p:nvPr/>
        </p:nvSpPr>
        <p:spPr>
          <a:xfrm>
            <a:off x="5440680" y="2029968"/>
            <a:ext cx="2240280" cy="685800"/>
          </a:xfrm>
          <a:prstGeom prst="rect">
            <a:avLst/>
          </a:prstGeom>
          <a:noFill/>
          <a:ln/>
        </p:spPr>
        <p:txBody>
          <a:bodyPr wrap="square" lIns="0" tIns="0" rIns="0" bIns="0" rtlCol="0" anchor="t"/>
          <a:lstStyle/>
          <a:p>
            <a:pPr indent="0" marL="0">
              <a:buNone/>
            </a:pPr>
            <a:r>
              <a:rPr lang="en-US" sz="1600" b="1" dirty="0">
                <a:solidFill>
                  <a:schemeClr val="tx2"/>
                </a:solidFill>
              </a:rPr>
              <a:t>Medicijnen wijzigen zonder inloggen</a:t>
            </a:r>
            <a:endParaRPr lang="en-US" sz="1600" dirty="0"/>
          </a:p>
        </p:txBody>
      </p:sp>
      <p:sp>
        <p:nvSpPr>
          <p:cNvPr id="14" name="Text 10"/>
          <p:cNvSpPr txBox="1"/>
          <p:nvPr/>
        </p:nvSpPr>
        <p:spPr>
          <a:xfrm>
            <a:off x="4572000" y="2743200"/>
            <a:ext cx="3017520" cy="731520"/>
          </a:xfrm>
          <a:prstGeom prst="rect">
            <a:avLst/>
          </a:prstGeom>
          <a:noFill/>
          <a:ln/>
        </p:spPr>
        <p:txBody>
          <a:bodyPr wrap="square" lIns="0" tIns="0" rIns="0" bIns="0" rtlCol="0" anchor="t"/>
          <a:lstStyle/>
          <a:p>
            <a:pPr indent="0" marL="0">
              <a:buNone/>
            </a:pPr>
            <a:r>
              <a:rPr lang="en-US" sz="1300" dirty="0">
                <a:solidFill>
                  <a:schemeClr val="tx1"/>
                </a:solidFill>
              </a:rPr>
              <a:t>Verborgen pagina /Medicines/Edit: naam en sterkte aan te passen</a:t>
            </a:r>
            <a:endParaRPr lang="en-US" sz="1300" dirty="0"/>
          </a:p>
        </p:txBody>
      </p:sp>
      <p:sp>
        <p:nvSpPr>
          <p:cNvPr id="15" name="Kaart BUG-01"/>
          <p:cNvSpPr/>
          <p:nvPr/>
        </p:nvSpPr>
        <p:spPr>
          <a:xfrm>
            <a:off x="804672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Cirkel BUG-01"/>
          <p:cNvSpPr/>
          <p:nvPr/>
        </p:nvSpPr>
        <p:spPr>
          <a:xfrm>
            <a:off x="8321040" y="1737360"/>
            <a:ext cx="685800" cy="685800"/>
          </a:xfrm>
          <a:prstGeom prst="ellipse">
            <a:avLst/>
          </a:prstGeom>
          <a:solidFill>
            <a:schemeClr val="accent2"/>
          </a:solidFill>
          <a:ln w="12700">
            <a:solidFill>
              <a:schemeClr val="accent2"/>
            </a:solidFill>
            <a:prstDash val="solid"/>
          </a:ln>
        </p:spPr>
      </p:sp>
      <p:pic>
        <p:nvPicPr>
          <p:cNvPr id="17" name="Icoon BUG-01" descr="BUG-01">    </p:cNvPr>
          <p:cNvPicPr>
            <a:picLocks noChangeAspect="1"/>
          </p:cNvPicPr>
          <p:nvPr/>
        </p:nvPicPr>
        <p:blipFill>
          <a:blip r:embed="rId3"/>
          <a:stretch>
            <a:fillRect/>
          </a:stretch>
        </p:blipFill>
        <p:spPr>
          <a:xfrm>
            <a:off x="8492490" y="1908810"/>
            <a:ext cx="342900" cy="342900"/>
          </a:xfrm>
          <a:prstGeom prst="rect">
            <a:avLst/>
          </a:prstGeom>
        </p:spPr>
      </p:pic>
      <p:sp>
        <p:nvSpPr>
          <p:cNvPr id="18" name="Text 13"/>
          <p:cNvSpPr txBox="1"/>
          <p:nvPr/>
        </p:nvSpPr>
        <p:spPr>
          <a:xfrm>
            <a:off x="9189720" y="1737360"/>
            <a:ext cx="2194560" cy="320040"/>
          </a:xfrm>
          <a:prstGeom prst="rect">
            <a:avLst/>
          </a:prstGeom>
          <a:noFill/>
          <a:ln/>
        </p:spPr>
        <p:txBody>
          <a:bodyPr wrap="square" lIns="0" tIns="0" rIns="0" bIns="0" rtlCol="0" anchor="t"/>
          <a:lstStyle/>
          <a:p>
            <a:pPr indent="0" marL="0">
              <a:buNone/>
            </a:pPr>
            <a:r>
              <a:rPr lang="en-US" sz="1300" b="1" dirty="0">
                <a:solidFill>
                  <a:schemeClr val="accent2"/>
                </a:solidFill>
              </a:rPr>
              <a:t>BUG-01</a:t>
            </a:r>
            <a:endParaRPr lang="en-US" sz="1300" dirty="0"/>
          </a:p>
        </p:txBody>
      </p:sp>
      <p:sp>
        <p:nvSpPr>
          <p:cNvPr id="19" name="Text 14"/>
          <p:cNvSpPr txBox="1"/>
          <p:nvPr/>
        </p:nvSpPr>
        <p:spPr>
          <a:xfrm>
            <a:off x="9189720" y="2029968"/>
            <a:ext cx="2240280" cy="685800"/>
          </a:xfrm>
          <a:prstGeom prst="rect">
            <a:avLst/>
          </a:prstGeom>
          <a:noFill/>
          <a:ln/>
        </p:spPr>
        <p:txBody>
          <a:bodyPr wrap="square" lIns="0" tIns="0" rIns="0" bIns="0" rtlCol="0" anchor="t"/>
          <a:lstStyle/>
          <a:p>
            <a:pPr indent="0" marL="0">
              <a:buNone/>
            </a:pPr>
            <a:r>
              <a:rPr lang="en-US" sz="1600" b="1" dirty="0">
                <a:solidFill>
                  <a:schemeClr val="tx2"/>
                </a:solidFill>
              </a:rPr>
              <a:t>Logbestanden voor iedereen leesbaar</a:t>
            </a:r>
            <a:endParaRPr lang="en-US" sz="1600" dirty="0"/>
          </a:p>
        </p:txBody>
      </p:sp>
      <p:sp>
        <p:nvSpPr>
          <p:cNvPr id="20" name="Text 15"/>
          <p:cNvSpPr txBox="1"/>
          <p:nvPr/>
        </p:nvSpPr>
        <p:spPr>
          <a:xfrm>
            <a:off x="8321040" y="2743200"/>
            <a:ext cx="3017520" cy="731520"/>
          </a:xfrm>
          <a:prstGeom prst="rect">
            <a:avLst/>
          </a:prstGeom>
          <a:noFill/>
          <a:ln/>
        </p:spPr>
        <p:txBody>
          <a:bodyPr wrap="square" lIns="0" tIns="0" rIns="0" bIns="0" rtlCol="0" anchor="t"/>
          <a:lstStyle/>
          <a:p>
            <a:pPr indent="0" marL="0">
              <a:buNone/>
            </a:pPr>
            <a:r>
              <a:rPr lang="en-US" sz="1300" dirty="0">
                <a:solidFill>
                  <a:schemeClr val="tx1"/>
                </a:solidFill>
              </a:rPr>
              <a:t>Audittrail niet afgeschermd, ook niet voor andere rollen</a:t>
            </a:r>
            <a:endParaRPr lang="en-US" sz="1300" dirty="0"/>
          </a:p>
        </p:txBody>
      </p:sp>
      <p:sp>
        <p:nvSpPr>
          <p:cNvPr id="21" name="Kaart BUG-02"/>
          <p:cNvSpPr/>
          <p:nvPr/>
        </p:nvSpPr>
        <p:spPr>
          <a:xfrm>
            <a:off x="2423160" y="379476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Cirkel BUG-02"/>
          <p:cNvSpPr/>
          <p:nvPr/>
        </p:nvSpPr>
        <p:spPr>
          <a:xfrm>
            <a:off x="2697480" y="4069080"/>
            <a:ext cx="685800" cy="685800"/>
          </a:xfrm>
          <a:prstGeom prst="ellipse">
            <a:avLst/>
          </a:prstGeom>
          <a:solidFill>
            <a:schemeClr val="accent2"/>
          </a:solidFill>
          <a:ln w="12700">
            <a:solidFill>
              <a:schemeClr val="accent2"/>
            </a:solidFill>
            <a:prstDash val="solid"/>
          </a:ln>
        </p:spPr>
      </p:sp>
      <p:pic>
        <p:nvPicPr>
          <p:cNvPr id="23" name="Icoon BUG-02" descr="BUG-02">    </p:cNvPr>
          <p:cNvPicPr>
            <a:picLocks noChangeAspect="1"/>
          </p:cNvPicPr>
          <p:nvPr/>
        </p:nvPicPr>
        <p:blipFill>
          <a:blip r:embed="rId4"/>
          <a:stretch>
            <a:fillRect/>
          </a:stretch>
        </p:blipFill>
        <p:spPr>
          <a:xfrm>
            <a:off x="2868930" y="4240530"/>
            <a:ext cx="342900" cy="342900"/>
          </a:xfrm>
          <a:prstGeom prst="rect">
            <a:avLst/>
          </a:prstGeom>
        </p:spPr>
      </p:pic>
      <p:sp>
        <p:nvSpPr>
          <p:cNvPr id="24" name="Text 18"/>
          <p:cNvSpPr txBox="1"/>
          <p:nvPr/>
        </p:nvSpPr>
        <p:spPr>
          <a:xfrm>
            <a:off x="3566160" y="4069080"/>
            <a:ext cx="2194560" cy="320040"/>
          </a:xfrm>
          <a:prstGeom prst="rect">
            <a:avLst/>
          </a:prstGeom>
          <a:noFill/>
          <a:ln/>
        </p:spPr>
        <p:txBody>
          <a:bodyPr wrap="square" lIns="0" tIns="0" rIns="0" bIns="0" rtlCol="0" anchor="t"/>
          <a:lstStyle/>
          <a:p>
            <a:pPr indent="0" marL="0">
              <a:buNone/>
            </a:pPr>
            <a:r>
              <a:rPr lang="en-US" sz="1300" b="1" dirty="0">
                <a:solidFill>
                  <a:schemeClr val="accent2"/>
                </a:solidFill>
              </a:rPr>
              <a:t>BUG-02</a:t>
            </a:r>
            <a:endParaRPr lang="en-US" sz="1300" dirty="0"/>
          </a:p>
        </p:txBody>
      </p:sp>
      <p:sp>
        <p:nvSpPr>
          <p:cNvPr id="25" name="Text 19"/>
          <p:cNvSpPr txBox="1"/>
          <p:nvPr/>
        </p:nvSpPr>
        <p:spPr>
          <a:xfrm>
            <a:off x="3566160" y="4361688"/>
            <a:ext cx="2240280" cy="685800"/>
          </a:xfrm>
          <a:prstGeom prst="rect">
            <a:avLst/>
          </a:prstGeom>
          <a:noFill/>
          <a:ln/>
        </p:spPr>
        <p:txBody>
          <a:bodyPr wrap="square" lIns="0" tIns="0" rIns="0" bIns="0" rtlCol="0" anchor="t"/>
          <a:lstStyle/>
          <a:p>
            <a:pPr indent="0" marL="0">
              <a:buNone/>
            </a:pPr>
            <a:r>
              <a:rPr lang="en-US" sz="1600" b="1" dirty="0">
                <a:solidFill>
                  <a:schemeClr val="tx2"/>
                </a:solidFill>
              </a:rPr>
              <a:t>Bestanden van de server lezen</a:t>
            </a:r>
            <a:endParaRPr lang="en-US" sz="1600" dirty="0"/>
          </a:p>
        </p:txBody>
      </p:sp>
      <p:sp>
        <p:nvSpPr>
          <p:cNvPr id="26" name="Text 20"/>
          <p:cNvSpPr txBox="1"/>
          <p:nvPr/>
        </p:nvSpPr>
        <p:spPr>
          <a:xfrm>
            <a:off x="2697480" y="5074920"/>
            <a:ext cx="3017520" cy="731520"/>
          </a:xfrm>
          <a:prstGeom prst="rect">
            <a:avLst/>
          </a:prstGeom>
          <a:noFill/>
          <a:ln/>
        </p:spPr>
        <p:txBody>
          <a:bodyPr wrap="square" lIns="0" tIns="0" rIns="0" bIns="0" rtlCol="0" anchor="t"/>
          <a:lstStyle/>
          <a:p>
            <a:pPr indent="0" marL="0">
              <a:buNone/>
            </a:pPr>
            <a:r>
              <a:rPr lang="en-US" sz="1300" dirty="0">
                <a:solidFill>
                  <a:schemeClr val="tx1"/>
                </a:solidFill>
              </a:rPr>
              <a:t>Via ../ in de logweergave, bijvoorbeeld appsettings.json</a:t>
            </a:r>
            <a:endParaRPr lang="en-US" sz="1300" dirty="0"/>
          </a:p>
        </p:txBody>
      </p:sp>
      <p:sp>
        <p:nvSpPr>
          <p:cNvPr id="27" name="Kaart BUG-04"/>
          <p:cNvSpPr/>
          <p:nvPr/>
        </p:nvSpPr>
        <p:spPr>
          <a:xfrm>
            <a:off x="6172200" y="379476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Cirkel BUG-04"/>
          <p:cNvSpPr/>
          <p:nvPr/>
        </p:nvSpPr>
        <p:spPr>
          <a:xfrm>
            <a:off x="6446520" y="4069080"/>
            <a:ext cx="685800" cy="685800"/>
          </a:xfrm>
          <a:prstGeom prst="ellipse">
            <a:avLst/>
          </a:prstGeom>
          <a:solidFill>
            <a:schemeClr val="accent2"/>
          </a:solidFill>
          <a:ln w="12700">
            <a:solidFill>
              <a:schemeClr val="accent2"/>
            </a:solidFill>
            <a:prstDash val="solid"/>
          </a:ln>
        </p:spPr>
      </p:sp>
      <p:pic>
        <p:nvPicPr>
          <p:cNvPr id="29" name="Icoon BUG-04" descr="BUG-04">    </p:cNvPr>
          <p:cNvPicPr>
            <a:picLocks noChangeAspect="1"/>
          </p:cNvPicPr>
          <p:nvPr/>
        </p:nvPicPr>
        <p:blipFill>
          <a:blip r:embed="rId5"/>
          <a:stretch>
            <a:fillRect/>
          </a:stretch>
        </p:blipFill>
        <p:spPr>
          <a:xfrm>
            <a:off x="6617970" y="4240530"/>
            <a:ext cx="342900" cy="342900"/>
          </a:xfrm>
          <a:prstGeom prst="rect">
            <a:avLst/>
          </a:prstGeom>
        </p:spPr>
      </p:pic>
      <p:sp>
        <p:nvSpPr>
          <p:cNvPr id="30" name="Text 23"/>
          <p:cNvSpPr txBox="1"/>
          <p:nvPr/>
        </p:nvSpPr>
        <p:spPr>
          <a:xfrm>
            <a:off x="7315200" y="4069080"/>
            <a:ext cx="2194560" cy="320040"/>
          </a:xfrm>
          <a:prstGeom prst="rect">
            <a:avLst/>
          </a:prstGeom>
          <a:noFill/>
          <a:ln/>
        </p:spPr>
        <p:txBody>
          <a:bodyPr wrap="square" lIns="0" tIns="0" rIns="0" bIns="0" rtlCol="0" anchor="t"/>
          <a:lstStyle/>
          <a:p>
            <a:pPr indent="0" marL="0">
              <a:buNone/>
            </a:pPr>
            <a:r>
              <a:rPr lang="en-US" sz="1300" b="1" dirty="0">
                <a:solidFill>
                  <a:schemeClr val="accent2"/>
                </a:solidFill>
              </a:rPr>
              <a:t>BUG-04</a:t>
            </a:r>
            <a:endParaRPr lang="en-US" sz="1300" dirty="0"/>
          </a:p>
        </p:txBody>
      </p:sp>
      <p:sp>
        <p:nvSpPr>
          <p:cNvPr id="31" name="Text 24"/>
          <p:cNvSpPr txBox="1"/>
          <p:nvPr/>
        </p:nvSpPr>
        <p:spPr>
          <a:xfrm>
            <a:off x="7315200" y="4361688"/>
            <a:ext cx="2240280" cy="685800"/>
          </a:xfrm>
          <a:prstGeom prst="rect">
            <a:avLst/>
          </a:prstGeom>
          <a:noFill/>
          <a:ln/>
        </p:spPr>
        <p:txBody>
          <a:bodyPr wrap="square" lIns="0" tIns="0" rIns="0" bIns="0" rtlCol="0" anchor="t"/>
          <a:lstStyle/>
          <a:p>
            <a:pPr indent="0" marL="0">
              <a:buNone/>
            </a:pPr>
            <a:r>
              <a:rPr lang="en-US" sz="1600" b="1" dirty="0">
                <a:solidFill>
                  <a:schemeClr val="tx2"/>
                </a:solidFill>
              </a:rPr>
              <a:t>Persoonsgegevens openbaar</a:t>
            </a:r>
            <a:endParaRPr lang="en-US" sz="1600" dirty="0"/>
          </a:p>
        </p:txBody>
      </p:sp>
      <p:sp>
        <p:nvSpPr>
          <p:cNvPr id="32" name="Text 25"/>
          <p:cNvSpPr txBox="1"/>
          <p:nvPr/>
        </p:nvSpPr>
        <p:spPr>
          <a:xfrm>
            <a:off x="6446520" y="5074920"/>
            <a:ext cx="3017520" cy="731520"/>
          </a:xfrm>
          <a:prstGeom prst="rect">
            <a:avLst/>
          </a:prstGeom>
          <a:noFill/>
          <a:ln/>
        </p:spPr>
        <p:txBody>
          <a:bodyPr wrap="square" lIns="0" tIns="0" rIns="0" bIns="0" rtlCol="0" anchor="t"/>
          <a:lstStyle/>
          <a:p>
            <a:pPr indent="0" marL="0">
              <a:buNone/>
            </a:pPr>
            <a:r>
              <a:rPr lang="en-US" sz="1300" dirty="0">
                <a:solidFill>
                  <a:schemeClr val="tx1"/>
                </a:solidFill>
              </a:rPr>
              <a:t>Naam, e-mail en telefoon van alle gebruikers zonder inloggen</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Week 7: de apotheker ziet niet alles</a:t>
            </a:r>
            <a:endParaRPr lang="en-US" sz="3400" dirty="0"/>
          </a:p>
        </p:txBody>
      </p:sp>
      <p:pic>
        <p:nvPicPr>
          <p:cNvPr id="3" name="Schermafdruk BUG-15" descr="Schermafdruk Patient Prescription Details: Active Prescriptions (1), alleen Ibuprofen zichtbaar terwijl de patiënt twee voorschriften heeft">    </p:cNvPr>
          <p:cNvPicPr>
            <a:picLocks noChangeAspect="1"/>
          </p:cNvPicPr>
          <p:nvPr/>
        </p:nvPicPr>
        <p:blipFill>
          <a:blip r:embed="rId1"/>
          <a:stretch>
            <a:fillRect/>
          </a:stretch>
        </p:blipFill>
        <p:spPr>
          <a:xfrm>
            <a:off x="548640" y="1463040"/>
            <a:ext cx="5486400" cy="3364992"/>
          </a:xfrm>
          <a:prstGeom prst="rect">
            <a:avLst/>
          </a:prstGeom>
        </p:spPr>
      </p:pic>
      <p:sp>
        <p:nvSpPr>
          <p:cNvPr id="4" name="Rand BUG-15"/>
          <p:cNvSpPr/>
          <p:nvPr/>
        </p:nvSpPr>
        <p:spPr>
          <a:xfrm>
            <a:off x="548640" y="1463040"/>
            <a:ext cx="5486400" cy="3364992"/>
          </a:xfrm>
          <a:prstGeom prst="rect">
            <a:avLst/>
          </a:prstGeom>
          <a:ln w="12700">
            <a:solidFill>
              <a:schemeClr val="accent6"/>
            </a:solidFill>
            <a:prstDash val="solid"/>
          </a:ln>
        </p:spPr>
      </p:sp>
      <p:pic>
        <p:nvPicPr>
          <p:cNvPr id="5" name="Schermafdruk BUG-14" descr="Schermafdruk Create Medicine: na klikken op Create staat hetzelfde formulier er weer, zonder melding">    </p:cNvPr>
          <p:cNvPicPr>
            <a:picLocks noChangeAspect="1"/>
          </p:cNvPicPr>
          <p:nvPr/>
        </p:nvPicPr>
        <p:blipFill>
          <a:blip r:embed="rId2"/>
          <a:stretch>
            <a:fillRect/>
          </a:stretch>
        </p:blipFill>
        <p:spPr>
          <a:xfrm>
            <a:off x="6172200" y="1463040"/>
            <a:ext cx="5486400" cy="3364992"/>
          </a:xfrm>
          <a:prstGeom prst="rect">
            <a:avLst/>
          </a:prstGeom>
        </p:spPr>
      </p:pic>
      <p:sp>
        <p:nvSpPr>
          <p:cNvPr id="6" name="Rand BUG-14"/>
          <p:cNvSpPr/>
          <p:nvPr/>
        </p:nvSpPr>
        <p:spPr>
          <a:xfrm>
            <a:off x="6172200" y="1463040"/>
            <a:ext cx="5486400" cy="3364992"/>
          </a:xfrm>
          <a:prstGeom prst="rect">
            <a:avLst/>
          </a:prstGeom>
          <a:ln w="12700">
            <a:solidFill>
              <a:schemeClr val="accent6"/>
            </a:solidFill>
            <a:prstDash val="solid"/>
          </a:ln>
        </p:spPr>
      </p:sp>
      <p:sp>
        <p:nvSpPr>
          <p:cNvPr id="7" name="Text 3"/>
          <p:cNvSpPr txBox="1"/>
          <p:nvPr/>
        </p:nvSpPr>
        <p:spPr>
          <a:xfrm>
            <a:off x="548640" y="4983480"/>
            <a:ext cx="5486400" cy="685800"/>
          </a:xfrm>
          <a:prstGeom prst="rect">
            <a:avLst/>
          </a:prstGeom>
          <a:noFill/>
          <a:ln/>
        </p:spPr>
        <p:txBody>
          <a:bodyPr wrap="square" lIns="0" tIns="0" rIns="0" bIns="0" rtlCol="0" anchor="t"/>
          <a:lstStyle/>
          <a:p>
            <a:pPr indent="0" marL="0">
              <a:buNone/>
            </a:pPr>
            <a:r>
              <a:rPr lang="en-US" sz="1400" b="1" dirty="0">
                <a:solidFill>
                  <a:schemeClr val="accent2"/>
                </a:solidFill>
              </a:rPr>
              <a:t>BUG-15 (kritiek): </a:t>
            </a:r>
            <a:pPr indent="0" marL="0">
              <a:buNone/>
            </a:pPr>
            <a:r>
              <a:rPr lang="en-US" sz="1400" dirty="0">
                <a:solidFill>
                  <a:schemeClr val="tx1"/>
                </a:solidFill>
              </a:rPr>
              <a:t>patiënt heeft twee actuele voorschriften; de apotheker ziet er één (‘Active Prescriptions (1)’).</a:t>
            </a:r>
            <a:endParaRPr lang="en-US" sz="1400" dirty="0"/>
          </a:p>
        </p:txBody>
      </p:sp>
      <p:sp>
        <p:nvSpPr>
          <p:cNvPr id="8" name="Text 4"/>
          <p:cNvSpPr txBox="1"/>
          <p:nvPr/>
        </p:nvSpPr>
        <p:spPr>
          <a:xfrm>
            <a:off x="6172200" y="4983480"/>
            <a:ext cx="5486400" cy="685800"/>
          </a:xfrm>
          <a:prstGeom prst="rect">
            <a:avLst/>
          </a:prstGeom>
          <a:noFill/>
          <a:ln/>
        </p:spPr>
        <p:txBody>
          <a:bodyPr wrap="square" lIns="0" tIns="0" rIns="0" bIns="0" rtlCol="0" anchor="t"/>
          <a:lstStyle/>
          <a:p>
            <a:pPr indent="0" marL="0">
              <a:buNone/>
            </a:pPr>
            <a:r>
              <a:rPr lang="en-US" sz="1400" b="1" dirty="0">
                <a:solidFill>
                  <a:schemeClr val="accent2"/>
                </a:solidFill>
              </a:rPr>
              <a:t>BUG-14 (hoog): </a:t>
            </a:r>
            <a:pPr indent="0" marL="0">
              <a:buNone/>
            </a:pPr>
            <a:r>
              <a:rPr lang="en-US" sz="1400" dirty="0">
                <a:solidFill>
                  <a:schemeClr val="tx1"/>
                </a:solidFill>
              </a:rPr>
              <a:t>formulier mist het verplichte veld Sterkte; ‘Create’ slaat nooit op en meldt niets.</a:t>
            </a:r>
            <a:endParaRPr lang="en-US" sz="1400" dirty="0"/>
          </a:p>
        </p:txBody>
      </p:sp>
      <p:sp>
        <p:nvSpPr>
          <p:cNvPr id="9" name="Text 5"/>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300" i="1" dirty="0">
                <a:solidFill>
                  <a:schemeClr val="accent5"/>
                </a:solidFill>
              </a:rPr>
              <a:t>Ook: na verwijderen van een medicijn krijgt de apotheker voor de hele patiënt een foutpagina (BUG-17).</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‘Niets veranderd’ klopt niet</a:t>
            </a:r>
            <a:endParaRPr lang="en-US" sz="3400" dirty="0"/>
          </a:p>
        </p:txBody>
      </p:sp>
      <p:sp>
        <p:nvSpPr>
          <p:cNvPr id="3" name="Text 1"/>
          <p:cNvSpPr txBox="1"/>
          <p:nvPr/>
        </p:nvSpPr>
        <p:spPr>
          <a:xfrm>
            <a:off x="4114800" y="1417320"/>
            <a:ext cx="2743200" cy="320040"/>
          </a:xfrm>
          <a:prstGeom prst="rect">
            <a:avLst/>
          </a:prstGeom>
          <a:noFill/>
          <a:ln/>
        </p:spPr>
        <p:txBody>
          <a:bodyPr wrap="square" lIns="0" tIns="0" rIns="0" bIns="0" rtlCol="0" anchor="t"/>
          <a:lstStyle/>
          <a:p>
            <a:pPr indent="0" marL="0">
              <a:buNone/>
            </a:pPr>
            <a:r>
              <a:rPr lang="en-US" sz="1500" b="1" dirty="0">
                <a:solidFill>
                  <a:schemeClr val="accent5"/>
                </a:solidFill>
              </a:rPr>
              <a:t>Week 4</a:t>
            </a:r>
            <a:endParaRPr lang="en-US" sz="1500" dirty="0"/>
          </a:p>
        </p:txBody>
      </p:sp>
      <p:sp>
        <p:nvSpPr>
          <p:cNvPr id="4" name="Text 2"/>
          <p:cNvSpPr txBox="1"/>
          <p:nvPr/>
        </p:nvSpPr>
        <p:spPr>
          <a:xfrm>
            <a:off x="7315200" y="1417320"/>
            <a:ext cx="2743200" cy="320040"/>
          </a:xfrm>
          <a:prstGeom prst="rect">
            <a:avLst/>
          </a:prstGeom>
          <a:noFill/>
          <a:ln/>
        </p:spPr>
        <p:txBody>
          <a:bodyPr wrap="square" lIns="0" tIns="0" rIns="0" bIns="0" rtlCol="0" anchor="t"/>
          <a:lstStyle/>
          <a:p>
            <a:pPr indent="0" marL="0">
              <a:buNone/>
            </a:pPr>
            <a:r>
              <a:rPr lang="en-US" sz="1500" b="1" dirty="0">
                <a:solidFill>
                  <a:schemeClr val="tx2"/>
                </a:solidFill>
              </a:rPr>
              <a:t>Week 7</a:t>
            </a:r>
            <a:endParaRPr lang="en-US" sz="1500" dirty="0"/>
          </a:p>
        </p:txBody>
      </p:sp>
      <p:sp>
        <p:nvSpPr>
          <p:cNvPr id="5" name="Rij Patiënt ziet zijn voorschriften"/>
          <p:cNvSpPr/>
          <p:nvPr/>
        </p:nvSpPr>
        <p:spPr>
          <a:xfrm>
            <a:off x="548640" y="1828800"/>
            <a:ext cx="11064240" cy="777240"/>
          </a:xfrm>
          <a:prstGeom prst="roundRect">
            <a:avLst>
              <a:gd name="adj" fmla="val 1411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777240" y="2048256"/>
            <a:ext cx="3200400" cy="365760"/>
          </a:xfrm>
          <a:prstGeom prst="rect">
            <a:avLst/>
          </a:prstGeom>
          <a:noFill/>
          <a:ln/>
        </p:spPr>
        <p:txBody>
          <a:bodyPr wrap="square" lIns="0" tIns="0" rIns="0" bIns="0" rtlCol="0" anchor="t"/>
          <a:lstStyle/>
          <a:p>
            <a:pPr indent="0" marL="0">
              <a:buNone/>
            </a:pPr>
            <a:r>
              <a:rPr lang="en-US" sz="1500" b="1" dirty="0">
                <a:solidFill>
                  <a:schemeClr val="tx2"/>
                </a:solidFill>
              </a:rPr>
              <a:t>Patiënt ziet zijn voorschriften</a:t>
            </a:r>
            <a:endParaRPr lang="en-US" sz="1500" dirty="0"/>
          </a:p>
        </p:txBody>
      </p:sp>
      <p:sp>
        <p:nvSpPr>
          <p:cNvPr id="7" name="Text 5"/>
          <p:cNvSpPr txBox="1"/>
          <p:nvPr/>
        </p:nvSpPr>
        <p:spPr>
          <a:xfrm>
            <a:off x="4114800" y="2048256"/>
            <a:ext cx="2743200" cy="365760"/>
          </a:xfrm>
          <a:prstGeom prst="rect">
            <a:avLst/>
          </a:prstGeom>
          <a:noFill/>
          <a:ln/>
        </p:spPr>
        <p:txBody>
          <a:bodyPr wrap="square" lIns="0" tIns="0" rIns="0" bIns="0" rtlCol="0" anchor="t"/>
          <a:lstStyle/>
          <a:p>
            <a:pPr indent="0" marL="0">
              <a:buNone/>
            </a:pPr>
            <a:r>
              <a:rPr lang="en-US" sz="1500" dirty="0">
                <a:solidFill>
                  <a:schemeClr val="accent5"/>
                </a:solidFill>
              </a:rPr>
              <a:t>Alle actuele voorschriften</a:t>
            </a:r>
            <a:endParaRPr lang="en-US" sz="1500" dirty="0"/>
          </a:p>
        </p:txBody>
      </p:sp>
      <p:sp>
        <p:nvSpPr>
          <p:cNvPr id="8" name="Pijl Patiënt ziet zijn voorschriften"/>
          <p:cNvSpPr/>
          <p:nvPr/>
        </p:nvSpPr>
        <p:spPr>
          <a:xfrm>
            <a:off x="6812280" y="2103120"/>
            <a:ext cx="365760" cy="228600"/>
          </a:xfrm>
          <a:prstGeom prst="rightArrow">
            <a:avLst/>
          </a:prstGeom>
          <a:solidFill>
            <a:schemeClr val="accent6"/>
          </a:solidFill>
          <a:ln w="12700">
            <a:solidFill>
              <a:schemeClr val="accent6"/>
            </a:solidFill>
            <a:prstDash val="solid"/>
          </a:ln>
        </p:spPr>
      </p:sp>
      <p:sp>
        <p:nvSpPr>
          <p:cNvPr id="9" name="Text 7"/>
          <p:cNvSpPr txBox="1"/>
          <p:nvPr/>
        </p:nvSpPr>
        <p:spPr>
          <a:xfrm>
            <a:off x="7315200" y="2048256"/>
            <a:ext cx="2514600" cy="365760"/>
          </a:xfrm>
          <a:prstGeom prst="rect">
            <a:avLst/>
          </a:prstGeom>
          <a:noFill/>
          <a:ln/>
        </p:spPr>
        <p:txBody>
          <a:bodyPr wrap="square" lIns="0" tIns="0" rIns="0" bIns="0" rtlCol="0" anchor="t"/>
          <a:lstStyle/>
          <a:p>
            <a:pPr indent="0" marL="0">
              <a:buNone/>
            </a:pPr>
            <a:r>
              <a:rPr lang="en-US" sz="1500" dirty="0">
                <a:solidFill>
                  <a:schemeClr val="tx1"/>
                </a:solidFill>
              </a:rPr>
              <a:t>Nog maar één voorschrift</a:t>
            </a:r>
            <a:endParaRPr lang="en-US" sz="1500" dirty="0"/>
          </a:p>
        </p:txBody>
      </p:sp>
      <p:sp>
        <p:nvSpPr>
          <p:cNvPr id="10" name="Label BUG-16 · kritiek"/>
          <p:cNvSpPr/>
          <p:nvPr/>
        </p:nvSpPr>
        <p:spPr>
          <a:xfrm>
            <a:off x="9921240" y="2011680"/>
            <a:ext cx="1508760" cy="411480"/>
          </a:xfrm>
          <a:prstGeom prst="roundRect">
            <a:avLst>
              <a:gd name="adj" fmla="val 17778"/>
            </a:avLst>
          </a:prstGeom>
          <a:solidFill>
            <a:schemeClr val="accent2"/>
          </a:solidFill>
          <a:ln w="12700">
            <a:solidFill>
              <a:schemeClr val="accent2"/>
            </a:solidFill>
            <a:prstDash val="solid"/>
          </a:ln>
        </p:spPr>
      </p:sp>
      <p:sp>
        <p:nvSpPr>
          <p:cNvPr id="11" name="Text 9"/>
          <p:cNvSpPr txBox="1"/>
          <p:nvPr/>
        </p:nvSpPr>
        <p:spPr>
          <a:xfrm>
            <a:off x="9921240" y="2048256"/>
            <a:ext cx="1508760" cy="347472"/>
          </a:xfrm>
          <a:prstGeom prst="rect">
            <a:avLst/>
          </a:prstGeom>
          <a:noFill/>
          <a:ln/>
        </p:spPr>
        <p:txBody>
          <a:bodyPr wrap="square" lIns="0" tIns="0" rIns="0" bIns="0" rtlCol="0" anchor="ctr"/>
          <a:lstStyle/>
          <a:p>
            <a:pPr algn="ctr" indent="0" marL="0">
              <a:buNone/>
            </a:pPr>
            <a:r>
              <a:rPr lang="en-US" sz="1100" b="1" dirty="0">
                <a:solidFill>
                  <a:schemeClr val="bg1"/>
                </a:solidFill>
              </a:rPr>
              <a:t>BUG-16 · kritiek</a:t>
            </a:r>
            <a:endParaRPr lang="en-US" sz="1100" dirty="0"/>
          </a:p>
        </p:txBody>
      </p:sp>
      <p:sp>
        <p:nvSpPr>
          <p:cNvPr id="12" name="Rij Hoeveelheid 0 of negatief"/>
          <p:cNvSpPr/>
          <p:nvPr/>
        </p:nvSpPr>
        <p:spPr>
          <a:xfrm>
            <a:off x="548640" y="2761488"/>
            <a:ext cx="11064240" cy="777240"/>
          </a:xfrm>
          <a:prstGeom prst="roundRect">
            <a:avLst>
              <a:gd name="adj" fmla="val 1411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77240" y="2980944"/>
            <a:ext cx="3200400" cy="365760"/>
          </a:xfrm>
          <a:prstGeom prst="rect">
            <a:avLst/>
          </a:prstGeom>
          <a:noFill/>
          <a:ln/>
        </p:spPr>
        <p:txBody>
          <a:bodyPr wrap="square" lIns="0" tIns="0" rIns="0" bIns="0" rtlCol="0" anchor="t"/>
          <a:lstStyle/>
          <a:p>
            <a:pPr indent="0" marL="0">
              <a:buNone/>
            </a:pPr>
            <a:r>
              <a:rPr lang="en-US" sz="1500" b="1" dirty="0">
                <a:solidFill>
                  <a:schemeClr val="tx2"/>
                </a:solidFill>
              </a:rPr>
              <a:t>Hoeveelheid 0 of negatief</a:t>
            </a:r>
            <a:endParaRPr lang="en-US" sz="1500" dirty="0"/>
          </a:p>
        </p:txBody>
      </p:sp>
      <p:sp>
        <p:nvSpPr>
          <p:cNvPr id="14" name="Text 12"/>
          <p:cNvSpPr txBox="1"/>
          <p:nvPr/>
        </p:nvSpPr>
        <p:spPr>
          <a:xfrm>
            <a:off x="4114800" y="2980944"/>
            <a:ext cx="2743200" cy="365760"/>
          </a:xfrm>
          <a:prstGeom prst="rect">
            <a:avLst/>
          </a:prstGeom>
          <a:noFill/>
          <a:ln/>
        </p:spPr>
        <p:txBody>
          <a:bodyPr wrap="square" lIns="0" tIns="0" rIns="0" bIns="0" rtlCol="0" anchor="t"/>
          <a:lstStyle/>
          <a:p>
            <a:pPr indent="0" marL="0">
              <a:buNone/>
            </a:pPr>
            <a:r>
              <a:rPr lang="en-US" sz="1500" dirty="0">
                <a:solidFill>
                  <a:schemeClr val="accent5"/>
                </a:solidFill>
              </a:rPr>
              <a:t>Wordt opgeslagen</a:t>
            </a:r>
            <a:endParaRPr lang="en-US" sz="1500" dirty="0"/>
          </a:p>
        </p:txBody>
      </p:sp>
      <p:sp>
        <p:nvSpPr>
          <p:cNvPr id="15" name="Pijl Hoeveelheid 0 of negatief"/>
          <p:cNvSpPr/>
          <p:nvPr/>
        </p:nvSpPr>
        <p:spPr>
          <a:xfrm>
            <a:off x="6812280" y="3035808"/>
            <a:ext cx="365760" cy="228600"/>
          </a:xfrm>
          <a:prstGeom prst="rightArrow">
            <a:avLst/>
          </a:prstGeom>
          <a:solidFill>
            <a:schemeClr val="accent6"/>
          </a:solidFill>
          <a:ln w="12700">
            <a:solidFill>
              <a:schemeClr val="accent6"/>
            </a:solidFill>
            <a:prstDash val="solid"/>
          </a:ln>
        </p:spPr>
      </p:sp>
      <p:sp>
        <p:nvSpPr>
          <p:cNvPr id="16" name="Text 14"/>
          <p:cNvSpPr txBox="1"/>
          <p:nvPr/>
        </p:nvSpPr>
        <p:spPr>
          <a:xfrm>
            <a:off x="7315200" y="2980944"/>
            <a:ext cx="2514600" cy="365760"/>
          </a:xfrm>
          <a:prstGeom prst="rect">
            <a:avLst/>
          </a:prstGeom>
          <a:noFill/>
          <a:ln/>
        </p:spPr>
        <p:txBody>
          <a:bodyPr wrap="square" lIns="0" tIns="0" rIns="0" bIns="0" rtlCol="0" anchor="t"/>
          <a:lstStyle/>
          <a:p>
            <a:pPr indent="0" marL="0">
              <a:buNone/>
            </a:pPr>
            <a:r>
              <a:rPr lang="en-US" sz="1500" dirty="0">
                <a:solidFill>
                  <a:schemeClr val="tx1"/>
                </a:solidFill>
              </a:rPr>
              <a:t>Wordt geweigerd</a:t>
            </a:r>
            <a:endParaRPr lang="en-US" sz="1500" dirty="0"/>
          </a:p>
        </p:txBody>
      </p:sp>
      <p:sp>
        <p:nvSpPr>
          <p:cNvPr id="17" name="Label BUG-07 · opgelost"/>
          <p:cNvSpPr/>
          <p:nvPr/>
        </p:nvSpPr>
        <p:spPr>
          <a:xfrm>
            <a:off x="9921240" y="2944368"/>
            <a:ext cx="1508760" cy="411480"/>
          </a:xfrm>
          <a:prstGeom prst="roundRect">
            <a:avLst>
              <a:gd name="adj" fmla="val 17778"/>
            </a:avLst>
          </a:prstGeom>
          <a:solidFill>
            <a:schemeClr val="accent4"/>
          </a:solidFill>
          <a:ln w="12700">
            <a:solidFill>
              <a:schemeClr val="accent4"/>
            </a:solidFill>
            <a:prstDash val="solid"/>
          </a:ln>
        </p:spPr>
      </p:sp>
      <p:sp>
        <p:nvSpPr>
          <p:cNvPr id="18" name="Text 16"/>
          <p:cNvSpPr txBox="1"/>
          <p:nvPr/>
        </p:nvSpPr>
        <p:spPr>
          <a:xfrm>
            <a:off x="9921240" y="2980944"/>
            <a:ext cx="1508760" cy="347472"/>
          </a:xfrm>
          <a:prstGeom prst="rect">
            <a:avLst/>
          </a:prstGeom>
          <a:noFill/>
          <a:ln/>
        </p:spPr>
        <p:txBody>
          <a:bodyPr wrap="square" lIns="0" tIns="0" rIns="0" bIns="0" rtlCol="0" anchor="ctr"/>
          <a:lstStyle/>
          <a:p>
            <a:pPr algn="ctr" indent="0" marL="0">
              <a:buNone/>
            </a:pPr>
            <a:r>
              <a:rPr lang="en-US" sz="1100" b="1" dirty="0">
                <a:solidFill>
                  <a:schemeClr val="bg1"/>
                </a:solidFill>
              </a:rPr>
              <a:t>BUG-07 · opgelost</a:t>
            </a:r>
            <a:endParaRPr lang="en-US" sz="1100" dirty="0"/>
          </a:p>
        </p:txBody>
      </p:sp>
      <p:sp>
        <p:nvSpPr>
          <p:cNvPr id="19" name="Rij Geldige + ongeldige regel"/>
          <p:cNvSpPr/>
          <p:nvPr/>
        </p:nvSpPr>
        <p:spPr>
          <a:xfrm>
            <a:off x="548640" y="3694176"/>
            <a:ext cx="11064240" cy="777240"/>
          </a:xfrm>
          <a:prstGeom prst="roundRect">
            <a:avLst>
              <a:gd name="adj" fmla="val 1411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777240" y="3913632"/>
            <a:ext cx="3200400" cy="365760"/>
          </a:xfrm>
          <a:prstGeom prst="rect">
            <a:avLst/>
          </a:prstGeom>
          <a:noFill/>
          <a:ln/>
        </p:spPr>
        <p:txBody>
          <a:bodyPr wrap="square" lIns="0" tIns="0" rIns="0" bIns="0" rtlCol="0" anchor="t"/>
          <a:lstStyle/>
          <a:p>
            <a:pPr indent="0" marL="0">
              <a:buNone/>
            </a:pPr>
            <a:r>
              <a:rPr lang="en-US" sz="1500" b="1" dirty="0">
                <a:solidFill>
                  <a:schemeClr val="tx2"/>
                </a:solidFill>
              </a:rPr>
              <a:t>Geldige + ongeldige regel</a:t>
            </a:r>
            <a:endParaRPr lang="en-US" sz="1500" dirty="0"/>
          </a:p>
        </p:txBody>
      </p:sp>
      <p:sp>
        <p:nvSpPr>
          <p:cNvPr id="21" name="Text 19"/>
          <p:cNvSpPr txBox="1"/>
          <p:nvPr/>
        </p:nvSpPr>
        <p:spPr>
          <a:xfrm>
            <a:off x="4114800" y="3913632"/>
            <a:ext cx="2743200" cy="365760"/>
          </a:xfrm>
          <a:prstGeom prst="rect">
            <a:avLst/>
          </a:prstGeom>
          <a:noFill/>
          <a:ln/>
        </p:spPr>
        <p:txBody>
          <a:bodyPr wrap="square" lIns="0" tIns="0" rIns="0" bIns="0" rtlCol="0" anchor="t"/>
          <a:lstStyle/>
          <a:p>
            <a:pPr indent="0" marL="0">
              <a:buNone/>
            </a:pPr>
            <a:r>
              <a:rPr lang="en-US" sz="1500" dirty="0">
                <a:solidFill>
                  <a:schemeClr val="accent5"/>
                </a:solidFill>
              </a:rPr>
              <a:t>n.v.t.</a:t>
            </a:r>
            <a:endParaRPr lang="en-US" sz="1500" dirty="0"/>
          </a:p>
        </p:txBody>
      </p:sp>
      <p:sp>
        <p:nvSpPr>
          <p:cNvPr id="22" name="Pijl Geldige + ongeldige regel"/>
          <p:cNvSpPr/>
          <p:nvPr/>
        </p:nvSpPr>
        <p:spPr>
          <a:xfrm>
            <a:off x="6812280" y="3968496"/>
            <a:ext cx="365760" cy="228600"/>
          </a:xfrm>
          <a:prstGeom prst="rightArrow">
            <a:avLst/>
          </a:prstGeom>
          <a:solidFill>
            <a:schemeClr val="accent6"/>
          </a:solidFill>
          <a:ln w="12700">
            <a:solidFill>
              <a:schemeClr val="accent6"/>
            </a:solidFill>
            <a:prstDash val="solid"/>
          </a:ln>
        </p:spPr>
      </p:sp>
      <p:sp>
        <p:nvSpPr>
          <p:cNvPr id="23" name="Text 21"/>
          <p:cNvSpPr txBox="1"/>
          <p:nvPr/>
        </p:nvSpPr>
        <p:spPr>
          <a:xfrm>
            <a:off x="7315200" y="3913632"/>
            <a:ext cx="2514600" cy="365760"/>
          </a:xfrm>
          <a:prstGeom prst="rect">
            <a:avLst/>
          </a:prstGeom>
          <a:noFill/>
          <a:ln/>
        </p:spPr>
        <p:txBody>
          <a:bodyPr wrap="square" lIns="0" tIns="0" rIns="0" bIns="0" rtlCol="0" anchor="t"/>
          <a:lstStyle/>
          <a:p>
            <a:pPr indent="0" marL="0">
              <a:buNone/>
            </a:pPr>
            <a:r>
              <a:rPr lang="en-US" sz="1500" dirty="0">
                <a:solidFill>
                  <a:schemeClr val="tx1"/>
                </a:solidFill>
              </a:rPr>
              <a:t>Ongeldige regel stil weggelaten</a:t>
            </a:r>
            <a:endParaRPr lang="en-US" sz="1500" dirty="0"/>
          </a:p>
        </p:txBody>
      </p:sp>
      <p:sp>
        <p:nvSpPr>
          <p:cNvPr id="24" name="Label BUG-18 · middel"/>
          <p:cNvSpPr/>
          <p:nvPr/>
        </p:nvSpPr>
        <p:spPr>
          <a:xfrm>
            <a:off x="9921240" y="3877056"/>
            <a:ext cx="1508760" cy="411480"/>
          </a:xfrm>
          <a:prstGeom prst="roundRect">
            <a:avLst>
              <a:gd name="adj" fmla="val 17778"/>
            </a:avLst>
          </a:prstGeom>
          <a:solidFill>
            <a:schemeClr val="accent3"/>
          </a:solidFill>
          <a:ln w="12700">
            <a:solidFill>
              <a:schemeClr val="accent3"/>
            </a:solidFill>
            <a:prstDash val="solid"/>
          </a:ln>
        </p:spPr>
      </p:sp>
      <p:sp>
        <p:nvSpPr>
          <p:cNvPr id="25" name="Text 23"/>
          <p:cNvSpPr txBox="1"/>
          <p:nvPr/>
        </p:nvSpPr>
        <p:spPr>
          <a:xfrm>
            <a:off x="9921240" y="3913632"/>
            <a:ext cx="1508760" cy="347472"/>
          </a:xfrm>
          <a:prstGeom prst="rect">
            <a:avLst/>
          </a:prstGeom>
          <a:noFill/>
          <a:ln/>
        </p:spPr>
        <p:txBody>
          <a:bodyPr wrap="square" lIns="0" tIns="0" rIns="0" bIns="0" rtlCol="0" anchor="ctr"/>
          <a:lstStyle/>
          <a:p>
            <a:pPr algn="ctr" indent="0" marL="0">
              <a:buNone/>
            </a:pPr>
            <a:r>
              <a:rPr lang="en-US" sz="1100" b="1" dirty="0">
                <a:solidFill>
                  <a:schemeClr val="bg1"/>
                </a:solidFill>
              </a:rPr>
              <a:t>BUG-18 · middel</a:t>
            </a:r>
            <a:endParaRPr lang="en-US" sz="1100" dirty="0"/>
          </a:p>
        </p:txBody>
      </p:sp>
      <p:sp>
        <p:nvSpPr>
          <p:cNvPr id="26" name="Rij Zelfde medicijn twee keer"/>
          <p:cNvSpPr/>
          <p:nvPr/>
        </p:nvSpPr>
        <p:spPr>
          <a:xfrm>
            <a:off x="548640" y="4626864"/>
            <a:ext cx="11064240" cy="777240"/>
          </a:xfrm>
          <a:prstGeom prst="roundRect">
            <a:avLst>
              <a:gd name="adj" fmla="val 1411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Text 25"/>
          <p:cNvSpPr txBox="1"/>
          <p:nvPr/>
        </p:nvSpPr>
        <p:spPr>
          <a:xfrm>
            <a:off x="777240" y="4846320"/>
            <a:ext cx="3200400" cy="365760"/>
          </a:xfrm>
          <a:prstGeom prst="rect">
            <a:avLst/>
          </a:prstGeom>
          <a:noFill/>
          <a:ln/>
        </p:spPr>
        <p:txBody>
          <a:bodyPr wrap="square" lIns="0" tIns="0" rIns="0" bIns="0" rtlCol="0" anchor="t"/>
          <a:lstStyle/>
          <a:p>
            <a:pPr indent="0" marL="0">
              <a:buNone/>
            </a:pPr>
            <a:r>
              <a:rPr lang="en-US" sz="1500" b="1" dirty="0">
                <a:solidFill>
                  <a:schemeClr val="tx2"/>
                </a:solidFill>
              </a:rPr>
              <a:t>Zelfde medicijn twee keer</a:t>
            </a:r>
            <a:endParaRPr lang="en-US" sz="1500" dirty="0"/>
          </a:p>
        </p:txBody>
      </p:sp>
      <p:sp>
        <p:nvSpPr>
          <p:cNvPr id="28" name="Text 26"/>
          <p:cNvSpPr txBox="1"/>
          <p:nvPr/>
        </p:nvSpPr>
        <p:spPr>
          <a:xfrm>
            <a:off x="4114800" y="4846320"/>
            <a:ext cx="2743200" cy="365760"/>
          </a:xfrm>
          <a:prstGeom prst="rect">
            <a:avLst/>
          </a:prstGeom>
          <a:noFill/>
          <a:ln/>
        </p:spPr>
        <p:txBody>
          <a:bodyPr wrap="square" lIns="0" tIns="0" rIns="0" bIns="0" rtlCol="0" anchor="t"/>
          <a:lstStyle/>
          <a:p>
            <a:pPr indent="0" marL="0">
              <a:buNone/>
            </a:pPr>
            <a:r>
              <a:rPr lang="en-US" sz="1500" dirty="0">
                <a:solidFill>
                  <a:schemeClr val="accent5"/>
                </a:solidFill>
              </a:rPr>
              <a:t>Twee regels</a:t>
            </a:r>
            <a:endParaRPr lang="en-US" sz="1500" dirty="0"/>
          </a:p>
        </p:txBody>
      </p:sp>
      <p:sp>
        <p:nvSpPr>
          <p:cNvPr id="29" name="Pijl Zelfde medicijn twee keer"/>
          <p:cNvSpPr/>
          <p:nvPr/>
        </p:nvSpPr>
        <p:spPr>
          <a:xfrm>
            <a:off x="6812280" y="4901184"/>
            <a:ext cx="365760" cy="228600"/>
          </a:xfrm>
          <a:prstGeom prst="rightArrow">
            <a:avLst/>
          </a:prstGeom>
          <a:solidFill>
            <a:schemeClr val="accent6"/>
          </a:solidFill>
          <a:ln w="12700">
            <a:solidFill>
              <a:schemeClr val="accent6"/>
            </a:solidFill>
            <a:prstDash val="solid"/>
          </a:ln>
        </p:spPr>
      </p:sp>
      <p:sp>
        <p:nvSpPr>
          <p:cNvPr id="30" name="Text 28"/>
          <p:cNvSpPr txBox="1"/>
          <p:nvPr/>
        </p:nvSpPr>
        <p:spPr>
          <a:xfrm>
            <a:off x="7315200" y="4846320"/>
            <a:ext cx="2514600" cy="365760"/>
          </a:xfrm>
          <a:prstGeom prst="rect">
            <a:avLst/>
          </a:prstGeom>
          <a:noFill/>
          <a:ln/>
        </p:spPr>
        <p:txBody>
          <a:bodyPr wrap="square" lIns="0" tIns="0" rIns="0" bIns="0" rtlCol="0" anchor="t"/>
          <a:lstStyle/>
          <a:p>
            <a:pPr indent="0" marL="0">
              <a:buNone/>
            </a:pPr>
            <a:r>
              <a:rPr lang="en-US" sz="1500" dirty="0">
                <a:solidFill>
                  <a:schemeClr val="tx1"/>
                </a:solidFill>
              </a:rPr>
              <a:t>Zonder melding samengevoegd</a:t>
            </a:r>
            <a:endParaRPr lang="en-US" sz="1500" dirty="0"/>
          </a:p>
        </p:txBody>
      </p:sp>
      <p:sp>
        <p:nvSpPr>
          <p:cNvPr id="31" name="Label Observatie"/>
          <p:cNvSpPr/>
          <p:nvPr/>
        </p:nvSpPr>
        <p:spPr>
          <a:xfrm>
            <a:off x="9921240" y="4809744"/>
            <a:ext cx="1508760" cy="411480"/>
          </a:xfrm>
          <a:prstGeom prst="roundRect">
            <a:avLst>
              <a:gd name="adj" fmla="val 17778"/>
            </a:avLst>
          </a:prstGeom>
          <a:solidFill>
            <a:schemeClr val="accent5"/>
          </a:solidFill>
          <a:ln w="12700">
            <a:solidFill>
              <a:schemeClr val="accent5"/>
            </a:solidFill>
            <a:prstDash val="solid"/>
          </a:ln>
        </p:spPr>
      </p:sp>
      <p:sp>
        <p:nvSpPr>
          <p:cNvPr id="32" name="Text 30"/>
          <p:cNvSpPr txBox="1"/>
          <p:nvPr/>
        </p:nvSpPr>
        <p:spPr>
          <a:xfrm>
            <a:off x="9921240" y="4846320"/>
            <a:ext cx="1508760" cy="347472"/>
          </a:xfrm>
          <a:prstGeom prst="rect">
            <a:avLst/>
          </a:prstGeom>
          <a:noFill/>
          <a:ln/>
        </p:spPr>
        <p:txBody>
          <a:bodyPr wrap="square" lIns="0" tIns="0" rIns="0" bIns="0" rtlCol="0" anchor="ctr"/>
          <a:lstStyle/>
          <a:p>
            <a:pPr algn="ctr" indent="0" marL="0">
              <a:buNone/>
            </a:pPr>
            <a:r>
              <a:rPr lang="en-US" sz="1100" b="1" dirty="0">
                <a:solidFill>
                  <a:schemeClr val="bg1"/>
                </a:solidFill>
              </a:rPr>
              <a:t>Observatie</a:t>
            </a:r>
            <a:endParaRPr lang="en-US" sz="1100" dirty="0"/>
          </a:p>
        </p:txBody>
      </p:sp>
      <p:sp>
        <p:nvSpPr>
          <p:cNvPr id="33" name="Cirkel broncode vergeleken"/>
          <p:cNvSpPr/>
          <p:nvPr/>
        </p:nvSpPr>
        <p:spPr>
          <a:xfrm>
            <a:off x="548640" y="5623560"/>
            <a:ext cx="457200" cy="457200"/>
          </a:xfrm>
          <a:prstGeom prst="ellipse">
            <a:avLst/>
          </a:prstGeom>
          <a:solidFill>
            <a:schemeClr val="accent1"/>
          </a:solidFill>
          <a:ln w="12700">
            <a:solidFill>
              <a:schemeClr val="accent1"/>
            </a:solidFill>
            <a:prstDash val="solid"/>
          </a:ln>
        </p:spPr>
      </p:sp>
      <p:pic>
        <p:nvPicPr>
          <p:cNvPr id="34" name="Icoon broncode vergeleken" descr="broncode vergeleken">    </p:cNvPr>
          <p:cNvPicPr>
            <a:picLocks noChangeAspect="1"/>
          </p:cNvPicPr>
          <p:nvPr/>
        </p:nvPicPr>
        <p:blipFill>
          <a:blip r:embed="rId1"/>
          <a:stretch>
            <a:fillRect/>
          </a:stretch>
        </p:blipFill>
        <p:spPr>
          <a:xfrm>
            <a:off x="662940" y="5737860"/>
            <a:ext cx="228600" cy="228600"/>
          </a:xfrm>
          <a:prstGeom prst="rect">
            <a:avLst/>
          </a:prstGeom>
        </p:spPr>
      </p:pic>
      <p:sp>
        <p:nvSpPr>
          <p:cNvPr id="35" name="Text 32"/>
          <p:cNvSpPr txBox="1"/>
          <p:nvPr/>
        </p:nvSpPr>
        <p:spPr>
          <a:xfrm>
            <a:off x="1143000" y="5669280"/>
            <a:ext cx="10424160" cy="411480"/>
          </a:xfrm>
          <a:prstGeom prst="rect">
            <a:avLst/>
          </a:prstGeom>
          <a:noFill/>
          <a:ln/>
        </p:spPr>
        <p:txBody>
          <a:bodyPr wrap="square" lIns="0" tIns="0" rIns="0" bIns="0" rtlCol="0" anchor="t"/>
          <a:lstStyle/>
          <a:p>
            <a:pPr indent="0" marL="0">
              <a:buNone/>
            </a:pPr>
            <a:r>
              <a:rPr lang="en-US" sz="1400" dirty="0">
                <a:solidFill>
                  <a:schemeClr val="tx1"/>
                </a:solidFill>
              </a:rPr>
              <a:t>Gevonden door de broncode van week 7 te vergelijken met week 4 en daarna gerichte regressietests toe te voegen.</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Risico-matrix: kans × impact</a:t>
            </a:r>
            <a:endParaRPr lang="en-US" sz="3400" dirty="0"/>
          </a:p>
        </p:txBody>
      </p:sp>
      <p:sp>
        <p:nvSpPr>
          <p:cNvPr id="3" name="Text 1"/>
          <p:cNvSpPr txBox="1"/>
          <p:nvPr/>
        </p:nvSpPr>
        <p:spPr>
          <a:xfrm>
            <a:off x="548640" y="2057400"/>
            <a:ext cx="914400" cy="365760"/>
          </a:xfrm>
          <a:prstGeom prst="rect">
            <a:avLst/>
          </a:prstGeom>
          <a:noFill/>
          <a:ln/>
        </p:spPr>
        <p:txBody>
          <a:bodyPr wrap="square" lIns="0" tIns="0" rIns="0" bIns="0" rtlCol="0" anchor="t"/>
          <a:lstStyle/>
          <a:p>
            <a:pPr algn="r" indent="0" marL="0">
              <a:buNone/>
            </a:pPr>
            <a:r>
              <a:rPr lang="en-US" sz="1400" b="1" dirty="0">
                <a:solidFill>
                  <a:schemeClr val="tx2"/>
                </a:solidFill>
              </a:rPr>
              <a:t>Hoog</a:t>
            </a:r>
            <a:endParaRPr lang="en-US" sz="1400" dirty="0"/>
          </a:p>
        </p:txBody>
      </p:sp>
      <p:sp>
        <p:nvSpPr>
          <p:cNvPr id="4" name="Vak impact Hoog kans Laag"/>
          <p:cNvSpPr/>
          <p:nvPr/>
        </p:nvSpPr>
        <p:spPr>
          <a:xfrm>
            <a:off x="1554480" y="1600200"/>
            <a:ext cx="1965960" cy="1143000"/>
          </a:xfrm>
          <a:prstGeom prst="roundRect">
            <a:avLst>
              <a:gd name="adj" fmla="val 6400"/>
            </a:avLst>
          </a:prstGeom>
          <a:solidFill>
            <a:schemeClr val="accent6"/>
          </a:solidFill>
          <a:ln w="12700">
            <a:solidFill>
              <a:schemeClr val="accent6"/>
            </a:solidFill>
            <a:prstDash val="solid"/>
          </a:ln>
        </p:spPr>
      </p:sp>
      <p:sp>
        <p:nvSpPr>
          <p:cNvPr id="5" name="Text 3"/>
          <p:cNvSpPr txBox="1"/>
          <p:nvPr/>
        </p:nvSpPr>
        <p:spPr>
          <a:xfrm>
            <a:off x="1691640" y="1737360"/>
            <a:ext cx="1691640" cy="868680"/>
          </a:xfrm>
          <a:prstGeom prst="rect">
            <a:avLst/>
          </a:prstGeom>
          <a:noFill/>
          <a:ln/>
        </p:spPr>
        <p:txBody>
          <a:bodyPr wrap="square" lIns="0" tIns="0" rIns="0" bIns="0" rtlCol="0" anchor="ctr"/>
          <a:lstStyle/>
          <a:p>
            <a:pPr algn="ctr" indent="0" marL="0">
              <a:buNone/>
            </a:pPr>
            <a:r>
              <a:rPr lang="en-US" sz="1400" dirty="0">
                <a:solidFill>
                  <a:schemeClr val="tx1"/>
                </a:solidFill>
              </a:rPr>
              <a:t>N2</a:t>
            </a:r>
            <a:endParaRPr lang="en-US" sz="1400" dirty="0"/>
          </a:p>
        </p:txBody>
      </p:sp>
      <p:sp>
        <p:nvSpPr>
          <p:cNvPr id="6" name="Vak impact Hoog kans Middel"/>
          <p:cNvSpPr/>
          <p:nvPr/>
        </p:nvSpPr>
        <p:spPr>
          <a:xfrm>
            <a:off x="3611880" y="1600200"/>
            <a:ext cx="1965960" cy="1143000"/>
          </a:xfrm>
          <a:prstGeom prst="roundRect">
            <a:avLst>
              <a:gd name="adj" fmla="val 6400"/>
            </a:avLst>
          </a:prstGeom>
          <a:solidFill>
            <a:schemeClr val="accent3"/>
          </a:solidFill>
          <a:ln w="12700">
            <a:solidFill>
              <a:schemeClr val="accent3"/>
            </a:solidFill>
            <a:prstDash val="solid"/>
          </a:ln>
        </p:spPr>
      </p:sp>
      <p:sp>
        <p:nvSpPr>
          <p:cNvPr id="7" name="Text 5"/>
          <p:cNvSpPr txBox="1"/>
          <p:nvPr/>
        </p:nvSpPr>
        <p:spPr>
          <a:xfrm>
            <a:off x="3749040" y="1737360"/>
            <a:ext cx="1691640" cy="868680"/>
          </a:xfrm>
          <a:prstGeom prst="rect">
            <a:avLst/>
          </a:prstGeom>
          <a:noFill/>
          <a:ln/>
        </p:spPr>
        <p:txBody>
          <a:bodyPr wrap="square" lIns="0" tIns="0" rIns="0" bIns="0" rtlCol="0" anchor="ctr"/>
          <a:lstStyle/>
          <a:p>
            <a:pPr algn="ctr" indent="0" marL="0">
              <a:buNone/>
            </a:pPr>
            <a:r>
              <a:rPr lang="en-US" sz="1400" b="1" dirty="0">
                <a:solidFill>
                  <a:schemeClr val="bg1"/>
                </a:solidFill>
              </a:rPr>
              <a:t>BUG-02, 05, 17, 20</a:t>
            </a:r>
            <a:endParaRPr lang="en-US" sz="1400" dirty="0"/>
          </a:p>
        </p:txBody>
      </p:sp>
      <p:sp>
        <p:nvSpPr>
          <p:cNvPr id="8" name="Vak impact Hoog kans Hoog"/>
          <p:cNvSpPr/>
          <p:nvPr/>
        </p:nvSpPr>
        <p:spPr>
          <a:xfrm>
            <a:off x="5669280" y="1600200"/>
            <a:ext cx="1965960" cy="1143000"/>
          </a:xfrm>
          <a:prstGeom prst="roundRect">
            <a:avLst>
              <a:gd name="adj" fmla="val 6400"/>
            </a:avLst>
          </a:prstGeom>
          <a:solidFill>
            <a:schemeClr val="accent2"/>
          </a:solidFill>
          <a:ln w="12700">
            <a:solidFill>
              <a:schemeClr val="accent2"/>
            </a:solidFill>
            <a:prstDash val="solid"/>
          </a:ln>
        </p:spPr>
      </p:sp>
      <p:sp>
        <p:nvSpPr>
          <p:cNvPr id="9" name="Text 7"/>
          <p:cNvSpPr txBox="1"/>
          <p:nvPr/>
        </p:nvSpPr>
        <p:spPr>
          <a:xfrm>
            <a:off x="5806440" y="1737360"/>
            <a:ext cx="1691640" cy="868680"/>
          </a:xfrm>
          <a:prstGeom prst="rect">
            <a:avLst/>
          </a:prstGeom>
          <a:noFill/>
          <a:ln/>
        </p:spPr>
        <p:txBody>
          <a:bodyPr wrap="square" lIns="0" tIns="0" rIns="0" bIns="0" rtlCol="0" anchor="ctr"/>
          <a:lstStyle/>
          <a:p>
            <a:pPr algn="ctr" indent="0" marL="0">
              <a:buNone/>
            </a:pPr>
            <a:r>
              <a:rPr lang="en-US" sz="1400" b="1" dirty="0">
                <a:solidFill>
                  <a:schemeClr val="bg1"/>
                </a:solidFill>
              </a:rPr>
              <a:t>BUG-01, 03, 04, 06, 15, 16</a:t>
            </a:r>
            <a:endParaRPr lang="en-US" sz="1400" dirty="0"/>
          </a:p>
        </p:txBody>
      </p:sp>
      <p:sp>
        <p:nvSpPr>
          <p:cNvPr id="10" name="Text 8"/>
          <p:cNvSpPr txBox="1"/>
          <p:nvPr/>
        </p:nvSpPr>
        <p:spPr>
          <a:xfrm>
            <a:off x="548640" y="3291840"/>
            <a:ext cx="914400" cy="365760"/>
          </a:xfrm>
          <a:prstGeom prst="rect">
            <a:avLst/>
          </a:prstGeom>
          <a:noFill/>
          <a:ln/>
        </p:spPr>
        <p:txBody>
          <a:bodyPr wrap="square" lIns="0" tIns="0" rIns="0" bIns="0" rtlCol="0" anchor="t"/>
          <a:lstStyle/>
          <a:p>
            <a:pPr algn="r" indent="0" marL="0">
              <a:buNone/>
            </a:pPr>
            <a:r>
              <a:rPr lang="en-US" sz="1400" b="1" dirty="0">
                <a:solidFill>
                  <a:schemeClr val="tx2"/>
                </a:solidFill>
              </a:rPr>
              <a:t>Middel</a:t>
            </a:r>
            <a:endParaRPr lang="en-US" sz="1400" dirty="0"/>
          </a:p>
        </p:txBody>
      </p:sp>
      <p:sp>
        <p:nvSpPr>
          <p:cNvPr id="11" name="Vak impact Middel kans Laag"/>
          <p:cNvSpPr/>
          <p:nvPr/>
        </p:nvSpPr>
        <p:spPr>
          <a:xfrm>
            <a:off x="1554480" y="2834640"/>
            <a:ext cx="1965960" cy="1143000"/>
          </a:xfrm>
          <a:prstGeom prst="roundRect">
            <a:avLst>
              <a:gd name="adj" fmla="val 6400"/>
            </a:avLst>
          </a:prstGeom>
          <a:solidFill>
            <a:schemeClr val="bg2"/>
          </a:solidFill>
          <a:ln w="12700">
            <a:solidFill>
              <a:schemeClr val="bg2"/>
            </a:solidFill>
            <a:prstDash val="solid"/>
          </a:ln>
        </p:spPr>
      </p:sp>
      <p:sp>
        <p:nvSpPr>
          <p:cNvPr id="12" name="Text 10"/>
          <p:cNvSpPr txBox="1"/>
          <p:nvPr/>
        </p:nvSpPr>
        <p:spPr>
          <a:xfrm>
            <a:off x="1691640" y="2971800"/>
            <a:ext cx="1691640" cy="868680"/>
          </a:xfrm>
          <a:prstGeom prst="rect">
            <a:avLst/>
          </a:prstGeom>
          <a:noFill/>
          <a:ln/>
        </p:spPr>
        <p:txBody>
          <a:bodyPr wrap="square" lIns="0" tIns="0" rIns="0" bIns="0" rtlCol="0" anchor="ctr"/>
          <a:lstStyle/>
          <a:p>
            <a:pPr algn="ctr" indent="0" marL="0">
              <a:buNone/>
            </a:pPr>
            <a:r>
              <a:rPr lang="en-US" sz="1400" dirty="0">
                <a:solidFill>
                  <a:schemeClr val="tx1"/>
                </a:solidFill>
              </a:rPr>
              <a:t>BUG-09, 18</a:t>
            </a:r>
            <a:endParaRPr lang="en-US" sz="1400" dirty="0"/>
          </a:p>
        </p:txBody>
      </p:sp>
      <p:sp>
        <p:nvSpPr>
          <p:cNvPr id="13" name="Vak impact Middel kans Middel"/>
          <p:cNvSpPr/>
          <p:nvPr/>
        </p:nvSpPr>
        <p:spPr>
          <a:xfrm>
            <a:off x="3611880" y="2834640"/>
            <a:ext cx="1965960" cy="1143000"/>
          </a:xfrm>
          <a:prstGeom prst="roundRect">
            <a:avLst>
              <a:gd name="adj" fmla="val 6400"/>
            </a:avLst>
          </a:prstGeom>
          <a:solidFill>
            <a:schemeClr val="accent6"/>
          </a:solidFill>
          <a:ln w="12700">
            <a:solidFill>
              <a:schemeClr val="accent6"/>
            </a:solidFill>
            <a:prstDash val="solid"/>
          </a:ln>
        </p:spPr>
      </p:sp>
      <p:sp>
        <p:nvSpPr>
          <p:cNvPr id="14" name="Text 12"/>
          <p:cNvSpPr txBox="1"/>
          <p:nvPr/>
        </p:nvSpPr>
        <p:spPr>
          <a:xfrm>
            <a:off x="3749040" y="2971800"/>
            <a:ext cx="1691640" cy="868680"/>
          </a:xfrm>
          <a:prstGeom prst="rect">
            <a:avLst/>
          </a:prstGeom>
          <a:noFill/>
          <a:ln/>
        </p:spPr>
        <p:txBody>
          <a:bodyPr wrap="square" lIns="0" tIns="0" rIns="0" bIns="0" rtlCol="0" anchor="ctr"/>
          <a:lstStyle/>
          <a:p>
            <a:pPr algn="ctr" indent="0" marL="0">
              <a:buNone/>
            </a:pPr>
            <a:r>
              <a:rPr lang="en-US" sz="1400" dirty="0">
                <a:solidFill>
                  <a:schemeClr val="tx1"/>
                </a:solidFill>
              </a:rPr>
              <a:t>N3</a:t>
            </a:r>
            <a:endParaRPr lang="en-US" sz="1400" dirty="0"/>
          </a:p>
        </p:txBody>
      </p:sp>
      <p:sp>
        <p:nvSpPr>
          <p:cNvPr id="15" name="Vak impact Middel kans Hoog"/>
          <p:cNvSpPr/>
          <p:nvPr/>
        </p:nvSpPr>
        <p:spPr>
          <a:xfrm>
            <a:off x="5669280" y="2834640"/>
            <a:ext cx="1965960" cy="1143000"/>
          </a:xfrm>
          <a:prstGeom prst="roundRect">
            <a:avLst>
              <a:gd name="adj" fmla="val 6400"/>
            </a:avLst>
          </a:prstGeom>
          <a:solidFill>
            <a:schemeClr val="accent3"/>
          </a:solidFill>
          <a:ln w="12700">
            <a:solidFill>
              <a:schemeClr val="accent3"/>
            </a:solidFill>
            <a:prstDash val="solid"/>
          </a:ln>
        </p:spPr>
      </p:sp>
      <p:sp>
        <p:nvSpPr>
          <p:cNvPr id="16" name="Text 14"/>
          <p:cNvSpPr txBox="1"/>
          <p:nvPr/>
        </p:nvSpPr>
        <p:spPr>
          <a:xfrm>
            <a:off x="5806440" y="2971800"/>
            <a:ext cx="1691640" cy="868680"/>
          </a:xfrm>
          <a:prstGeom prst="rect">
            <a:avLst/>
          </a:prstGeom>
          <a:noFill/>
          <a:ln/>
        </p:spPr>
        <p:txBody>
          <a:bodyPr wrap="square" lIns="0" tIns="0" rIns="0" bIns="0" rtlCol="0" anchor="ctr"/>
          <a:lstStyle/>
          <a:p>
            <a:pPr algn="ctr" indent="0" marL="0">
              <a:buNone/>
            </a:pPr>
            <a:r>
              <a:rPr lang="en-US" sz="1400" b="1" dirty="0">
                <a:solidFill>
                  <a:schemeClr val="bg1"/>
                </a:solidFill>
              </a:rPr>
              <a:t>BUG-11, 14, N1</a:t>
            </a:r>
            <a:endParaRPr lang="en-US" sz="1400" dirty="0"/>
          </a:p>
        </p:txBody>
      </p:sp>
      <p:sp>
        <p:nvSpPr>
          <p:cNvPr id="17" name="Text 15"/>
          <p:cNvSpPr txBox="1"/>
          <p:nvPr/>
        </p:nvSpPr>
        <p:spPr>
          <a:xfrm>
            <a:off x="548640" y="4526280"/>
            <a:ext cx="914400" cy="365760"/>
          </a:xfrm>
          <a:prstGeom prst="rect">
            <a:avLst/>
          </a:prstGeom>
          <a:noFill/>
          <a:ln/>
        </p:spPr>
        <p:txBody>
          <a:bodyPr wrap="square" lIns="0" tIns="0" rIns="0" bIns="0" rtlCol="0" anchor="t"/>
          <a:lstStyle/>
          <a:p>
            <a:pPr algn="r" indent="0" marL="0">
              <a:buNone/>
            </a:pPr>
            <a:r>
              <a:rPr lang="en-US" sz="1400" b="1" dirty="0">
                <a:solidFill>
                  <a:schemeClr val="tx2"/>
                </a:solidFill>
              </a:rPr>
              <a:t>Laag</a:t>
            </a:r>
            <a:endParaRPr lang="en-US" sz="1400" dirty="0"/>
          </a:p>
        </p:txBody>
      </p:sp>
      <p:sp>
        <p:nvSpPr>
          <p:cNvPr id="18" name="Vak impact Laag kans Laag"/>
          <p:cNvSpPr/>
          <p:nvPr/>
        </p:nvSpPr>
        <p:spPr>
          <a:xfrm>
            <a:off x="1554480" y="4069080"/>
            <a:ext cx="1965960" cy="1143000"/>
          </a:xfrm>
          <a:prstGeom prst="roundRect">
            <a:avLst>
              <a:gd name="adj" fmla="val 6400"/>
            </a:avLst>
          </a:prstGeom>
          <a:solidFill>
            <a:schemeClr val="bg2"/>
          </a:solidFill>
          <a:ln w="12700">
            <a:solidFill>
              <a:schemeClr val="bg2"/>
            </a:solidFill>
            <a:prstDash val="solid"/>
          </a:ln>
        </p:spPr>
      </p:sp>
      <p:sp>
        <p:nvSpPr>
          <p:cNvPr id="19" name="Text 17"/>
          <p:cNvSpPr txBox="1"/>
          <p:nvPr/>
        </p:nvSpPr>
        <p:spPr>
          <a:xfrm>
            <a:off x="1691640" y="4206240"/>
            <a:ext cx="1691640" cy="868680"/>
          </a:xfrm>
          <a:prstGeom prst="rect">
            <a:avLst/>
          </a:prstGeom>
          <a:noFill/>
          <a:ln/>
        </p:spPr>
        <p:txBody>
          <a:bodyPr wrap="square" lIns="0" tIns="0" rIns="0" bIns="0" rtlCol="0" anchor="ctr"/>
          <a:lstStyle/>
          <a:p>
            <a:pPr algn="ctr" indent="0" marL="0">
              <a:buNone/>
            </a:pPr>
            <a:r>
              <a:rPr lang="en-US" sz="1400" dirty="0">
                <a:solidFill>
                  <a:schemeClr val="tx1"/>
                </a:solidFill>
              </a:rPr>
              <a:t>–</a:t>
            </a:r>
            <a:endParaRPr lang="en-US" sz="1400" dirty="0"/>
          </a:p>
        </p:txBody>
      </p:sp>
      <p:sp>
        <p:nvSpPr>
          <p:cNvPr id="20" name="Vak impact Laag kans Middel"/>
          <p:cNvSpPr/>
          <p:nvPr/>
        </p:nvSpPr>
        <p:spPr>
          <a:xfrm>
            <a:off x="3611880" y="4069080"/>
            <a:ext cx="1965960" cy="1143000"/>
          </a:xfrm>
          <a:prstGeom prst="roundRect">
            <a:avLst>
              <a:gd name="adj" fmla="val 6400"/>
            </a:avLst>
          </a:prstGeom>
          <a:solidFill>
            <a:schemeClr val="bg2"/>
          </a:solidFill>
          <a:ln w="12700">
            <a:solidFill>
              <a:schemeClr val="bg2"/>
            </a:solidFill>
            <a:prstDash val="solid"/>
          </a:ln>
        </p:spPr>
      </p:sp>
      <p:sp>
        <p:nvSpPr>
          <p:cNvPr id="21" name="Text 19"/>
          <p:cNvSpPr txBox="1"/>
          <p:nvPr/>
        </p:nvSpPr>
        <p:spPr>
          <a:xfrm>
            <a:off x="3749040" y="4206240"/>
            <a:ext cx="1691640" cy="868680"/>
          </a:xfrm>
          <a:prstGeom prst="rect">
            <a:avLst/>
          </a:prstGeom>
          <a:noFill/>
          <a:ln/>
        </p:spPr>
        <p:txBody>
          <a:bodyPr wrap="square" lIns="0" tIns="0" rIns="0" bIns="0" rtlCol="0" anchor="ctr"/>
          <a:lstStyle/>
          <a:p>
            <a:pPr algn="ctr" indent="0" marL="0">
              <a:buNone/>
            </a:pPr>
            <a:r>
              <a:rPr lang="en-US" sz="1400" dirty="0">
                <a:solidFill>
                  <a:schemeClr val="tx1"/>
                </a:solidFill>
              </a:rPr>
              <a:t>BUG-10, N4, N5</a:t>
            </a:r>
            <a:endParaRPr lang="en-US" sz="1400" dirty="0"/>
          </a:p>
        </p:txBody>
      </p:sp>
      <p:sp>
        <p:nvSpPr>
          <p:cNvPr id="22" name="Vak impact Laag kans Hoog"/>
          <p:cNvSpPr/>
          <p:nvPr/>
        </p:nvSpPr>
        <p:spPr>
          <a:xfrm>
            <a:off x="5669280" y="4069080"/>
            <a:ext cx="1965960" cy="1143000"/>
          </a:xfrm>
          <a:prstGeom prst="roundRect">
            <a:avLst>
              <a:gd name="adj" fmla="val 6400"/>
            </a:avLst>
          </a:prstGeom>
          <a:solidFill>
            <a:schemeClr val="accent6"/>
          </a:solidFill>
          <a:ln w="12700">
            <a:solidFill>
              <a:schemeClr val="accent6"/>
            </a:solidFill>
            <a:prstDash val="solid"/>
          </a:ln>
        </p:spPr>
      </p:sp>
      <p:sp>
        <p:nvSpPr>
          <p:cNvPr id="23" name="Text 21"/>
          <p:cNvSpPr txBox="1"/>
          <p:nvPr/>
        </p:nvSpPr>
        <p:spPr>
          <a:xfrm>
            <a:off x="5806440" y="4206240"/>
            <a:ext cx="1691640" cy="868680"/>
          </a:xfrm>
          <a:prstGeom prst="rect">
            <a:avLst/>
          </a:prstGeom>
          <a:noFill/>
          <a:ln/>
        </p:spPr>
        <p:txBody>
          <a:bodyPr wrap="square" lIns="0" tIns="0" rIns="0" bIns="0" rtlCol="0" anchor="ctr"/>
          <a:lstStyle/>
          <a:p>
            <a:pPr algn="ctr" indent="0" marL="0">
              <a:buNone/>
            </a:pPr>
            <a:r>
              <a:rPr lang="en-US" sz="1400" dirty="0">
                <a:solidFill>
                  <a:schemeClr val="tx1"/>
                </a:solidFill>
              </a:rPr>
              <a:t>BUG-08, 12, 13, 19</a:t>
            </a:r>
            <a:endParaRPr lang="en-US" sz="1400" dirty="0"/>
          </a:p>
        </p:txBody>
      </p:sp>
      <p:sp>
        <p:nvSpPr>
          <p:cNvPr id="24" name="Text 22"/>
          <p:cNvSpPr txBox="1"/>
          <p:nvPr/>
        </p:nvSpPr>
        <p:spPr>
          <a:xfrm>
            <a:off x="1554480" y="5349240"/>
            <a:ext cx="1965960" cy="320040"/>
          </a:xfrm>
          <a:prstGeom prst="rect">
            <a:avLst/>
          </a:prstGeom>
          <a:noFill/>
          <a:ln/>
        </p:spPr>
        <p:txBody>
          <a:bodyPr wrap="square" lIns="0" tIns="0" rIns="0" bIns="0" rtlCol="0" anchor="t"/>
          <a:lstStyle/>
          <a:p>
            <a:pPr algn="ctr" indent="0" marL="0">
              <a:buNone/>
            </a:pPr>
            <a:r>
              <a:rPr lang="en-US" sz="1400" b="1" dirty="0">
                <a:solidFill>
                  <a:schemeClr val="tx2"/>
                </a:solidFill>
              </a:rPr>
              <a:t>Laag</a:t>
            </a:r>
            <a:endParaRPr lang="en-US" sz="1400" dirty="0"/>
          </a:p>
        </p:txBody>
      </p:sp>
      <p:sp>
        <p:nvSpPr>
          <p:cNvPr id="25" name="Text 23"/>
          <p:cNvSpPr txBox="1"/>
          <p:nvPr/>
        </p:nvSpPr>
        <p:spPr>
          <a:xfrm>
            <a:off x="3611880" y="5349240"/>
            <a:ext cx="1965960" cy="320040"/>
          </a:xfrm>
          <a:prstGeom prst="rect">
            <a:avLst/>
          </a:prstGeom>
          <a:noFill/>
          <a:ln/>
        </p:spPr>
        <p:txBody>
          <a:bodyPr wrap="square" lIns="0" tIns="0" rIns="0" bIns="0" rtlCol="0" anchor="t"/>
          <a:lstStyle/>
          <a:p>
            <a:pPr algn="ctr" indent="0" marL="0">
              <a:buNone/>
            </a:pPr>
            <a:r>
              <a:rPr lang="en-US" sz="1400" b="1" dirty="0">
                <a:solidFill>
                  <a:schemeClr val="tx2"/>
                </a:solidFill>
              </a:rPr>
              <a:t>Middel</a:t>
            </a:r>
            <a:endParaRPr lang="en-US" sz="1400" dirty="0"/>
          </a:p>
        </p:txBody>
      </p:sp>
      <p:sp>
        <p:nvSpPr>
          <p:cNvPr id="26" name="Text 24"/>
          <p:cNvSpPr txBox="1"/>
          <p:nvPr/>
        </p:nvSpPr>
        <p:spPr>
          <a:xfrm>
            <a:off x="5669280" y="5349240"/>
            <a:ext cx="1965960" cy="320040"/>
          </a:xfrm>
          <a:prstGeom prst="rect">
            <a:avLst/>
          </a:prstGeom>
          <a:noFill/>
          <a:ln/>
        </p:spPr>
        <p:txBody>
          <a:bodyPr wrap="square" lIns="0" tIns="0" rIns="0" bIns="0" rtlCol="0" anchor="t"/>
          <a:lstStyle/>
          <a:p>
            <a:pPr algn="ctr" indent="0" marL="0">
              <a:buNone/>
            </a:pPr>
            <a:r>
              <a:rPr lang="en-US" sz="1400" b="1" dirty="0">
                <a:solidFill>
                  <a:schemeClr val="tx2"/>
                </a:solidFill>
              </a:rPr>
              <a:t>Hoog</a:t>
            </a:r>
            <a:endParaRPr lang="en-US" sz="1400" dirty="0"/>
          </a:p>
        </p:txBody>
      </p:sp>
      <p:sp>
        <p:nvSpPr>
          <p:cNvPr id="27" name="Text 25"/>
          <p:cNvSpPr txBox="1"/>
          <p:nvPr/>
        </p:nvSpPr>
        <p:spPr>
          <a:xfrm>
            <a:off x="1554480" y="5715000"/>
            <a:ext cx="6080760" cy="320040"/>
          </a:xfrm>
          <a:prstGeom prst="rect">
            <a:avLst/>
          </a:prstGeom>
          <a:noFill/>
          <a:ln/>
        </p:spPr>
        <p:txBody>
          <a:bodyPr wrap="square" lIns="0" tIns="0" rIns="0" bIns="0" rtlCol="0" anchor="t"/>
          <a:lstStyle/>
          <a:p>
            <a:pPr algn="ctr" indent="0" marL="0">
              <a:buNone/>
            </a:pPr>
            <a:r>
              <a:rPr lang="en-US" sz="1200" dirty="0">
                <a:solidFill>
                  <a:schemeClr val="accent5"/>
                </a:solidFill>
              </a:rPr>
              <a:t>Kans →</a:t>
            </a:r>
            <a:endParaRPr lang="en-US" sz="1200" dirty="0"/>
          </a:p>
        </p:txBody>
      </p:sp>
      <p:sp>
        <p:nvSpPr>
          <p:cNvPr id="28" name="Text 26"/>
          <p:cNvSpPr txBox="1"/>
          <p:nvPr/>
        </p:nvSpPr>
        <p:spPr>
          <a:xfrm>
            <a:off x="274320" y="1234440"/>
            <a:ext cx="1188720" cy="320040"/>
          </a:xfrm>
          <a:prstGeom prst="rect">
            <a:avLst/>
          </a:prstGeom>
          <a:noFill/>
          <a:ln/>
        </p:spPr>
        <p:txBody>
          <a:bodyPr wrap="square" lIns="0" tIns="0" rIns="0" bIns="0" rtlCol="0" anchor="t"/>
          <a:lstStyle/>
          <a:p>
            <a:pPr algn="r" indent="0" marL="0">
              <a:buNone/>
            </a:pPr>
            <a:r>
              <a:rPr lang="en-US" sz="1200" dirty="0">
                <a:solidFill>
                  <a:schemeClr val="accent5"/>
                </a:solidFill>
              </a:rPr>
              <a:t>Impact ↑</a:t>
            </a:r>
            <a:endParaRPr lang="en-US" sz="1200" dirty="0"/>
          </a:p>
        </p:txBody>
      </p:sp>
      <p:sp>
        <p:nvSpPr>
          <p:cNvPr id="29" name="Kaart uitleg matrix"/>
          <p:cNvSpPr/>
          <p:nvPr/>
        </p:nvSpPr>
        <p:spPr>
          <a:xfrm>
            <a:off x="8092440" y="1600200"/>
            <a:ext cx="3520440" cy="4434840"/>
          </a:xfrm>
          <a:prstGeom prst="roundRect">
            <a:avLst>
              <a:gd name="adj" fmla="val 31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Text 28"/>
          <p:cNvSpPr txBox="1"/>
          <p:nvPr/>
        </p:nvSpPr>
        <p:spPr>
          <a:xfrm>
            <a:off x="8366760" y="1783080"/>
            <a:ext cx="301752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6</a:t>
            </a:r>
            <a:endParaRPr lang="en-US" sz="5400" dirty="0"/>
          </a:p>
        </p:txBody>
      </p:sp>
      <p:sp>
        <p:nvSpPr>
          <p:cNvPr id="31" name="Text 29"/>
          <p:cNvSpPr txBox="1"/>
          <p:nvPr/>
        </p:nvSpPr>
        <p:spPr>
          <a:xfrm>
            <a:off x="8366760" y="2697480"/>
            <a:ext cx="3017520" cy="640080"/>
          </a:xfrm>
          <a:prstGeom prst="rect">
            <a:avLst/>
          </a:prstGeom>
          <a:noFill/>
          <a:ln/>
        </p:spPr>
        <p:txBody>
          <a:bodyPr wrap="square" lIns="0" tIns="0" rIns="0" bIns="0" rtlCol="0" anchor="t"/>
          <a:lstStyle/>
          <a:p>
            <a:pPr indent="0" marL="0">
              <a:buNone/>
            </a:pPr>
            <a:r>
              <a:rPr lang="en-US" sz="1500" b="1" dirty="0">
                <a:solidFill>
                  <a:schemeClr val="tx2"/>
                </a:solidFill>
              </a:rPr>
              <a:t>risico’s met hoge kans én hoge impact</a:t>
            </a:r>
            <a:endParaRPr lang="en-US" sz="1500" dirty="0"/>
          </a:p>
        </p:txBody>
      </p:sp>
      <p:sp>
        <p:nvSpPr>
          <p:cNvPr id="32" name="Text 30"/>
          <p:cNvSpPr txBox="1"/>
          <p:nvPr/>
        </p:nvSpPr>
        <p:spPr>
          <a:xfrm>
            <a:off x="8366760" y="3474720"/>
            <a:ext cx="306324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Kans: zonder account te misbruiken of bij dagelijks gebruik = hoog</a:t>
            </a:r>
            <a:endParaRPr lang="en-US" sz="1300" dirty="0"/>
          </a:p>
          <a:p>
            <a:pPr marL="342900" indent="-342900">
              <a:spcAft>
                <a:spcPts val="600"/>
              </a:spcAft>
              <a:buSzPct val="100000"/>
              <a:buChar char="•"/>
            </a:pPr>
            <a:r>
              <a:rPr lang="en-US" sz="1300" dirty="0">
                <a:solidFill>
                  <a:schemeClr val="tx1"/>
                </a:solidFill>
              </a:rPr>
              <a:t>Impact: patiëntveiligheid, privacy, bedrijfsvoering</a:t>
            </a:r>
            <a:endParaRPr lang="en-US" sz="1300" dirty="0"/>
          </a:p>
          <a:p>
            <a:pPr marL="342900" indent="-342900">
              <a:spcAft>
                <a:spcPts val="600"/>
              </a:spcAft>
              <a:buSzPct val="100000"/>
              <a:buChar char="•"/>
            </a:pPr>
            <a:r>
              <a:rPr lang="en-US" sz="1300" dirty="0">
                <a:solidFill>
                  <a:schemeClr val="tx1"/>
                </a:solidFill>
              </a:rPr>
              <a:t>N1–N5: risico’s van functionaliteit die niet getest is</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Wat ik niet heb getest</a:t>
            </a:r>
            <a:endParaRPr lang="en-US" sz="3400" dirty="0"/>
          </a:p>
        </p:txBody>
      </p:sp>
      <p:sp>
        <p:nvSpPr>
          <p:cNvPr id="3" name="Text 1"/>
          <p:cNvSpPr txBox="1"/>
          <p:nvPr/>
        </p:nvSpPr>
        <p:spPr>
          <a:xfrm>
            <a:off x="548640" y="1417320"/>
            <a:ext cx="5394960" cy="365760"/>
          </a:xfrm>
          <a:prstGeom prst="rect">
            <a:avLst/>
          </a:prstGeom>
          <a:noFill/>
          <a:ln/>
        </p:spPr>
        <p:txBody>
          <a:bodyPr wrap="square" lIns="0" tIns="0" rIns="0" bIns="0" rtlCol="0" anchor="t"/>
          <a:lstStyle/>
          <a:p>
            <a:pPr indent="0" marL="0">
              <a:buNone/>
            </a:pPr>
            <a:r>
              <a:rPr lang="en-US" sz="1700" b="1" dirty="0">
                <a:solidFill>
                  <a:schemeClr val="tx2"/>
                </a:solidFill>
              </a:rPr>
              <a:t>In de applicatie, buiten de stories</a:t>
            </a:r>
            <a:endParaRPr lang="en-US" sz="1700" dirty="0"/>
          </a:p>
        </p:txBody>
      </p:sp>
      <p:sp>
        <p:nvSpPr>
          <p:cNvPr id="4" name="Text 2"/>
          <p:cNvSpPr txBox="1"/>
          <p:nvPr/>
        </p:nvSpPr>
        <p:spPr>
          <a:xfrm>
            <a:off x="6217920" y="1417320"/>
            <a:ext cx="5394960" cy="365760"/>
          </a:xfrm>
          <a:prstGeom prst="rect">
            <a:avLst/>
          </a:prstGeom>
          <a:noFill/>
          <a:ln/>
        </p:spPr>
        <p:txBody>
          <a:bodyPr wrap="square" lIns="0" tIns="0" rIns="0" bIns="0" rtlCol="0" anchor="t"/>
          <a:lstStyle/>
          <a:p>
            <a:pPr indent="0" marL="0">
              <a:buNone/>
            </a:pPr>
            <a:r>
              <a:rPr lang="en-US" sz="1700" b="1" dirty="0">
                <a:solidFill>
                  <a:schemeClr val="tx2"/>
                </a:solidFill>
              </a:rPr>
              <a:t>Niet-functioneel</a:t>
            </a:r>
            <a:endParaRPr lang="en-US" sz="1700" dirty="0"/>
          </a:p>
        </p:txBody>
      </p:sp>
      <p:sp>
        <p:nvSpPr>
          <p:cNvPr id="5" name="Cirkel Zelfregistratie als patiënt"/>
          <p:cNvSpPr/>
          <p:nvPr/>
        </p:nvSpPr>
        <p:spPr>
          <a:xfrm>
            <a:off x="548640" y="1920240"/>
            <a:ext cx="594360" cy="594360"/>
          </a:xfrm>
          <a:prstGeom prst="ellipse">
            <a:avLst/>
          </a:prstGeom>
          <a:solidFill>
            <a:schemeClr val="accent5"/>
          </a:solidFill>
          <a:ln w="12700">
            <a:solidFill>
              <a:schemeClr val="accent5"/>
            </a:solidFill>
            <a:prstDash val="solid"/>
          </a:ln>
        </p:spPr>
      </p:sp>
      <p:pic>
        <p:nvPicPr>
          <p:cNvPr id="6" name="Icoon Zelfregistratie als patiënt" descr="Zelfregistratie als patiënt">    </p:cNvPr>
          <p:cNvPicPr>
            <a:picLocks noChangeAspect="1"/>
          </p:cNvPicPr>
          <p:nvPr/>
        </p:nvPicPr>
        <p:blipFill>
          <a:blip r:embed="rId1"/>
          <a:stretch>
            <a:fillRect/>
          </a:stretch>
        </p:blipFill>
        <p:spPr>
          <a:xfrm>
            <a:off x="697230" y="2068830"/>
            <a:ext cx="297180" cy="297180"/>
          </a:xfrm>
          <a:prstGeom prst="rect">
            <a:avLst/>
          </a:prstGeom>
        </p:spPr>
      </p:pic>
      <p:sp>
        <p:nvSpPr>
          <p:cNvPr id="7" name="Text 4"/>
          <p:cNvSpPr txBox="1"/>
          <p:nvPr/>
        </p:nvSpPr>
        <p:spPr>
          <a:xfrm>
            <a:off x="1325880" y="1901952"/>
            <a:ext cx="4480560" cy="365760"/>
          </a:xfrm>
          <a:prstGeom prst="rect">
            <a:avLst/>
          </a:prstGeom>
          <a:noFill/>
          <a:ln/>
        </p:spPr>
        <p:txBody>
          <a:bodyPr wrap="square" lIns="0" tIns="0" rIns="0" bIns="0" rtlCol="0" anchor="t"/>
          <a:lstStyle/>
          <a:p>
            <a:pPr indent="0" marL="0">
              <a:buNone/>
            </a:pPr>
            <a:r>
              <a:rPr lang="en-US" sz="1500" b="1" dirty="0">
                <a:solidFill>
                  <a:schemeClr val="tx1"/>
                </a:solidFill>
              </a:rPr>
              <a:t>Zelfregistratie als patiënt</a:t>
            </a:r>
            <a:endParaRPr lang="en-US" sz="1500" dirty="0"/>
          </a:p>
        </p:txBody>
      </p:sp>
      <p:sp>
        <p:nvSpPr>
          <p:cNvPr id="8" name="Text 5"/>
          <p:cNvSpPr txBox="1"/>
          <p:nvPr/>
        </p:nvSpPr>
        <p:spPr>
          <a:xfrm>
            <a:off x="1325880" y="2267712"/>
            <a:ext cx="4480560" cy="411480"/>
          </a:xfrm>
          <a:prstGeom prst="rect">
            <a:avLst/>
          </a:prstGeom>
          <a:noFill/>
          <a:ln/>
        </p:spPr>
        <p:txBody>
          <a:bodyPr wrap="square" lIns="0" tIns="0" rIns="0" bIns="0" rtlCol="0" anchor="t"/>
          <a:lstStyle/>
          <a:p>
            <a:pPr indent="0" marL="0">
              <a:buNone/>
            </a:pPr>
            <a:r>
              <a:rPr lang="en-US" sz="1300" dirty="0">
                <a:solidFill>
                  <a:schemeClr val="accent5"/>
                </a:solidFill>
              </a:rPr>
              <a:t>Werkt, maar geen story; invoercontrole niet getest (N1)</a:t>
            </a:r>
            <a:endParaRPr lang="en-US" sz="1300" dirty="0"/>
          </a:p>
        </p:txBody>
      </p:sp>
      <p:sp>
        <p:nvSpPr>
          <p:cNvPr id="9" name="Cirkel Beheerpagina Database Status"/>
          <p:cNvSpPr/>
          <p:nvPr/>
        </p:nvSpPr>
        <p:spPr>
          <a:xfrm>
            <a:off x="548640" y="2926080"/>
            <a:ext cx="594360" cy="594360"/>
          </a:xfrm>
          <a:prstGeom prst="ellipse">
            <a:avLst/>
          </a:prstGeom>
          <a:solidFill>
            <a:schemeClr val="accent5"/>
          </a:solidFill>
          <a:ln w="12700">
            <a:solidFill>
              <a:schemeClr val="accent5"/>
            </a:solidFill>
            <a:prstDash val="solid"/>
          </a:ln>
        </p:spPr>
      </p:sp>
      <p:pic>
        <p:nvPicPr>
          <p:cNvPr id="10" name="Icoon Beheerpagina Database Status" descr="Beheerpagina Database Status">    </p:cNvPr>
          <p:cNvPicPr>
            <a:picLocks noChangeAspect="1"/>
          </p:cNvPicPr>
          <p:nvPr/>
        </p:nvPicPr>
        <p:blipFill>
          <a:blip r:embed="rId2"/>
          <a:stretch>
            <a:fillRect/>
          </a:stretch>
        </p:blipFill>
        <p:spPr>
          <a:xfrm>
            <a:off x="697230" y="3074670"/>
            <a:ext cx="297180" cy="297180"/>
          </a:xfrm>
          <a:prstGeom prst="rect">
            <a:avLst/>
          </a:prstGeom>
        </p:spPr>
      </p:pic>
      <p:sp>
        <p:nvSpPr>
          <p:cNvPr id="11" name="Text 7"/>
          <p:cNvSpPr txBox="1"/>
          <p:nvPr/>
        </p:nvSpPr>
        <p:spPr>
          <a:xfrm>
            <a:off x="1325880" y="2907792"/>
            <a:ext cx="4480560" cy="365760"/>
          </a:xfrm>
          <a:prstGeom prst="rect">
            <a:avLst/>
          </a:prstGeom>
          <a:noFill/>
          <a:ln/>
        </p:spPr>
        <p:txBody>
          <a:bodyPr wrap="square" lIns="0" tIns="0" rIns="0" bIns="0" rtlCol="0" anchor="t"/>
          <a:lstStyle/>
          <a:p>
            <a:pPr indent="0" marL="0">
              <a:buNone/>
            </a:pPr>
            <a:r>
              <a:rPr lang="en-US" sz="1500" b="1" dirty="0">
                <a:solidFill>
                  <a:schemeClr val="tx1"/>
                </a:solidFill>
              </a:rPr>
              <a:t>Beheerpagina Database Status</a:t>
            </a:r>
            <a:endParaRPr lang="en-US" sz="1500" dirty="0"/>
          </a:p>
        </p:txBody>
      </p:sp>
      <p:sp>
        <p:nvSpPr>
          <p:cNvPr id="12" name="Text 8"/>
          <p:cNvSpPr txBox="1"/>
          <p:nvPr/>
        </p:nvSpPr>
        <p:spPr>
          <a:xfrm>
            <a:off x="1325880" y="3273552"/>
            <a:ext cx="4480560" cy="411480"/>
          </a:xfrm>
          <a:prstGeom prst="rect">
            <a:avLst/>
          </a:prstGeom>
          <a:noFill/>
          <a:ln/>
        </p:spPr>
        <p:txBody>
          <a:bodyPr wrap="square" lIns="0" tIns="0" rIns="0" bIns="0" rtlCol="0" anchor="t"/>
          <a:lstStyle/>
          <a:p>
            <a:pPr indent="0" marL="0">
              <a:buNone/>
            </a:pPr>
            <a:r>
              <a:rPr lang="en-US" sz="1300" dirty="0">
                <a:solidFill>
                  <a:schemeClr val="accent5"/>
                </a:solidFill>
              </a:rPr>
              <a:t>Alleen toegang getest: open voor iedereen (BUG-11)</a:t>
            </a:r>
            <a:endParaRPr lang="en-US" sz="1300" dirty="0"/>
          </a:p>
        </p:txBody>
      </p:sp>
      <p:sp>
        <p:nvSpPr>
          <p:cNvPr id="13" name="Cirkel Twintig niet-opgeleverde stories"/>
          <p:cNvSpPr/>
          <p:nvPr/>
        </p:nvSpPr>
        <p:spPr>
          <a:xfrm>
            <a:off x="548640" y="3931920"/>
            <a:ext cx="594360" cy="594360"/>
          </a:xfrm>
          <a:prstGeom prst="ellipse">
            <a:avLst/>
          </a:prstGeom>
          <a:solidFill>
            <a:schemeClr val="accent5"/>
          </a:solidFill>
          <a:ln w="12700">
            <a:solidFill>
              <a:schemeClr val="accent5"/>
            </a:solidFill>
            <a:prstDash val="solid"/>
          </a:ln>
        </p:spPr>
      </p:sp>
      <p:pic>
        <p:nvPicPr>
          <p:cNvPr id="14" name="Icoon Twintig niet-opgeleverde stories" descr="Twintig niet-opgeleverde stories">    </p:cNvPr>
          <p:cNvPicPr>
            <a:picLocks noChangeAspect="1"/>
          </p:cNvPicPr>
          <p:nvPr/>
        </p:nvPicPr>
        <p:blipFill>
          <a:blip r:embed="rId3"/>
          <a:stretch>
            <a:fillRect/>
          </a:stretch>
        </p:blipFill>
        <p:spPr>
          <a:xfrm>
            <a:off x="697230" y="4080510"/>
            <a:ext cx="297180" cy="297180"/>
          </a:xfrm>
          <a:prstGeom prst="rect">
            <a:avLst/>
          </a:prstGeom>
        </p:spPr>
      </p:pic>
      <p:sp>
        <p:nvSpPr>
          <p:cNvPr id="15" name="Text 10"/>
          <p:cNvSpPr txBox="1"/>
          <p:nvPr/>
        </p:nvSpPr>
        <p:spPr>
          <a:xfrm>
            <a:off x="1325880" y="3913632"/>
            <a:ext cx="4480560" cy="365760"/>
          </a:xfrm>
          <a:prstGeom prst="rect">
            <a:avLst/>
          </a:prstGeom>
          <a:noFill/>
          <a:ln/>
        </p:spPr>
        <p:txBody>
          <a:bodyPr wrap="square" lIns="0" tIns="0" rIns="0" bIns="0" rtlCol="0" anchor="t"/>
          <a:lstStyle/>
          <a:p>
            <a:pPr indent="0" marL="0">
              <a:buNone/>
            </a:pPr>
            <a:r>
              <a:rPr lang="en-US" sz="1500" b="1" dirty="0">
                <a:solidFill>
                  <a:schemeClr val="tx1"/>
                </a:solidFill>
              </a:rPr>
              <a:t>Twintig niet-opgeleverde stories</a:t>
            </a:r>
            <a:endParaRPr lang="en-US" sz="1500" dirty="0"/>
          </a:p>
        </p:txBody>
      </p:sp>
      <p:sp>
        <p:nvSpPr>
          <p:cNvPr id="16" name="Text 11"/>
          <p:cNvSpPr txBox="1"/>
          <p:nvPr/>
        </p:nvSpPr>
        <p:spPr>
          <a:xfrm>
            <a:off x="1325880" y="4279392"/>
            <a:ext cx="4480560" cy="411480"/>
          </a:xfrm>
          <a:prstGeom prst="rect">
            <a:avLst/>
          </a:prstGeom>
          <a:noFill/>
          <a:ln/>
        </p:spPr>
        <p:txBody>
          <a:bodyPr wrap="square" lIns="0" tIns="0" rIns="0" bIns="0" rtlCol="0" anchor="t"/>
          <a:lstStyle/>
          <a:p>
            <a:pPr indent="0" marL="0">
              <a:buNone/>
            </a:pPr>
            <a:r>
              <a:rPr lang="en-US" sz="1300" dirty="0">
                <a:solidFill>
                  <a:schemeClr val="accent5"/>
                </a:solidFill>
              </a:rPr>
              <a:t>Niet in de applicatie; criteria liggen klaar in deel 1</a:t>
            </a:r>
            <a:endParaRPr lang="en-US" sz="1300" dirty="0"/>
          </a:p>
        </p:txBody>
      </p:sp>
      <p:sp>
        <p:nvSpPr>
          <p:cNvPr id="17" name="Cirkel Wachtwoordopslag en sessies"/>
          <p:cNvSpPr/>
          <p:nvPr/>
        </p:nvSpPr>
        <p:spPr>
          <a:xfrm>
            <a:off x="6217920" y="1920240"/>
            <a:ext cx="594360" cy="594360"/>
          </a:xfrm>
          <a:prstGeom prst="ellipse">
            <a:avLst/>
          </a:prstGeom>
          <a:solidFill>
            <a:schemeClr val="accent5"/>
          </a:solidFill>
          <a:ln w="12700">
            <a:solidFill>
              <a:schemeClr val="accent5"/>
            </a:solidFill>
            <a:prstDash val="solid"/>
          </a:ln>
        </p:spPr>
      </p:sp>
      <p:pic>
        <p:nvPicPr>
          <p:cNvPr id="18" name="Icoon Wachtwoordopslag en sessies" descr="Wachtwoordopslag en sessies">    </p:cNvPr>
          <p:cNvPicPr>
            <a:picLocks noChangeAspect="1"/>
          </p:cNvPicPr>
          <p:nvPr/>
        </p:nvPicPr>
        <p:blipFill>
          <a:blip r:embed="rId4"/>
          <a:stretch>
            <a:fillRect/>
          </a:stretch>
        </p:blipFill>
        <p:spPr>
          <a:xfrm>
            <a:off x="6366510" y="2068830"/>
            <a:ext cx="297180" cy="297180"/>
          </a:xfrm>
          <a:prstGeom prst="rect">
            <a:avLst/>
          </a:prstGeom>
        </p:spPr>
      </p:pic>
      <p:sp>
        <p:nvSpPr>
          <p:cNvPr id="19" name="Text 13"/>
          <p:cNvSpPr txBox="1"/>
          <p:nvPr/>
        </p:nvSpPr>
        <p:spPr>
          <a:xfrm>
            <a:off x="6995160" y="1901952"/>
            <a:ext cx="4480560" cy="365760"/>
          </a:xfrm>
          <a:prstGeom prst="rect">
            <a:avLst/>
          </a:prstGeom>
          <a:noFill/>
          <a:ln/>
        </p:spPr>
        <p:txBody>
          <a:bodyPr wrap="square" lIns="0" tIns="0" rIns="0" bIns="0" rtlCol="0" anchor="t"/>
          <a:lstStyle/>
          <a:p>
            <a:pPr indent="0" marL="0">
              <a:buNone/>
            </a:pPr>
            <a:r>
              <a:rPr lang="en-US" sz="1500" b="1" dirty="0">
                <a:solidFill>
                  <a:schemeClr val="tx1"/>
                </a:solidFill>
              </a:rPr>
              <a:t>Wachtwoordopslag en sessies</a:t>
            </a:r>
            <a:endParaRPr lang="en-US" sz="1500" dirty="0"/>
          </a:p>
        </p:txBody>
      </p:sp>
      <p:sp>
        <p:nvSpPr>
          <p:cNvPr id="20" name="Text 14"/>
          <p:cNvSpPr txBox="1"/>
          <p:nvPr/>
        </p:nvSpPr>
        <p:spPr>
          <a:xfrm>
            <a:off x="6995160" y="2267712"/>
            <a:ext cx="4480560" cy="411480"/>
          </a:xfrm>
          <a:prstGeom prst="rect">
            <a:avLst/>
          </a:prstGeom>
          <a:noFill/>
          <a:ln/>
        </p:spPr>
        <p:txBody>
          <a:bodyPr wrap="square" lIns="0" tIns="0" rIns="0" bIns="0" rtlCol="0" anchor="t"/>
          <a:lstStyle/>
          <a:p>
            <a:pPr indent="0" marL="0">
              <a:buNone/>
            </a:pPr>
            <a:r>
              <a:rPr lang="en-US" sz="1300" dirty="0">
                <a:solidFill>
                  <a:schemeClr val="accent5"/>
                </a:solidFill>
              </a:rPr>
              <a:t>Alleen codereview: SHA-256 zonder salt (N2)</a:t>
            </a:r>
            <a:endParaRPr lang="en-US" sz="1300" dirty="0"/>
          </a:p>
        </p:txBody>
      </p:sp>
      <p:sp>
        <p:nvSpPr>
          <p:cNvPr id="21" name="Cirkel Prestaties en belasting"/>
          <p:cNvSpPr/>
          <p:nvPr/>
        </p:nvSpPr>
        <p:spPr>
          <a:xfrm>
            <a:off x="6217920" y="2926080"/>
            <a:ext cx="594360" cy="594360"/>
          </a:xfrm>
          <a:prstGeom prst="ellipse">
            <a:avLst/>
          </a:prstGeom>
          <a:solidFill>
            <a:schemeClr val="accent5"/>
          </a:solidFill>
          <a:ln w="12700">
            <a:solidFill>
              <a:schemeClr val="accent5"/>
            </a:solidFill>
            <a:prstDash val="solid"/>
          </a:ln>
        </p:spPr>
      </p:sp>
      <p:pic>
        <p:nvPicPr>
          <p:cNvPr id="22" name="Icoon Prestaties en belasting" descr="Prestaties en belasting">    </p:cNvPr>
          <p:cNvPicPr>
            <a:picLocks noChangeAspect="1"/>
          </p:cNvPicPr>
          <p:nvPr/>
        </p:nvPicPr>
        <p:blipFill>
          <a:blip r:embed="rId5"/>
          <a:stretch>
            <a:fillRect/>
          </a:stretch>
        </p:blipFill>
        <p:spPr>
          <a:xfrm>
            <a:off x="6366510" y="3074670"/>
            <a:ext cx="297180" cy="297180"/>
          </a:xfrm>
          <a:prstGeom prst="rect">
            <a:avLst/>
          </a:prstGeom>
        </p:spPr>
      </p:pic>
      <p:sp>
        <p:nvSpPr>
          <p:cNvPr id="23" name="Text 16"/>
          <p:cNvSpPr txBox="1"/>
          <p:nvPr/>
        </p:nvSpPr>
        <p:spPr>
          <a:xfrm>
            <a:off x="6995160" y="2907792"/>
            <a:ext cx="4480560" cy="365760"/>
          </a:xfrm>
          <a:prstGeom prst="rect">
            <a:avLst/>
          </a:prstGeom>
          <a:noFill/>
          <a:ln/>
        </p:spPr>
        <p:txBody>
          <a:bodyPr wrap="square" lIns="0" tIns="0" rIns="0" bIns="0" rtlCol="0" anchor="t"/>
          <a:lstStyle/>
          <a:p>
            <a:pPr indent="0" marL="0">
              <a:buNone/>
            </a:pPr>
            <a:r>
              <a:rPr lang="en-US" sz="1500" b="1" dirty="0">
                <a:solidFill>
                  <a:schemeClr val="tx1"/>
                </a:solidFill>
              </a:rPr>
              <a:t>Prestaties en belasting</a:t>
            </a:r>
            <a:endParaRPr lang="en-US" sz="1500" dirty="0"/>
          </a:p>
        </p:txBody>
      </p:sp>
      <p:sp>
        <p:nvSpPr>
          <p:cNvPr id="24" name="Text 17"/>
          <p:cNvSpPr txBox="1"/>
          <p:nvPr/>
        </p:nvSpPr>
        <p:spPr>
          <a:xfrm>
            <a:off x="6995160" y="3273552"/>
            <a:ext cx="4480560" cy="411480"/>
          </a:xfrm>
          <a:prstGeom prst="rect">
            <a:avLst/>
          </a:prstGeom>
          <a:noFill/>
          <a:ln/>
        </p:spPr>
        <p:txBody>
          <a:bodyPr wrap="square" lIns="0" tIns="0" rIns="0" bIns="0" rtlCol="0" anchor="t"/>
          <a:lstStyle/>
          <a:p>
            <a:pPr indent="0" marL="0">
              <a:buNone/>
            </a:pPr>
            <a:r>
              <a:rPr lang="en-US" sz="1300" dirty="0">
                <a:solidFill>
                  <a:schemeClr val="accent5"/>
                </a:solidFill>
              </a:rPr>
              <a:t>Niet getest (N3)</a:t>
            </a:r>
            <a:endParaRPr lang="en-US" sz="1300" dirty="0"/>
          </a:p>
        </p:txBody>
      </p:sp>
      <p:sp>
        <p:nvSpPr>
          <p:cNvPr id="25" name="Cirkel Andere browsers en mobiel"/>
          <p:cNvSpPr/>
          <p:nvPr/>
        </p:nvSpPr>
        <p:spPr>
          <a:xfrm>
            <a:off x="6217920" y="3931920"/>
            <a:ext cx="594360" cy="594360"/>
          </a:xfrm>
          <a:prstGeom prst="ellipse">
            <a:avLst/>
          </a:prstGeom>
          <a:solidFill>
            <a:schemeClr val="accent5"/>
          </a:solidFill>
          <a:ln w="12700">
            <a:solidFill>
              <a:schemeClr val="accent5"/>
            </a:solidFill>
            <a:prstDash val="solid"/>
          </a:ln>
        </p:spPr>
      </p:sp>
      <p:pic>
        <p:nvPicPr>
          <p:cNvPr id="26" name="Icoon Andere browsers en mobiel" descr="Andere browsers en mobiel">    </p:cNvPr>
          <p:cNvPicPr>
            <a:picLocks noChangeAspect="1"/>
          </p:cNvPicPr>
          <p:nvPr/>
        </p:nvPicPr>
        <p:blipFill>
          <a:blip r:embed="rId6"/>
          <a:stretch>
            <a:fillRect/>
          </a:stretch>
        </p:blipFill>
        <p:spPr>
          <a:xfrm>
            <a:off x="6366510" y="4080510"/>
            <a:ext cx="297180" cy="297180"/>
          </a:xfrm>
          <a:prstGeom prst="rect">
            <a:avLst/>
          </a:prstGeom>
        </p:spPr>
      </p:pic>
      <p:sp>
        <p:nvSpPr>
          <p:cNvPr id="27" name="Text 19"/>
          <p:cNvSpPr txBox="1"/>
          <p:nvPr/>
        </p:nvSpPr>
        <p:spPr>
          <a:xfrm>
            <a:off x="6995160" y="3913632"/>
            <a:ext cx="4480560" cy="365760"/>
          </a:xfrm>
          <a:prstGeom prst="rect">
            <a:avLst/>
          </a:prstGeom>
          <a:noFill/>
          <a:ln/>
        </p:spPr>
        <p:txBody>
          <a:bodyPr wrap="square" lIns="0" tIns="0" rIns="0" bIns="0" rtlCol="0" anchor="t"/>
          <a:lstStyle/>
          <a:p>
            <a:pPr indent="0" marL="0">
              <a:buNone/>
            </a:pPr>
            <a:r>
              <a:rPr lang="en-US" sz="1500" b="1" dirty="0">
                <a:solidFill>
                  <a:schemeClr val="tx1"/>
                </a:solidFill>
              </a:rPr>
              <a:t>Andere browsers en mobiel</a:t>
            </a:r>
            <a:endParaRPr lang="en-US" sz="1500" dirty="0"/>
          </a:p>
        </p:txBody>
      </p:sp>
      <p:sp>
        <p:nvSpPr>
          <p:cNvPr id="28" name="Text 20"/>
          <p:cNvSpPr txBox="1"/>
          <p:nvPr/>
        </p:nvSpPr>
        <p:spPr>
          <a:xfrm>
            <a:off x="6995160" y="4279392"/>
            <a:ext cx="4480560" cy="411480"/>
          </a:xfrm>
          <a:prstGeom prst="rect">
            <a:avLst/>
          </a:prstGeom>
          <a:noFill/>
          <a:ln/>
        </p:spPr>
        <p:txBody>
          <a:bodyPr wrap="square" lIns="0" tIns="0" rIns="0" bIns="0" rtlCol="0" anchor="t"/>
          <a:lstStyle/>
          <a:p>
            <a:pPr indent="0" marL="0">
              <a:buNone/>
            </a:pPr>
            <a:r>
              <a:rPr lang="en-US" sz="1300" dirty="0">
                <a:solidFill>
                  <a:schemeClr val="accent5"/>
                </a:solidFill>
              </a:rPr>
              <a:t>Alleen Chrome op desktop (N4)</a:t>
            </a:r>
            <a:endParaRPr lang="en-US" sz="1300" dirty="0"/>
          </a:p>
        </p:txBody>
      </p:sp>
      <p:sp>
        <p:nvSpPr>
          <p:cNvPr id="29" name="Cirkel Toegankelijkheid"/>
          <p:cNvSpPr/>
          <p:nvPr/>
        </p:nvSpPr>
        <p:spPr>
          <a:xfrm>
            <a:off x="6217920" y="4937760"/>
            <a:ext cx="594360" cy="594360"/>
          </a:xfrm>
          <a:prstGeom prst="ellipse">
            <a:avLst/>
          </a:prstGeom>
          <a:solidFill>
            <a:schemeClr val="accent5"/>
          </a:solidFill>
          <a:ln w="12700">
            <a:solidFill>
              <a:schemeClr val="accent5"/>
            </a:solidFill>
            <a:prstDash val="solid"/>
          </a:ln>
        </p:spPr>
      </p:sp>
      <p:pic>
        <p:nvPicPr>
          <p:cNvPr id="30" name="Icoon Toegankelijkheid" descr="Toegankelijkheid">    </p:cNvPr>
          <p:cNvPicPr>
            <a:picLocks noChangeAspect="1"/>
          </p:cNvPicPr>
          <p:nvPr/>
        </p:nvPicPr>
        <p:blipFill>
          <a:blip r:embed="rId7"/>
          <a:stretch>
            <a:fillRect/>
          </a:stretch>
        </p:blipFill>
        <p:spPr>
          <a:xfrm>
            <a:off x="6366510" y="5086350"/>
            <a:ext cx="297180" cy="297180"/>
          </a:xfrm>
          <a:prstGeom prst="rect">
            <a:avLst/>
          </a:prstGeom>
        </p:spPr>
      </p:pic>
      <p:sp>
        <p:nvSpPr>
          <p:cNvPr id="31" name="Text 22"/>
          <p:cNvSpPr txBox="1"/>
          <p:nvPr/>
        </p:nvSpPr>
        <p:spPr>
          <a:xfrm>
            <a:off x="6995160" y="4919472"/>
            <a:ext cx="4480560" cy="365760"/>
          </a:xfrm>
          <a:prstGeom prst="rect">
            <a:avLst/>
          </a:prstGeom>
          <a:noFill/>
          <a:ln/>
        </p:spPr>
        <p:txBody>
          <a:bodyPr wrap="square" lIns="0" tIns="0" rIns="0" bIns="0" rtlCol="0" anchor="t"/>
          <a:lstStyle/>
          <a:p>
            <a:pPr indent="0" marL="0">
              <a:buNone/>
            </a:pPr>
            <a:r>
              <a:rPr lang="en-US" sz="1500" b="1" dirty="0">
                <a:solidFill>
                  <a:schemeClr val="tx1"/>
                </a:solidFill>
              </a:rPr>
              <a:t>Toegankelijkheid</a:t>
            </a:r>
            <a:endParaRPr lang="en-US" sz="1500" dirty="0"/>
          </a:p>
        </p:txBody>
      </p:sp>
      <p:sp>
        <p:nvSpPr>
          <p:cNvPr id="32" name="Text 23"/>
          <p:cNvSpPr txBox="1"/>
          <p:nvPr/>
        </p:nvSpPr>
        <p:spPr>
          <a:xfrm>
            <a:off x="6995160" y="5285232"/>
            <a:ext cx="4480560" cy="411480"/>
          </a:xfrm>
          <a:prstGeom prst="rect">
            <a:avLst/>
          </a:prstGeom>
          <a:noFill/>
          <a:ln/>
        </p:spPr>
        <p:txBody>
          <a:bodyPr wrap="square" lIns="0" tIns="0" rIns="0" bIns="0" rtlCol="0" anchor="t"/>
          <a:lstStyle/>
          <a:p>
            <a:pPr indent="0" marL="0">
              <a:buNone/>
            </a:pPr>
            <a:r>
              <a:rPr lang="en-US" sz="1300" dirty="0">
                <a:solidFill>
                  <a:schemeClr val="accent5"/>
                </a:solidFill>
              </a:rPr>
              <a:t>Niet getest (N5)</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bg1"/>
                </a:solidFill>
              </a:rPr>
              <a:t>Advies: no-go, met duidelijke voorwaarden voor een go</a:t>
            </a:r>
            <a:endParaRPr lang="en-US" sz="3400" dirty="0"/>
          </a:p>
        </p:txBody>
      </p:sp>
      <p:sp>
        <p:nvSpPr>
          <p:cNvPr id="3" name="Text 1"/>
          <p:cNvSpPr txBox="1"/>
          <p:nvPr/>
        </p:nvSpPr>
        <p:spPr>
          <a:xfrm>
            <a:off x="548640" y="1463040"/>
            <a:ext cx="5486400" cy="411480"/>
          </a:xfrm>
          <a:prstGeom prst="rect">
            <a:avLst/>
          </a:prstGeom>
          <a:noFill/>
          <a:ln/>
        </p:spPr>
        <p:txBody>
          <a:bodyPr wrap="square" lIns="0" tIns="0" rIns="0" bIns="0" rtlCol="0" anchor="t"/>
          <a:lstStyle/>
          <a:p>
            <a:pPr indent="0" marL="0">
              <a:buNone/>
            </a:pPr>
            <a:r>
              <a:rPr lang="en-US" sz="2000" b="1" dirty="0">
                <a:solidFill>
                  <a:schemeClr val="accent6"/>
                </a:solidFill>
              </a:rPr>
              <a:t>Voorwaarden voor een go</a:t>
            </a:r>
            <a:endParaRPr lang="en-US" sz="2000" dirty="0"/>
          </a:p>
        </p:txBody>
      </p:sp>
      <p:sp>
        <p:nvSpPr>
          <p:cNvPr id="4" name="Cirkel voorwaarde 1"/>
          <p:cNvSpPr/>
          <p:nvPr/>
        </p:nvSpPr>
        <p:spPr>
          <a:xfrm>
            <a:off x="548640" y="2011680"/>
            <a:ext cx="502920" cy="502920"/>
          </a:xfrm>
          <a:prstGeom prst="ellipse">
            <a:avLst/>
          </a:prstGeom>
          <a:solidFill>
            <a:schemeClr val="accent1"/>
          </a:solidFill>
          <a:ln w="12700">
            <a:solidFill>
              <a:schemeClr val="accent1"/>
            </a:solidFill>
            <a:prstDash val="solid"/>
          </a:ln>
        </p:spPr>
      </p:sp>
      <p:pic>
        <p:nvPicPr>
          <p:cNvPr id="5" name="Icoon voorwaarde 1" descr="voorwaarde 1">    </p:cNvPr>
          <p:cNvPicPr>
            <a:picLocks noChangeAspect="1"/>
          </p:cNvPicPr>
          <p:nvPr/>
        </p:nvPicPr>
        <p:blipFill>
          <a:blip r:embed="rId1"/>
          <a:stretch>
            <a:fillRect/>
          </a:stretch>
        </p:blipFill>
        <p:spPr>
          <a:xfrm>
            <a:off x="674370" y="2137410"/>
            <a:ext cx="251460" cy="251460"/>
          </a:xfrm>
          <a:prstGeom prst="rect">
            <a:avLst/>
          </a:prstGeom>
        </p:spPr>
      </p:pic>
      <p:sp>
        <p:nvSpPr>
          <p:cNvPr id="6" name="Text 3"/>
          <p:cNvSpPr txBox="1"/>
          <p:nvPr/>
        </p:nvSpPr>
        <p:spPr>
          <a:xfrm>
            <a:off x="1234440" y="2084832"/>
            <a:ext cx="4937760" cy="548640"/>
          </a:xfrm>
          <a:prstGeom prst="rect">
            <a:avLst/>
          </a:prstGeom>
          <a:noFill/>
          <a:ln/>
        </p:spPr>
        <p:txBody>
          <a:bodyPr wrap="square" lIns="0" tIns="0" rIns="0" bIns="0" rtlCol="0" anchor="t"/>
          <a:lstStyle/>
          <a:p>
            <a:pPr indent="0" marL="0">
              <a:buNone/>
            </a:pPr>
            <a:r>
              <a:rPr lang="en-US" sz="1500" dirty="0">
                <a:solidFill>
                  <a:schemeClr val="bg1"/>
                </a:solidFill>
              </a:rPr>
              <a:t>Toegangsbeveiliging op alle pagina’s (BUG-01 t/m 06 en BUG-20)</a:t>
            </a:r>
            <a:endParaRPr lang="en-US" sz="1500" dirty="0"/>
          </a:p>
        </p:txBody>
      </p:sp>
      <p:sp>
        <p:nvSpPr>
          <p:cNvPr id="7" name="Cirkel voorwaarde 2"/>
          <p:cNvSpPr/>
          <p:nvPr/>
        </p:nvSpPr>
        <p:spPr>
          <a:xfrm>
            <a:off x="548640" y="2788920"/>
            <a:ext cx="502920" cy="502920"/>
          </a:xfrm>
          <a:prstGeom prst="ellipse">
            <a:avLst/>
          </a:prstGeom>
          <a:solidFill>
            <a:schemeClr val="accent1"/>
          </a:solidFill>
          <a:ln w="12700">
            <a:solidFill>
              <a:schemeClr val="accent1"/>
            </a:solidFill>
            <a:prstDash val="solid"/>
          </a:ln>
        </p:spPr>
      </p:sp>
      <p:pic>
        <p:nvPicPr>
          <p:cNvPr id="8" name="Icoon voorwaarde 2" descr="voorwaarde 2">    </p:cNvPr>
          <p:cNvPicPr>
            <a:picLocks noChangeAspect="1"/>
          </p:cNvPicPr>
          <p:nvPr/>
        </p:nvPicPr>
        <p:blipFill>
          <a:blip r:embed="rId2"/>
          <a:stretch>
            <a:fillRect/>
          </a:stretch>
        </p:blipFill>
        <p:spPr>
          <a:xfrm>
            <a:off x="674370" y="2914650"/>
            <a:ext cx="251460" cy="251460"/>
          </a:xfrm>
          <a:prstGeom prst="rect">
            <a:avLst/>
          </a:prstGeom>
        </p:spPr>
      </p:pic>
      <p:sp>
        <p:nvSpPr>
          <p:cNvPr id="9" name="Text 5"/>
          <p:cNvSpPr txBox="1"/>
          <p:nvPr/>
        </p:nvSpPr>
        <p:spPr>
          <a:xfrm>
            <a:off x="1234440" y="2862072"/>
            <a:ext cx="4937760" cy="548640"/>
          </a:xfrm>
          <a:prstGeom prst="rect">
            <a:avLst/>
          </a:prstGeom>
          <a:noFill/>
          <a:ln/>
        </p:spPr>
        <p:txBody>
          <a:bodyPr wrap="square" lIns="0" tIns="0" rIns="0" bIns="0" rtlCol="0" anchor="t"/>
          <a:lstStyle/>
          <a:p>
            <a:pPr indent="0" marL="0">
              <a:buNone/>
            </a:pPr>
            <a:r>
              <a:rPr lang="en-US" sz="1500" dirty="0">
                <a:solidFill>
                  <a:schemeClr val="bg1"/>
                </a:solidFill>
              </a:rPr>
              <a:t>Apotheker en patiënt zien alle voorschriften (BUG-15, 16, 17)</a:t>
            </a:r>
            <a:endParaRPr lang="en-US" sz="1500" dirty="0"/>
          </a:p>
        </p:txBody>
      </p:sp>
      <p:sp>
        <p:nvSpPr>
          <p:cNvPr id="10" name="Cirkel voorwaarde 3"/>
          <p:cNvSpPr/>
          <p:nvPr/>
        </p:nvSpPr>
        <p:spPr>
          <a:xfrm>
            <a:off x="548640" y="3566160"/>
            <a:ext cx="502920" cy="502920"/>
          </a:xfrm>
          <a:prstGeom prst="ellipse">
            <a:avLst/>
          </a:prstGeom>
          <a:solidFill>
            <a:schemeClr val="accent1"/>
          </a:solidFill>
          <a:ln w="12700">
            <a:solidFill>
              <a:schemeClr val="accent1"/>
            </a:solidFill>
            <a:prstDash val="solid"/>
          </a:ln>
        </p:spPr>
      </p:sp>
      <p:pic>
        <p:nvPicPr>
          <p:cNvPr id="11" name="Icoon voorwaarde 3" descr="voorwaarde 3">    </p:cNvPr>
          <p:cNvPicPr>
            <a:picLocks noChangeAspect="1"/>
          </p:cNvPicPr>
          <p:nvPr/>
        </p:nvPicPr>
        <p:blipFill>
          <a:blip r:embed="rId3"/>
          <a:stretch>
            <a:fillRect/>
          </a:stretch>
        </p:blipFill>
        <p:spPr>
          <a:xfrm>
            <a:off x="674370" y="3691890"/>
            <a:ext cx="251460" cy="251460"/>
          </a:xfrm>
          <a:prstGeom prst="rect">
            <a:avLst/>
          </a:prstGeom>
        </p:spPr>
      </p:pic>
      <p:sp>
        <p:nvSpPr>
          <p:cNvPr id="12" name="Text 7"/>
          <p:cNvSpPr txBox="1"/>
          <p:nvPr/>
        </p:nvSpPr>
        <p:spPr>
          <a:xfrm>
            <a:off x="1234440" y="3639312"/>
            <a:ext cx="4937760" cy="548640"/>
          </a:xfrm>
          <a:prstGeom prst="rect">
            <a:avLst/>
          </a:prstGeom>
          <a:noFill/>
          <a:ln/>
        </p:spPr>
        <p:txBody>
          <a:bodyPr wrap="square" lIns="0" tIns="0" rIns="0" bIns="0" rtlCol="0" anchor="t"/>
          <a:lstStyle/>
          <a:p>
            <a:pPr indent="0" marL="0">
              <a:buNone/>
            </a:pPr>
            <a:r>
              <a:rPr lang="en-US" sz="1500" dirty="0">
                <a:solidFill>
                  <a:schemeClr val="bg1"/>
                </a:solidFill>
              </a:rPr>
              <a:t>Medicijn toevoegen werkt via het scherm (BUG-14)</a:t>
            </a:r>
            <a:endParaRPr lang="en-US" sz="1500" dirty="0"/>
          </a:p>
        </p:txBody>
      </p:sp>
      <p:sp>
        <p:nvSpPr>
          <p:cNvPr id="13" name="Cirkel voorwaarde 4"/>
          <p:cNvSpPr/>
          <p:nvPr/>
        </p:nvSpPr>
        <p:spPr>
          <a:xfrm>
            <a:off x="548640" y="4343400"/>
            <a:ext cx="502920" cy="502920"/>
          </a:xfrm>
          <a:prstGeom prst="ellipse">
            <a:avLst/>
          </a:prstGeom>
          <a:solidFill>
            <a:schemeClr val="accent1"/>
          </a:solidFill>
          <a:ln w="12700">
            <a:solidFill>
              <a:schemeClr val="accent1"/>
            </a:solidFill>
            <a:prstDash val="solid"/>
          </a:ln>
        </p:spPr>
      </p:sp>
      <p:pic>
        <p:nvPicPr>
          <p:cNvPr id="14" name="Icoon voorwaarde 4" descr="voorwaarde 4">    </p:cNvPr>
          <p:cNvPicPr>
            <a:picLocks noChangeAspect="1"/>
          </p:cNvPicPr>
          <p:nvPr/>
        </p:nvPicPr>
        <p:blipFill>
          <a:blip r:embed="rId4"/>
          <a:stretch>
            <a:fillRect/>
          </a:stretch>
        </p:blipFill>
        <p:spPr>
          <a:xfrm>
            <a:off x="674370" y="4469130"/>
            <a:ext cx="251460" cy="251460"/>
          </a:xfrm>
          <a:prstGeom prst="rect">
            <a:avLst/>
          </a:prstGeom>
        </p:spPr>
      </p:pic>
      <p:sp>
        <p:nvSpPr>
          <p:cNvPr id="15" name="Text 9"/>
          <p:cNvSpPr txBox="1"/>
          <p:nvPr/>
        </p:nvSpPr>
        <p:spPr>
          <a:xfrm>
            <a:off x="1234440" y="4416552"/>
            <a:ext cx="4937760" cy="548640"/>
          </a:xfrm>
          <a:prstGeom prst="rect">
            <a:avLst/>
          </a:prstGeom>
          <a:noFill/>
          <a:ln/>
        </p:spPr>
        <p:txBody>
          <a:bodyPr wrap="square" lIns="0" tIns="0" rIns="0" bIns="0" rtlCol="0" anchor="t"/>
          <a:lstStyle/>
          <a:p>
            <a:pPr indent="0" marL="0">
              <a:buNone/>
            </a:pPr>
            <a:r>
              <a:rPr lang="en-US" sz="1500" dirty="0">
                <a:solidFill>
                  <a:schemeClr val="bg1"/>
                </a:solidFill>
              </a:rPr>
              <a:t>Releasenotes bij elke oplevering</a:t>
            </a:r>
            <a:endParaRPr lang="en-US" sz="1500" dirty="0"/>
          </a:p>
        </p:txBody>
      </p:sp>
      <p:sp>
        <p:nvSpPr>
          <p:cNvPr id="16" name="Cirkel voorwaarde 5"/>
          <p:cNvSpPr/>
          <p:nvPr/>
        </p:nvSpPr>
        <p:spPr>
          <a:xfrm>
            <a:off x="548640" y="5120640"/>
            <a:ext cx="502920" cy="502920"/>
          </a:xfrm>
          <a:prstGeom prst="ellipse">
            <a:avLst/>
          </a:prstGeom>
          <a:solidFill>
            <a:schemeClr val="accent1"/>
          </a:solidFill>
          <a:ln w="12700">
            <a:solidFill>
              <a:schemeClr val="accent1"/>
            </a:solidFill>
            <a:prstDash val="solid"/>
          </a:ln>
        </p:spPr>
      </p:sp>
      <p:pic>
        <p:nvPicPr>
          <p:cNvPr id="17" name="Icoon voorwaarde 5" descr="voorwaarde 5">    </p:cNvPr>
          <p:cNvPicPr>
            <a:picLocks noChangeAspect="1"/>
          </p:cNvPicPr>
          <p:nvPr/>
        </p:nvPicPr>
        <p:blipFill>
          <a:blip r:embed="rId5"/>
          <a:stretch>
            <a:fillRect/>
          </a:stretch>
        </p:blipFill>
        <p:spPr>
          <a:xfrm>
            <a:off x="674370" y="5246370"/>
            <a:ext cx="251460" cy="251460"/>
          </a:xfrm>
          <a:prstGeom prst="rect">
            <a:avLst/>
          </a:prstGeom>
        </p:spPr>
      </p:pic>
      <p:sp>
        <p:nvSpPr>
          <p:cNvPr id="18" name="Text 11"/>
          <p:cNvSpPr txBox="1"/>
          <p:nvPr/>
        </p:nvSpPr>
        <p:spPr>
          <a:xfrm>
            <a:off x="1234440" y="5193792"/>
            <a:ext cx="4937760" cy="548640"/>
          </a:xfrm>
          <a:prstGeom prst="rect">
            <a:avLst/>
          </a:prstGeom>
          <a:noFill/>
          <a:ln/>
        </p:spPr>
        <p:txBody>
          <a:bodyPr wrap="square" lIns="0" tIns="0" rIns="0" bIns="0" rtlCol="0" anchor="t"/>
          <a:lstStyle/>
          <a:p>
            <a:pPr indent="0" marL="0">
              <a:buNone/>
            </a:pPr>
            <a:r>
              <a:rPr lang="en-US" sz="1500" dirty="0">
                <a:solidFill>
                  <a:schemeClr val="bg1"/>
                </a:solidFill>
              </a:rPr>
              <a:t>Volledige suite opnieuw groen op alle zestien criteria</a:t>
            </a:r>
            <a:endParaRPr lang="en-US" sz="1500" dirty="0"/>
          </a:p>
        </p:txBody>
      </p:sp>
      <p:sp>
        <p:nvSpPr>
          <p:cNvPr id="19" name="Text 12"/>
          <p:cNvSpPr txBox="1"/>
          <p:nvPr/>
        </p:nvSpPr>
        <p:spPr>
          <a:xfrm>
            <a:off x="6583680" y="1463040"/>
            <a:ext cx="5029200" cy="411480"/>
          </a:xfrm>
          <a:prstGeom prst="rect">
            <a:avLst/>
          </a:prstGeom>
          <a:noFill/>
          <a:ln/>
        </p:spPr>
        <p:txBody>
          <a:bodyPr wrap="square" lIns="0" tIns="0" rIns="0" bIns="0" rtlCol="0" anchor="t"/>
          <a:lstStyle/>
          <a:p>
            <a:pPr indent="0" marL="0">
              <a:buNone/>
            </a:pPr>
            <a:r>
              <a:rPr lang="en-US" sz="2000" b="1" dirty="0">
                <a:solidFill>
                  <a:schemeClr val="accent6"/>
                </a:solidFill>
              </a:rPr>
              <a:t>Risico per stakeholder</a:t>
            </a:r>
            <a:endParaRPr lang="en-US" sz="2000" dirty="0"/>
          </a:p>
        </p:txBody>
      </p:sp>
      <p:sp>
        <p:nvSpPr>
          <p:cNvPr id="20" name="Kaart Patiënt"/>
          <p:cNvSpPr/>
          <p:nvPr/>
        </p:nvSpPr>
        <p:spPr>
          <a:xfrm>
            <a:off x="6583680" y="2011680"/>
            <a:ext cx="502920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1" name="Cirkel Patiënt"/>
          <p:cNvSpPr/>
          <p:nvPr/>
        </p:nvSpPr>
        <p:spPr>
          <a:xfrm>
            <a:off x="6766560" y="2148840"/>
            <a:ext cx="548640" cy="548640"/>
          </a:xfrm>
          <a:prstGeom prst="ellipse">
            <a:avLst/>
          </a:prstGeom>
          <a:solidFill>
            <a:schemeClr val="accent2"/>
          </a:solidFill>
          <a:ln w="12700">
            <a:solidFill>
              <a:schemeClr val="accent2"/>
            </a:solidFill>
            <a:prstDash val="solid"/>
          </a:ln>
        </p:spPr>
      </p:sp>
      <p:pic>
        <p:nvPicPr>
          <p:cNvPr id="22" name="Icoon Patiënt" descr="Patiënt">    </p:cNvPr>
          <p:cNvPicPr>
            <a:picLocks noChangeAspect="1"/>
          </p:cNvPicPr>
          <p:nvPr/>
        </p:nvPicPr>
        <p:blipFill>
          <a:blip r:embed="rId6"/>
          <a:stretch>
            <a:fillRect/>
          </a:stretch>
        </p:blipFill>
        <p:spPr>
          <a:xfrm>
            <a:off x="6903720" y="2286000"/>
            <a:ext cx="274320" cy="274320"/>
          </a:xfrm>
          <a:prstGeom prst="rect">
            <a:avLst/>
          </a:prstGeom>
        </p:spPr>
      </p:pic>
      <p:sp>
        <p:nvSpPr>
          <p:cNvPr id="23" name="Text 15"/>
          <p:cNvSpPr txBox="1"/>
          <p:nvPr/>
        </p:nvSpPr>
        <p:spPr>
          <a:xfrm>
            <a:off x="7498080" y="2121408"/>
            <a:ext cx="3931920" cy="320040"/>
          </a:xfrm>
          <a:prstGeom prst="rect">
            <a:avLst/>
          </a:prstGeom>
          <a:noFill/>
          <a:ln/>
        </p:spPr>
        <p:txBody>
          <a:bodyPr wrap="square" lIns="0" tIns="0" rIns="0" bIns="0" rtlCol="0" anchor="t"/>
          <a:lstStyle/>
          <a:p>
            <a:pPr indent="0" marL="0">
              <a:buNone/>
            </a:pPr>
            <a:r>
              <a:rPr lang="en-US" sz="1500" b="1" dirty="0">
                <a:solidFill>
                  <a:schemeClr val="tx2"/>
                </a:solidFill>
              </a:rPr>
              <a:t>Patiënt</a:t>
            </a:r>
            <a:endParaRPr lang="en-US" sz="1500" dirty="0"/>
          </a:p>
        </p:txBody>
      </p:sp>
      <p:sp>
        <p:nvSpPr>
          <p:cNvPr id="24" name="Text 16"/>
          <p:cNvSpPr txBox="1"/>
          <p:nvPr/>
        </p:nvSpPr>
        <p:spPr>
          <a:xfrm>
            <a:off x="7498080" y="2441448"/>
            <a:ext cx="3931920" cy="320040"/>
          </a:xfrm>
          <a:prstGeom prst="rect">
            <a:avLst/>
          </a:prstGeom>
          <a:noFill/>
          <a:ln/>
        </p:spPr>
        <p:txBody>
          <a:bodyPr wrap="square" lIns="0" tIns="0" rIns="0" bIns="0" rtlCol="0" anchor="t"/>
          <a:lstStyle/>
          <a:p>
            <a:pPr indent="0" marL="0">
              <a:buNone/>
            </a:pPr>
            <a:r>
              <a:rPr lang="en-US" sz="1300" dirty="0">
                <a:solidFill>
                  <a:schemeClr val="tx1"/>
                </a:solidFill>
              </a:rPr>
              <a:t>Mist medicatie of krijgt een vals voorschrift</a:t>
            </a:r>
            <a:endParaRPr lang="en-US" sz="1300" dirty="0"/>
          </a:p>
        </p:txBody>
      </p:sp>
      <p:sp>
        <p:nvSpPr>
          <p:cNvPr id="25" name="Kaart Apotheker"/>
          <p:cNvSpPr/>
          <p:nvPr/>
        </p:nvSpPr>
        <p:spPr>
          <a:xfrm>
            <a:off x="6583680" y="2971800"/>
            <a:ext cx="502920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6" name="Cirkel Apotheker"/>
          <p:cNvSpPr/>
          <p:nvPr/>
        </p:nvSpPr>
        <p:spPr>
          <a:xfrm>
            <a:off x="6766560" y="3108960"/>
            <a:ext cx="548640" cy="548640"/>
          </a:xfrm>
          <a:prstGeom prst="ellipse">
            <a:avLst/>
          </a:prstGeom>
          <a:solidFill>
            <a:schemeClr val="accent2"/>
          </a:solidFill>
          <a:ln w="12700">
            <a:solidFill>
              <a:schemeClr val="accent2"/>
            </a:solidFill>
            <a:prstDash val="solid"/>
          </a:ln>
        </p:spPr>
      </p:sp>
      <p:pic>
        <p:nvPicPr>
          <p:cNvPr id="27" name="Icoon Apotheker" descr="Apotheker">    </p:cNvPr>
          <p:cNvPicPr>
            <a:picLocks noChangeAspect="1"/>
          </p:cNvPicPr>
          <p:nvPr/>
        </p:nvPicPr>
        <p:blipFill>
          <a:blip r:embed="rId7"/>
          <a:stretch>
            <a:fillRect/>
          </a:stretch>
        </p:blipFill>
        <p:spPr>
          <a:xfrm>
            <a:off x="6903720" y="3246120"/>
            <a:ext cx="274320" cy="274320"/>
          </a:xfrm>
          <a:prstGeom prst="rect">
            <a:avLst/>
          </a:prstGeom>
        </p:spPr>
      </p:pic>
      <p:sp>
        <p:nvSpPr>
          <p:cNvPr id="28" name="Text 19"/>
          <p:cNvSpPr txBox="1"/>
          <p:nvPr/>
        </p:nvSpPr>
        <p:spPr>
          <a:xfrm>
            <a:off x="7498080" y="3081528"/>
            <a:ext cx="3931920" cy="320040"/>
          </a:xfrm>
          <a:prstGeom prst="rect">
            <a:avLst/>
          </a:prstGeom>
          <a:noFill/>
          <a:ln/>
        </p:spPr>
        <p:txBody>
          <a:bodyPr wrap="square" lIns="0" tIns="0" rIns="0" bIns="0" rtlCol="0" anchor="t"/>
          <a:lstStyle/>
          <a:p>
            <a:pPr indent="0" marL="0">
              <a:buNone/>
            </a:pPr>
            <a:r>
              <a:rPr lang="en-US" sz="1500" b="1" dirty="0">
                <a:solidFill>
                  <a:schemeClr val="tx2"/>
                </a:solidFill>
              </a:rPr>
              <a:t>Apotheker</a:t>
            </a:r>
            <a:endParaRPr lang="en-US" sz="1500" dirty="0"/>
          </a:p>
        </p:txBody>
      </p:sp>
      <p:sp>
        <p:nvSpPr>
          <p:cNvPr id="29" name="Text 20"/>
          <p:cNvSpPr txBox="1"/>
          <p:nvPr/>
        </p:nvSpPr>
        <p:spPr>
          <a:xfrm>
            <a:off x="7498080" y="3401568"/>
            <a:ext cx="3931920" cy="320040"/>
          </a:xfrm>
          <a:prstGeom prst="rect">
            <a:avLst/>
          </a:prstGeom>
          <a:noFill/>
          <a:ln/>
        </p:spPr>
        <p:txBody>
          <a:bodyPr wrap="square" lIns="0" tIns="0" rIns="0" bIns="0" rtlCol="0" anchor="t"/>
          <a:lstStyle/>
          <a:p>
            <a:pPr indent="0" marL="0">
              <a:buNone/>
            </a:pPr>
            <a:r>
              <a:rPr lang="en-US" sz="1300" dirty="0">
                <a:solidFill>
                  <a:schemeClr val="tx1"/>
                </a:solidFill>
              </a:rPr>
              <a:t>Verstrekt op een onvolledig overzicht</a:t>
            </a:r>
            <a:endParaRPr lang="en-US" sz="1300" dirty="0"/>
          </a:p>
        </p:txBody>
      </p:sp>
      <p:sp>
        <p:nvSpPr>
          <p:cNvPr id="30" name="Kaart Arts"/>
          <p:cNvSpPr/>
          <p:nvPr/>
        </p:nvSpPr>
        <p:spPr>
          <a:xfrm>
            <a:off x="6583680" y="3931920"/>
            <a:ext cx="502920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1" name="Cirkel Arts"/>
          <p:cNvSpPr/>
          <p:nvPr/>
        </p:nvSpPr>
        <p:spPr>
          <a:xfrm>
            <a:off x="6766560" y="4069080"/>
            <a:ext cx="548640" cy="548640"/>
          </a:xfrm>
          <a:prstGeom prst="ellipse">
            <a:avLst/>
          </a:prstGeom>
          <a:solidFill>
            <a:schemeClr val="accent2"/>
          </a:solidFill>
          <a:ln w="12700">
            <a:solidFill>
              <a:schemeClr val="accent2"/>
            </a:solidFill>
            <a:prstDash val="solid"/>
          </a:ln>
        </p:spPr>
      </p:sp>
      <p:pic>
        <p:nvPicPr>
          <p:cNvPr id="32" name="Icoon Arts" descr="Arts">    </p:cNvPr>
          <p:cNvPicPr>
            <a:picLocks noChangeAspect="1"/>
          </p:cNvPicPr>
          <p:nvPr/>
        </p:nvPicPr>
        <p:blipFill>
          <a:blip r:embed="rId8"/>
          <a:stretch>
            <a:fillRect/>
          </a:stretch>
        </p:blipFill>
        <p:spPr>
          <a:xfrm>
            <a:off x="6903720" y="4206240"/>
            <a:ext cx="274320" cy="274320"/>
          </a:xfrm>
          <a:prstGeom prst="rect">
            <a:avLst/>
          </a:prstGeom>
        </p:spPr>
      </p:pic>
      <p:sp>
        <p:nvSpPr>
          <p:cNvPr id="33" name="Text 23"/>
          <p:cNvSpPr txBox="1"/>
          <p:nvPr/>
        </p:nvSpPr>
        <p:spPr>
          <a:xfrm>
            <a:off x="7498080" y="4041648"/>
            <a:ext cx="3931920" cy="320040"/>
          </a:xfrm>
          <a:prstGeom prst="rect">
            <a:avLst/>
          </a:prstGeom>
          <a:noFill/>
          <a:ln/>
        </p:spPr>
        <p:txBody>
          <a:bodyPr wrap="square" lIns="0" tIns="0" rIns="0" bIns="0" rtlCol="0" anchor="t"/>
          <a:lstStyle/>
          <a:p>
            <a:pPr indent="0" marL="0">
              <a:buNone/>
            </a:pPr>
            <a:r>
              <a:rPr lang="en-US" sz="1500" b="1" dirty="0">
                <a:solidFill>
                  <a:schemeClr val="tx2"/>
                </a:solidFill>
              </a:rPr>
              <a:t>Arts</a:t>
            </a:r>
            <a:endParaRPr lang="en-US" sz="1500" dirty="0"/>
          </a:p>
        </p:txBody>
      </p:sp>
      <p:sp>
        <p:nvSpPr>
          <p:cNvPr id="34" name="Text 24"/>
          <p:cNvSpPr txBox="1"/>
          <p:nvPr/>
        </p:nvSpPr>
        <p:spPr>
          <a:xfrm>
            <a:off x="7498080" y="4361688"/>
            <a:ext cx="3931920" cy="320040"/>
          </a:xfrm>
          <a:prstGeom prst="rect">
            <a:avLst/>
          </a:prstGeom>
          <a:noFill/>
          <a:ln/>
        </p:spPr>
        <p:txBody>
          <a:bodyPr wrap="square" lIns="0" tIns="0" rIns="0" bIns="0" rtlCol="0" anchor="t"/>
          <a:lstStyle/>
          <a:p>
            <a:pPr indent="0" marL="0">
              <a:buNone/>
            </a:pPr>
            <a:r>
              <a:rPr lang="en-US" sz="1300" dirty="0">
                <a:solidFill>
                  <a:schemeClr val="tx1"/>
                </a:solidFill>
              </a:rPr>
              <a:t>Voorschrift komt onvolledig aan</a:t>
            </a:r>
            <a:endParaRPr lang="en-US" sz="1300" dirty="0"/>
          </a:p>
        </p:txBody>
      </p:sp>
      <p:sp>
        <p:nvSpPr>
          <p:cNvPr id="35" name="Kaart Organisatie"/>
          <p:cNvSpPr/>
          <p:nvPr/>
        </p:nvSpPr>
        <p:spPr>
          <a:xfrm>
            <a:off x="6583680" y="4892040"/>
            <a:ext cx="502920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36" name="Cirkel Organisatie"/>
          <p:cNvSpPr/>
          <p:nvPr/>
        </p:nvSpPr>
        <p:spPr>
          <a:xfrm>
            <a:off x="6766560" y="5029200"/>
            <a:ext cx="548640" cy="548640"/>
          </a:xfrm>
          <a:prstGeom prst="ellipse">
            <a:avLst/>
          </a:prstGeom>
          <a:solidFill>
            <a:schemeClr val="accent2"/>
          </a:solidFill>
          <a:ln w="12700">
            <a:solidFill>
              <a:schemeClr val="accent2"/>
            </a:solidFill>
            <a:prstDash val="solid"/>
          </a:ln>
        </p:spPr>
      </p:sp>
      <p:pic>
        <p:nvPicPr>
          <p:cNvPr id="37" name="Icoon Organisatie" descr="Organisatie">    </p:cNvPr>
          <p:cNvPicPr>
            <a:picLocks noChangeAspect="1"/>
          </p:cNvPicPr>
          <p:nvPr/>
        </p:nvPicPr>
        <p:blipFill>
          <a:blip r:embed="rId9"/>
          <a:stretch>
            <a:fillRect/>
          </a:stretch>
        </p:blipFill>
        <p:spPr>
          <a:xfrm>
            <a:off x="6903720" y="5166360"/>
            <a:ext cx="274320" cy="274320"/>
          </a:xfrm>
          <a:prstGeom prst="rect">
            <a:avLst/>
          </a:prstGeom>
        </p:spPr>
      </p:pic>
      <p:sp>
        <p:nvSpPr>
          <p:cNvPr id="38" name="Text 27"/>
          <p:cNvSpPr txBox="1"/>
          <p:nvPr/>
        </p:nvSpPr>
        <p:spPr>
          <a:xfrm>
            <a:off x="7498080" y="5001768"/>
            <a:ext cx="3931920" cy="320040"/>
          </a:xfrm>
          <a:prstGeom prst="rect">
            <a:avLst/>
          </a:prstGeom>
          <a:noFill/>
          <a:ln/>
        </p:spPr>
        <p:txBody>
          <a:bodyPr wrap="square" lIns="0" tIns="0" rIns="0" bIns="0" rtlCol="0" anchor="t"/>
          <a:lstStyle/>
          <a:p>
            <a:pPr indent="0" marL="0">
              <a:buNone/>
            </a:pPr>
            <a:r>
              <a:rPr lang="en-US" sz="1500" b="1" dirty="0">
                <a:solidFill>
                  <a:schemeClr val="tx2"/>
                </a:solidFill>
              </a:rPr>
              <a:t>Organisatie</a:t>
            </a:r>
            <a:endParaRPr lang="en-US" sz="1500" dirty="0"/>
          </a:p>
        </p:txBody>
      </p:sp>
      <p:sp>
        <p:nvSpPr>
          <p:cNvPr id="39" name="Text 28"/>
          <p:cNvSpPr txBox="1"/>
          <p:nvPr/>
        </p:nvSpPr>
        <p:spPr>
          <a:xfrm>
            <a:off x="7498080" y="5321808"/>
            <a:ext cx="3931920" cy="320040"/>
          </a:xfrm>
          <a:prstGeom prst="rect">
            <a:avLst/>
          </a:prstGeom>
          <a:noFill/>
          <a:ln/>
        </p:spPr>
        <p:txBody>
          <a:bodyPr wrap="square" lIns="0" tIns="0" rIns="0" bIns="0" rtlCol="0" anchor="t"/>
          <a:lstStyle/>
          <a:p>
            <a:pPr indent="0" marL="0">
              <a:buNone/>
            </a:pPr>
            <a:r>
              <a:rPr lang="en-US" sz="1300" dirty="0">
                <a:solidFill>
                  <a:schemeClr val="tx1"/>
                </a:solidFill>
              </a:rPr>
              <a:t>Datalek (AVG) en aansprakelijkheid</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tx2"/>
                </a:solidFill>
              </a:rPr>
              <a:t>Wat ik de volgende keer beter doe</a:t>
            </a:r>
            <a:endParaRPr lang="en-US" sz="3400" dirty="0"/>
          </a:p>
        </p:txBody>
      </p:sp>
      <p:sp>
        <p:nvSpPr>
          <p:cNvPr id="3" name="Kaart Grenswaarden standaard testen"/>
          <p:cNvSpPr/>
          <p:nvPr/>
        </p:nvSpPr>
        <p:spPr>
          <a:xfrm>
            <a:off x="54864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Cirkel Grenswaarden standaard testen"/>
          <p:cNvSpPr/>
          <p:nvPr/>
        </p:nvSpPr>
        <p:spPr>
          <a:xfrm>
            <a:off x="822960" y="1737360"/>
            <a:ext cx="594360" cy="594360"/>
          </a:xfrm>
          <a:prstGeom prst="ellipse">
            <a:avLst/>
          </a:prstGeom>
          <a:solidFill>
            <a:schemeClr val="accent1"/>
          </a:solidFill>
          <a:ln w="12700">
            <a:solidFill>
              <a:schemeClr val="accent1"/>
            </a:solidFill>
            <a:prstDash val="solid"/>
          </a:ln>
        </p:spPr>
      </p:sp>
      <p:pic>
        <p:nvPicPr>
          <p:cNvPr id="5" name="Icoon Grenswaarden standaard testen" descr="Grenswaarden standaard testen">    </p:cNvPr>
          <p:cNvPicPr>
            <a:picLocks noChangeAspect="1"/>
          </p:cNvPicPr>
          <p:nvPr/>
        </p:nvPicPr>
        <p:blipFill>
          <a:blip r:embed="rId1"/>
          <a:stretch>
            <a:fillRect/>
          </a:stretch>
        </p:blipFill>
        <p:spPr>
          <a:xfrm>
            <a:off x="971550" y="1885950"/>
            <a:ext cx="297180" cy="297180"/>
          </a:xfrm>
          <a:prstGeom prst="rect">
            <a:avLst/>
          </a:prstGeom>
        </p:spPr>
      </p:pic>
      <p:sp>
        <p:nvSpPr>
          <p:cNvPr id="6" name="Text 3"/>
          <p:cNvSpPr txBox="1"/>
          <p:nvPr/>
        </p:nvSpPr>
        <p:spPr>
          <a:xfrm>
            <a:off x="1554480" y="1737360"/>
            <a:ext cx="2331720" cy="640080"/>
          </a:xfrm>
          <a:prstGeom prst="rect">
            <a:avLst/>
          </a:prstGeom>
          <a:noFill/>
          <a:ln/>
        </p:spPr>
        <p:txBody>
          <a:bodyPr wrap="square" lIns="0" tIns="0" rIns="0" bIns="0" rtlCol="0" anchor="ctr"/>
          <a:lstStyle/>
          <a:p>
            <a:pPr indent="0" marL="0">
              <a:buNone/>
            </a:pPr>
            <a:r>
              <a:rPr lang="en-US" sz="1500" b="1" dirty="0">
                <a:solidFill>
                  <a:schemeClr val="tx2"/>
                </a:solidFill>
              </a:rPr>
              <a:t>Grenswaarden standaard testen</a:t>
            </a:r>
            <a:endParaRPr lang="en-US" sz="1500" dirty="0"/>
          </a:p>
        </p:txBody>
      </p:sp>
      <p:sp>
        <p:nvSpPr>
          <p:cNvPr id="7" name="Text 4"/>
          <p:cNvSpPr txBox="1"/>
          <p:nvPr/>
        </p:nvSpPr>
        <p:spPr>
          <a:xfrm>
            <a:off x="822960" y="2468880"/>
            <a:ext cx="3017520" cy="1005840"/>
          </a:xfrm>
          <a:prstGeom prst="rect">
            <a:avLst/>
          </a:prstGeom>
          <a:noFill/>
          <a:ln/>
        </p:spPr>
        <p:txBody>
          <a:bodyPr wrap="square" lIns="0" tIns="0" rIns="0" bIns="0" rtlCol="0" anchor="t"/>
          <a:lstStyle/>
          <a:p>
            <a:pPr indent="0" marL="0">
              <a:buNone/>
            </a:pPr>
            <a:r>
              <a:rPr lang="en-US" sz="1300" dirty="0">
                <a:solidFill>
                  <a:schemeClr val="tx1"/>
                </a:solidFill>
              </a:rPr>
              <a:t>‘Meerdere’ en ‘nul’ in elk scenario. In week 4 miste ik meerdere voorschriften, waardoor BUG-16 pas via de broncode opviel.</a:t>
            </a:r>
            <a:endParaRPr lang="en-US" sz="1300" dirty="0"/>
          </a:p>
        </p:txBody>
      </p:sp>
      <p:sp>
        <p:nvSpPr>
          <p:cNvPr id="8" name="Kaart Alle routes inventariseren"/>
          <p:cNvSpPr/>
          <p:nvPr/>
        </p:nvSpPr>
        <p:spPr>
          <a:xfrm>
            <a:off x="429768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Cirkel Alle routes inventariseren"/>
          <p:cNvSpPr/>
          <p:nvPr/>
        </p:nvSpPr>
        <p:spPr>
          <a:xfrm>
            <a:off x="4572000" y="1737360"/>
            <a:ext cx="594360" cy="594360"/>
          </a:xfrm>
          <a:prstGeom prst="ellipse">
            <a:avLst/>
          </a:prstGeom>
          <a:solidFill>
            <a:schemeClr val="accent1"/>
          </a:solidFill>
          <a:ln w="12700">
            <a:solidFill>
              <a:schemeClr val="accent1"/>
            </a:solidFill>
            <a:prstDash val="solid"/>
          </a:ln>
        </p:spPr>
      </p:sp>
      <p:pic>
        <p:nvPicPr>
          <p:cNvPr id="10" name="Icoon Alle routes inventariseren" descr="Alle routes inventariseren">    </p:cNvPr>
          <p:cNvPicPr>
            <a:picLocks noChangeAspect="1"/>
          </p:cNvPicPr>
          <p:nvPr/>
        </p:nvPicPr>
        <p:blipFill>
          <a:blip r:embed="rId2"/>
          <a:stretch>
            <a:fillRect/>
          </a:stretch>
        </p:blipFill>
        <p:spPr>
          <a:xfrm>
            <a:off x="4720590" y="1885950"/>
            <a:ext cx="297180" cy="297180"/>
          </a:xfrm>
          <a:prstGeom prst="rect">
            <a:avLst/>
          </a:prstGeom>
        </p:spPr>
      </p:pic>
      <p:sp>
        <p:nvSpPr>
          <p:cNvPr id="11" name="Text 7"/>
          <p:cNvSpPr txBox="1"/>
          <p:nvPr/>
        </p:nvSpPr>
        <p:spPr>
          <a:xfrm>
            <a:off x="5303520" y="1737360"/>
            <a:ext cx="2331720" cy="640080"/>
          </a:xfrm>
          <a:prstGeom prst="rect">
            <a:avLst/>
          </a:prstGeom>
          <a:noFill/>
          <a:ln/>
        </p:spPr>
        <p:txBody>
          <a:bodyPr wrap="square" lIns="0" tIns="0" rIns="0" bIns="0" rtlCol="0" anchor="ctr"/>
          <a:lstStyle/>
          <a:p>
            <a:pPr indent="0" marL="0">
              <a:buNone/>
            </a:pPr>
            <a:r>
              <a:rPr lang="en-US" sz="1500" b="1" dirty="0">
                <a:solidFill>
                  <a:schemeClr val="tx2"/>
                </a:solidFill>
              </a:rPr>
              <a:t>Alle routes inventariseren</a:t>
            </a:r>
            <a:endParaRPr lang="en-US" sz="1500" dirty="0"/>
          </a:p>
        </p:txBody>
      </p:sp>
      <p:sp>
        <p:nvSpPr>
          <p:cNvPr id="12" name="Text 8"/>
          <p:cNvSpPr txBox="1"/>
          <p:nvPr/>
        </p:nvSpPr>
        <p:spPr>
          <a:xfrm>
            <a:off x="4572000" y="2468880"/>
            <a:ext cx="3017520" cy="1005840"/>
          </a:xfrm>
          <a:prstGeom prst="rect">
            <a:avLst/>
          </a:prstGeom>
          <a:noFill/>
          <a:ln/>
        </p:spPr>
        <p:txBody>
          <a:bodyPr wrap="square" lIns="0" tIns="0" rIns="0" bIns="0" rtlCol="0" anchor="t"/>
          <a:lstStyle/>
          <a:p>
            <a:pPr indent="0" marL="0">
              <a:buNone/>
            </a:pPr>
            <a:r>
              <a:rPr lang="en-US" sz="1300" dirty="0">
                <a:solidFill>
                  <a:schemeClr val="tx1"/>
                </a:solidFill>
              </a:rPr>
              <a:t>Vóór het testen alle pagina’s in kaart brengen. BUG-20 zat op een pagina zonder link.</a:t>
            </a:r>
            <a:endParaRPr lang="en-US" sz="1300" dirty="0"/>
          </a:p>
        </p:txBody>
      </p:sp>
      <p:sp>
        <p:nvSpPr>
          <p:cNvPr id="13" name="Kaart Selenium vanaf de eerste oplevering"/>
          <p:cNvSpPr/>
          <p:nvPr/>
        </p:nvSpPr>
        <p:spPr>
          <a:xfrm>
            <a:off x="804672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Cirkel Selenium vanaf de eerste oplevering"/>
          <p:cNvSpPr/>
          <p:nvPr/>
        </p:nvSpPr>
        <p:spPr>
          <a:xfrm>
            <a:off x="8321040" y="1737360"/>
            <a:ext cx="594360" cy="594360"/>
          </a:xfrm>
          <a:prstGeom prst="ellipse">
            <a:avLst/>
          </a:prstGeom>
          <a:solidFill>
            <a:schemeClr val="accent1"/>
          </a:solidFill>
          <a:ln w="12700">
            <a:solidFill>
              <a:schemeClr val="accent1"/>
            </a:solidFill>
            <a:prstDash val="solid"/>
          </a:ln>
        </p:spPr>
      </p:sp>
      <p:pic>
        <p:nvPicPr>
          <p:cNvPr id="15" name="Icoon Selenium vanaf de eerste oplevering" descr="Selenium vanaf de eerste oplevering">    </p:cNvPr>
          <p:cNvPicPr>
            <a:picLocks noChangeAspect="1"/>
          </p:cNvPicPr>
          <p:nvPr/>
        </p:nvPicPr>
        <p:blipFill>
          <a:blip r:embed="rId3"/>
          <a:stretch>
            <a:fillRect/>
          </a:stretch>
        </p:blipFill>
        <p:spPr>
          <a:xfrm>
            <a:off x="8469630" y="1885950"/>
            <a:ext cx="297180" cy="297180"/>
          </a:xfrm>
          <a:prstGeom prst="rect">
            <a:avLst/>
          </a:prstGeom>
        </p:spPr>
      </p:pic>
      <p:sp>
        <p:nvSpPr>
          <p:cNvPr id="16" name="Text 11"/>
          <p:cNvSpPr txBox="1"/>
          <p:nvPr/>
        </p:nvSpPr>
        <p:spPr>
          <a:xfrm>
            <a:off x="9052560" y="1737360"/>
            <a:ext cx="2331720" cy="640080"/>
          </a:xfrm>
          <a:prstGeom prst="rect">
            <a:avLst/>
          </a:prstGeom>
          <a:noFill/>
          <a:ln/>
        </p:spPr>
        <p:txBody>
          <a:bodyPr wrap="square" lIns="0" tIns="0" rIns="0" bIns="0" rtlCol="0" anchor="ctr"/>
          <a:lstStyle/>
          <a:p>
            <a:pPr indent="0" marL="0">
              <a:buNone/>
            </a:pPr>
            <a:r>
              <a:rPr lang="en-US" sz="1500" b="1" dirty="0">
                <a:solidFill>
                  <a:schemeClr val="tx2"/>
                </a:solidFill>
              </a:rPr>
              <a:t>Selenium vanaf de eerste oplevering</a:t>
            </a:r>
            <a:endParaRPr lang="en-US" sz="1500" dirty="0"/>
          </a:p>
        </p:txBody>
      </p:sp>
      <p:sp>
        <p:nvSpPr>
          <p:cNvPr id="17" name="Text 12"/>
          <p:cNvSpPr txBox="1"/>
          <p:nvPr/>
        </p:nvSpPr>
        <p:spPr>
          <a:xfrm>
            <a:off x="8321040" y="2468880"/>
            <a:ext cx="3017520" cy="1005840"/>
          </a:xfrm>
          <a:prstGeom prst="rect">
            <a:avLst/>
          </a:prstGeom>
          <a:noFill/>
          <a:ln/>
        </p:spPr>
        <p:txBody>
          <a:bodyPr wrap="square" lIns="0" tIns="0" rIns="0" bIns="0" rtlCol="0" anchor="t"/>
          <a:lstStyle/>
          <a:p>
            <a:pPr indent="0" marL="0">
              <a:buNone/>
            </a:pPr>
            <a:r>
              <a:rPr lang="en-US" sz="1300" dirty="0">
                <a:solidFill>
                  <a:schemeClr val="tx1"/>
                </a:solidFill>
              </a:rPr>
              <a:t>In week 4 testte ik alleen via HTTP; de browserkant was toen minder gedekt.</a:t>
            </a:r>
            <a:endParaRPr lang="en-US" sz="1300" dirty="0"/>
          </a:p>
        </p:txBody>
      </p:sp>
      <p:sp>
        <p:nvSpPr>
          <p:cNvPr id="18" name="Kaart Autorisatie in de criteria"/>
          <p:cNvSpPr/>
          <p:nvPr/>
        </p:nvSpPr>
        <p:spPr>
          <a:xfrm>
            <a:off x="548640" y="379476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Cirkel Autorisatie in de criteria"/>
          <p:cNvSpPr/>
          <p:nvPr/>
        </p:nvSpPr>
        <p:spPr>
          <a:xfrm>
            <a:off x="822960" y="4069080"/>
            <a:ext cx="594360" cy="594360"/>
          </a:xfrm>
          <a:prstGeom prst="ellipse">
            <a:avLst/>
          </a:prstGeom>
          <a:solidFill>
            <a:schemeClr val="accent1"/>
          </a:solidFill>
          <a:ln w="12700">
            <a:solidFill>
              <a:schemeClr val="accent1"/>
            </a:solidFill>
            <a:prstDash val="solid"/>
          </a:ln>
        </p:spPr>
      </p:sp>
      <p:pic>
        <p:nvPicPr>
          <p:cNvPr id="20" name="Icoon Autorisatie in de criteria" descr="Autorisatie in de criteria">    </p:cNvPr>
          <p:cNvPicPr>
            <a:picLocks noChangeAspect="1"/>
          </p:cNvPicPr>
          <p:nvPr/>
        </p:nvPicPr>
        <p:blipFill>
          <a:blip r:embed="rId4"/>
          <a:stretch>
            <a:fillRect/>
          </a:stretch>
        </p:blipFill>
        <p:spPr>
          <a:xfrm>
            <a:off x="971550" y="4217670"/>
            <a:ext cx="297180" cy="297180"/>
          </a:xfrm>
          <a:prstGeom prst="rect">
            <a:avLst/>
          </a:prstGeom>
        </p:spPr>
      </p:pic>
      <p:sp>
        <p:nvSpPr>
          <p:cNvPr id="21" name="Text 15"/>
          <p:cNvSpPr txBox="1"/>
          <p:nvPr/>
        </p:nvSpPr>
        <p:spPr>
          <a:xfrm>
            <a:off x="1554480" y="4069080"/>
            <a:ext cx="2331720" cy="640080"/>
          </a:xfrm>
          <a:prstGeom prst="rect">
            <a:avLst/>
          </a:prstGeom>
          <a:noFill/>
          <a:ln/>
        </p:spPr>
        <p:txBody>
          <a:bodyPr wrap="square" lIns="0" tIns="0" rIns="0" bIns="0" rtlCol="0" anchor="ctr"/>
          <a:lstStyle/>
          <a:p>
            <a:pPr indent="0" marL="0">
              <a:buNone/>
            </a:pPr>
            <a:r>
              <a:rPr lang="en-US" sz="1500" b="1" dirty="0">
                <a:solidFill>
                  <a:schemeClr val="tx2"/>
                </a:solidFill>
              </a:rPr>
              <a:t>Autorisatie in de criteria</a:t>
            </a:r>
            <a:endParaRPr lang="en-US" sz="1500" dirty="0"/>
          </a:p>
        </p:txBody>
      </p:sp>
      <p:sp>
        <p:nvSpPr>
          <p:cNvPr id="22" name="Text 16"/>
          <p:cNvSpPr txBox="1"/>
          <p:nvPr/>
        </p:nvSpPr>
        <p:spPr>
          <a:xfrm>
            <a:off x="822960" y="4800600"/>
            <a:ext cx="3017520" cy="1005840"/>
          </a:xfrm>
          <a:prstGeom prst="rect">
            <a:avLst/>
          </a:prstGeom>
          <a:noFill/>
          <a:ln/>
        </p:spPr>
        <p:txBody>
          <a:bodyPr wrap="square" lIns="0" tIns="0" rIns="0" bIns="0" rtlCol="0" anchor="t"/>
          <a:lstStyle/>
          <a:p>
            <a:pPr indent="0" marL="0">
              <a:buNone/>
            </a:pPr>
            <a:r>
              <a:rPr lang="en-US" sz="1300" dirty="0">
                <a:solidFill>
                  <a:schemeClr val="tx1"/>
                </a:solidFill>
              </a:rPr>
              <a:t>Per story ook vastleggen wie iets níet mag. Daar zitten de zwaarste bevindingen.</a:t>
            </a:r>
            <a:endParaRPr lang="en-US" sz="1300" dirty="0"/>
          </a:p>
        </p:txBody>
      </p:sp>
      <p:sp>
        <p:nvSpPr>
          <p:cNvPr id="23" name="Kaart Eerder afstemmen"/>
          <p:cNvSpPr/>
          <p:nvPr/>
        </p:nvSpPr>
        <p:spPr>
          <a:xfrm>
            <a:off x="4297680" y="379476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Cirkel Eerder afstemmen"/>
          <p:cNvSpPr/>
          <p:nvPr/>
        </p:nvSpPr>
        <p:spPr>
          <a:xfrm>
            <a:off x="4572000" y="4069080"/>
            <a:ext cx="594360" cy="594360"/>
          </a:xfrm>
          <a:prstGeom prst="ellipse">
            <a:avLst/>
          </a:prstGeom>
          <a:solidFill>
            <a:schemeClr val="accent1"/>
          </a:solidFill>
          <a:ln w="12700">
            <a:solidFill>
              <a:schemeClr val="accent1"/>
            </a:solidFill>
            <a:prstDash val="solid"/>
          </a:ln>
        </p:spPr>
      </p:sp>
      <p:pic>
        <p:nvPicPr>
          <p:cNvPr id="25" name="Icoon Eerder afstemmen" descr="Eerder afstemmen">    </p:cNvPr>
          <p:cNvPicPr>
            <a:picLocks noChangeAspect="1"/>
          </p:cNvPicPr>
          <p:nvPr/>
        </p:nvPicPr>
        <p:blipFill>
          <a:blip r:embed="rId5"/>
          <a:stretch>
            <a:fillRect/>
          </a:stretch>
        </p:blipFill>
        <p:spPr>
          <a:xfrm>
            <a:off x="4720590" y="4217670"/>
            <a:ext cx="297180" cy="297180"/>
          </a:xfrm>
          <a:prstGeom prst="rect">
            <a:avLst/>
          </a:prstGeom>
        </p:spPr>
      </p:pic>
      <p:sp>
        <p:nvSpPr>
          <p:cNvPr id="26" name="Text 19"/>
          <p:cNvSpPr txBox="1"/>
          <p:nvPr/>
        </p:nvSpPr>
        <p:spPr>
          <a:xfrm>
            <a:off x="5303520" y="4069080"/>
            <a:ext cx="2331720" cy="640080"/>
          </a:xfrm>
          <a:prstGeom prst="rect">
            <a:avLst/>
          </a:prstGeom>
          <a:noFill/>
          <a:ln/>
        </p:spPr>
        <p:txBody>
          <a:bodyPr wrap="square" lIns="0" tIns="0" rIns="0" bIns="0" rtlCol="0" anchor="ctr"/>
          <a:lstStyle/>
          <a:p>
            <a:pPr indent="0" marL="0">
              <a:buNone/>
            </a:pPr>
            <a:r>
              <a:rPr lang="en-US" sz="1500" b="1" dirty="0">
                <a:solidFill>
                  <a:schemeClr val="tx2"/>
                </a:solidFill>
              </a:rPr>
              <a:t>Eerder afstemmen</a:t>
            </a:r>
            <a:endParaRPr lang="en-US" sz="1500" dirty="0"/>
          </a:p>
        </p:txBody>
      </p:sp>
      <p:sp>
        <p:nvSpPr>
          <p:cNvPr id="27" name="Text 20"/>
          <p:cNvSpPr txBox="1"/>
          <p:nvPr/>
        </p:nvSpPr>
        <p:spPr>
          <a:xfrm>
            <a:off x="4572000" y="4800600"/>
            <a:ext cx="3017520" cy="1005840"/>
          </a:xfrm>
          <a:prstGeom prst="rect">
            <a:avLst/>
          </a:prstGeom>
          <a:noFill/>
          <a:ln/>
        </p:spPr>
        <p:txBody>
          <a:bodyPr wrap="square" lIns="0" tIns="0" rIns="0" bIns="0" rtlCol="0" anchor="t"/>
          <a:lstStyle/>
          <a:p>
            <a:pPr indent="0" marL="0">
              <a:buNone/>
            </a:pPr>
            <a:r>
              <a:rPr lang="en-US" sz="1300" dirty="0">
                <a:solidFill>
                  <a:schemeClr val="tx1"/>
                </a:solidFill>
              </a:rPr>
              <a:t>Story 28 en onduidelijke criteria vóór de bouw bevestigen met de product owner.</a:t>
            </a:r>
            <a:endParaRPr lang="en-US" sz="1300" dirty="0"/>
          </a:p>
        </p:txBody>
      </p:sp>
      <p:sp>
        <p:nvSpPr>
          <p:cNvPr id="28" name="Kaart Automatisch draaien"/>
          <p:cNvSpPr/>
          <p:nvPr/>
        </p:nvSpPr>
        <p:spPr>
          <a:xfrm>
            <a:off x="8046720" y="379476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Cirkel Automatisch draaien"/>
          <p:cNvSpPr/>
          <p:nvPr/>
        </p:nvSpPr>
        <p:spPr>
          <a:xfrm>
            <a:off x="8321040" y="4069080"/>
            <a:ext cx="594360" cy="594360"/>
          </a:xfrm>
          <a:prstGeom prst="ellipse">
            <a:avLst/>
          </a:prstGeom>
          <a:solidFill>
            <a:schemeClr val="accent1"/>
          </a:solidFill>
          <a:ln w="12700">
            <a:solidFill>
              <a:schemeClr val="accent1"/>
            </a:solidFill>
            <a:prstDash val="solid"/>
          </a:ln>
        </p:spPr>
      </p:sp>
      <p:pic>
        <p:nvPicPr>
          <p:cNvPr id="30" name="Icoon Automatisch draaien" descr="Automatisch draaien">    </p:cNvPr>
          <p:cNvPicPr>
            <a:picLocks noChangeAspect="1"/>
          </p:cNvPicPr>
          <p:nvPr/>
        </p:nvPicPr>
        <p:blipFill>
          <a:blip r:embed="rId6"/>
          <a:stretch>
            <a:fillRect/>
          </a:stretch>
        </p:blipFill>
        <p:spPr>
          <a:xfrm>
            <a:off x="8469630" y="4217670"/>
            <a:ext cx="297180" cy="297180"/>
          </a:xfrm>
          <a:prstGeom prst="rect">
            <a:avLst/>
          </a:prstGeom>
        </p:spPr>
      </p:pic>
      <p:sp>
        <p:nvSpPr>
          <p:cNvPr id="31" name="Text 23"/>
          <p:cNvSpPr txBox="1"/>
          <p:nvPr/>
        </p:nvSpPr>
        <p:spPr>
          <a:xfrm>
            <a:off x="9052560" y="4069080"/>
            <a:ext cx="2331720" cy="640080"/>
          </a:xfrm>
          <a:prstGeom prst="rect">
            <a:avLst/>
          </a:prstGeom>
          <a:noFill/>
          <a:ln/>
        </p:spPr>
        <p:txBody>
          <a:bodyPr wrap="square" lIns="0" tIns="0" rIns="0" bIns="0" rtlCol="0" anchor="ctr"/>
          <a:lstStyle/>
          <a:p>
            <a:pPr indent="0" marL="0">
              <a:buNone/>
            </a:pPr>
            <a:r>
              <a:rPr lang="en-US" sz="1500" b="1" dirty="0">
                <a:solidFill>
                  <a:schemeClr val="tx2"/>
                </a:solidFill>
              </a:rPr>
              <a:t>Automatisch draaien</a:t>
            </a:r>
            <a:endParaRPr lang="en-US" sz="1500" dirty="0"/>
          </a:p>
        </p:txBody>
      </p:sp>
      <p:sp>
        <p:nvSpPr>
          <p:cNvPr id="32" name="Text 24"/>
          <p:cNvSpPr txBox="1"/>
          <p:nvPr/>
        </p:nvSpPr>
        <p:spPr>
          <a:xfrm>
            <a:off x="8321040" y="4800600"/>
            <a:ext cx="3017520" cy="1005840"/>
          </a:xfrm>
          <a:prstGeom prst="rect">
            <a:avLst/>
          </a:prstGeom>
          <a:noFill/>
          <a:ln/>
        </p:spPr>
        <p:txBody>
          <a:bodyPr wrap="square" lIns="0" tIns="0" rIns="0" bIns="0" rtlCol="0" anchor="t"/>
          <a:lstStyle/>
          <a:p>
            <a:pPr indent="0" marL="0">
              <a:buNone/>
            </a:pPr>
            <a:r>
              <a:rPr lang="en-US" sz="1300" dirty="0">
                <a:solidFill>
                  <a:schemeClr val="tx1"/>
                </a:solidFill>
              </a:rPr>
              <a:t>Suite in een CI-pipeline bij elke wijziging, zodat regressie direct opvalt.</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nchor="ctr"/>
          <a:lstStyle/>
          <a:p>
            <a:pPr algn="l" indent="0" marL="0">
              <a:buNone/>
            </a:pPr>
            <a:r>
              <a:rPr lang="en-US" sz="3400" b="1" dirty="0">
                <a:solidFill>
                  <a:schemeClr val="bg1"/>
                </a:solidFill>
              </a:rPr>
              <a:t>Vragen?</a:t>
            </a:r>
            <a:endParaRPr lang="en-US" sz="3400" dirty="0"/>
          </a:p>
        </p:txBody>
      </p:sp>
      <p:sp>
        <p:nvSpPr>
          <p:cNvPr id="3" name="Kaart Portfolio"/>
          <p:cNvSpPr/>
          <p:nvPr/>
        </p:nvSpPr>
        <p:spPr>
          <a:xfrm>
            <a:off x="548640" y="1828800"/>
            <a:ext cx="3520440"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4" name="Cirkel Portfolio"/>
          <p:cNvSpPr/>
          <p:nvPr/>
        </p:nvSpPr>
        <p:spPr>
          <a:xfrm>
            <a:off x="822960" y="2103120"/>
            <a:ext cx="685800" cy="685800"/>
          </a:xfrm>
          <a:prstGeom prst="ellipse">
            <a:avLst/>
          </a:prstGeom>
          <a:solidFill>
            <a:schemeClr val="accent1"/>
          </a:solidFill>
          <a:ln w="12700">
            <a:solidFill>
              <a:schemeClr val="accent1"/>
            </a:solidFill>
            <a:prstDash val="solid"/>
          </a:ln>
        </p:spPr>
      </p:sp>
      <p:pic>
        <p:nvPicPr>
          <p:cNvPr id="5" name="Icoon Portfolio" descr="Portfolio">    </p:cNvPr>
          <p:cNvPicPr>
            <a:picLocks noChangeAspect="1"/>
          </p:cNvPicPr>
          <p:nvPr/>
        </p:nvPicPr>
        <p:blipFill>
          <a:blip r:embed="rId1"/>
          <a:stretch>
            <a:fillRect/>
          </a:stretch>
        </p:blipFill>
        <p:spPr>
          <a:xfrm>
            <a:off x="994410" y="2274570"/>
            <a:ext cx="342900" cy="342900"/>
          </a:xfrm>
          <a:prstGeom prst="rect">
            <a:avLst/>
          </a:prstGeom>
        </p:spPr>
      </p:pic>
      <p:sp>
        <p:nvSpPr>
          <p:cNvPr id="6" name="Text 3"/>
          <p:cNvSpPr txBox="1"/>
          <p:nvPr/>
        </p:nvSpPr>
        <p:spPr>
          <a:xfrm>
            <a:off x="822960" y="2926080"/>
            <a:ext cx="3017520" cy="411480"/>
          </a:xfrm>
          <a:prstGeom prst="rect">
            <a:avLst/>
          </a:prstGeom>
          <a:noFill/>
          <a:ln/>
        </p:spPr>
        <p:txBody>
          <a:bodyPr wrap="square" lIns="0" tIns="0" rIns="0" bIns="0" rtlCol="0" anchor="t"/>
          <a:lstStyle/>
          <a:p>
            <a:pPr indent="0" marL="0">
              <a:buNone/>
            </a:pPr>
            <a:r>
              <a:rPr lang="en-US" sz="1800" b="1" dirty="0">
                <a:solidFill>
                  <a:schemeClr val="tx2"/>
                </a:solidFill>
              </a:rPr>
              <a:t>Portfolio</a:t>
            </a:r>
            <a:endParaRPr lang="en-US" sz="1800" dirty="0"/>
          </a:p>
        </p:txBody>
      </p:sp>
      <p:sp>
        <p:nvSpPr>
          <p:cNvPr id="7" name="Text 4"/>
          <p:cNvSpPr txBox="1"/>
          <p:nvPr/>
        </p:nvSpPr>
        <p:spPr>
          <a:xfrm>
            <a:off x="822960" y="3337560"/>
            <a:ext cx="3017520" cy="777240"/>
          </a:xfrm>
          <a:prstGeom prst="rect">
            <a:avLst/>
          </a:prstGeom>
          <a:noFill/>
          <a:ln/>
        </p:spPr>
        <p:txBody>
          <a:bodyPr wrap="square" lIns="0" tIns="0" rIns="0" bIns="0" rtlCol="0" anchor="t"/>
          <a:lstStyle/>
          <a:p>
            <a:pPr indent="0" marL="0">
              <a:buNone/>
            </a:pPr>
            <a:r>
              <a:rPr lang="en-US" sz="1300" dirty="0">
                <a:solidFill>
                  <a:schemeClr val="tx1"/>
                </a:solidFill>
              </a:rPr>
              <a:t>Deel 1 t/m 4: stories, criteria, testcases, testrapporten, evaluatie</a:t>
            </a:r>
            <a:endParaRPr lang="en-US" sz="1300" dirty="0"/>
          </a:p>
        </p:txBody>
      </p:sp>
      <p:sp>
        <p:nvSpPr>
          <p:cNvPr id="8" name="Kaart Testomgeving (zip)"/>
          <p:cNvSpPr/>
          <p:nvPr/>
        </p:nvSpPr>
        <p:spPr>
          <a:xfrm>
            <a:off x="4297680" y="1828800"/>
            <a:ext cx="3520440"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Cirkel Testomgeving (zip)"/>
          <p:cNvSpPr/>
          <p:nvPr/>
        </p:nvSpPr>
        <p:spPr>
          <a:xfrm>
            <a:off x="4572000" y="2103120"/>
            <a:ext cx="685800" cy="685800"/>
          </a:xfrm>
          <a:prstGeom prst="ellipse">
            <a:avLst/>
          </a:prstGeom>
          <a:solidFill>
            <a:schemeClr val="accent1"/>
          </a:solidFill>
          <a:ln w="12700">
            <a:solidFill>
              <a:schemeClr val="accent1"/>
            </a:solidFill>
            <a:prstDash val="solid"/>
          </a:ln>
        </p:spPr>
      </p:sp>
      <p:pic>
        <p:nvPicPr>
          <p:cNvPr id="10" name="Icoon Testomgeving (zip)" descr="Testomgeving (zip)">    </p:cNvPr>
          <p:cNvPicPr>
            <a:picLocks noChangeAspect="1"/>
          </p:cNvPicPr>
          <p:nvPr/>
        </p:nvPicPr>
        <p:blipFill>
          <a:blip r:embed="rId2"/>
          <a:stretch>
            <a:fillRect/>
          </a:stretch>
        </p:blipFill>
        <p:spPr>
          <a:xfrm>
            <a:off x="4743450" y="2274570"/>
            <a:ext cx="342900" cy="342900"/>
          </a:xfrm>
          <a:prstGeom prst="rect">
            <a:avLst/>
          </a:prstGeom>
        </p:spPr>
      </p:pic>
      <p:sp>
        <p:nvSpPr>
          <p:cNvPr id="11" name="Text 7"/>
          <p:cNvSpPr txBox="1"/>
          <p:nvPr/>
        </p:nvSpPr>
        <p:spPr>
          <a:xfrm>
            <a:off x="4572000" y="2926080"/>
            <a:ext cx="3017520" cy="411480"/>
          </a:xfrm>
          <a:prstGeom prst="rect">
            <a:avLst/>
          </a:prstGeom>
          <a:noFill/>
          <a:ln/>
        </p:spPr>
        <p:txBody>
          <a:bodyPr wrap="square" lIns="0" tIns="0" rIns="0" bIns="0" rtlCol="0" anchor="t"/>
          <a:lstStyle/>
          <a:p>
            <a:pPr indent="0" marL="0">
              <a:buNone/>
            </a:pPr>
            <a:r>
              <a:rPr lang="en-US" sz="1800" b="1" dirty="0">
                <a:solidFill>
                  <a:schemeClr val="tx2"/>
                </a:solidFill>
              </a:rPr>
              <a:t>Testomgeving (zip)</a:t>
            </a:r>
            <a:endParaRPr lang="en-US" sz="1800" dirty="0"/>
          </a:p>
        </p:txBody>
      </p:sp>
      <p:sp>
        <p:nvSpPr>
          <p:cNvPr id="12" name="Text 8"/>
          <p:cNvSpPr txBox="1"/>
          <p:nvPr/>
        </p:nvSpPr>
        <p:spPr>
          <a:xfrm>
            <a:off x="4572000" y="3337560"/>
            <a:ext cx="3017520" cy="777240"/>
          </a:xfrm>
          <a:prstGeom prst="rect">
            <a:avLst/>
          </a:prstGeom>
          <a:noFill/>
          <a:ln/>
        </p:spPr>
        <p:txBody>
          <a:bodyPr wrap="square" lIns="0" tIns="0" rIns="0" bIns="0" rtlCol="0" anchor="t"/>
          <a:lstStyle/>
          <a:p>
            <a:pPr indent="0" marL="0">
              <a:buNone/>
            </a:pPr>
            <a:r>
              <a:rPr lang="en-US" sz="1300" dirty="0">
                <a:solidFill>
                  <a:schemeClr val="tx1"/>
                </a:solidFill>
              </a:rPr>
              <a:t>Solution met applicatie en Selenium-project; README en run-script</a:t>
            </a:r>
            <a:endParaRPr lang="en-US" sz="1300" dirty="0"/>
          </a:p>
        </p:txBody>
      </p:sp>
      <p:sp>
        <p:nvSpPr>
          <p:cNvPr id="13" name="Kaart Rapport per run"/>
          <p:cNvSpPr/>
          <p:nvPr/>
        </p:nvSpPr>
        <p:spPr>
          <a:xfrm>
            <a:off x="8046720" y="1828800"/>
            <a:ext cx="3520440"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4" name="Cirkel Rapport per run"/>
          <p:cNvSpPr/>
          <p:nvPr/>
        </p:nvSpPr>
        <p:spPr>
          <a:xfrm>
            <a:off x="8321040" y="2103120"/>
            <a:ext cx="685800" cy="685800"/>
          </a:xfrm>
          <a:prstGeom prst="ellipse">
            <a:avLst/>
          </a:prstGeom>
          <a:solidFill>
            <a:schemeClr val="accent1"/>
          </a:solidFill>
          <a:ln w="12700">
            <a:solidFill>
              <a:schemeClr val="accent1"/>
            </a:solidFill>
            <a:prstDash val="solid"/>
          </a:ln>
        </p:spPr>
      </p:sp>
      <p:pic>
        <p:nvPicPr>
          <p:cNvPr id="15" name="Icoon Rapport per run" descr="Rapport per run">    </p:cNvPr>
          <p:cNvPicPr>
            <a:picLocks noChangeAspect="1"/>
          </p:cNvPicPr>
          <p:nvPr/>
        </p:nvPicPr>
        <p:blipFill>
          <a:blip r:embed="rId3"/>
          <a:stretch>
            <a:fillRect/>
          </a:stretch>
        </p:blipFill>
        <p:spPr>
          <a:xfrm>
            <a:off x="8492490" y="2274570"/>
            <a:ext cx="342900" cy="342900"/>
          </a:xfrm>
          <a:prstGeom prst="rect">
            <a:avLst/>
          </a:prstGeom>
        </p:spPr>
      </p:pic>
      <p:sp>
        <p:nvSpPr>
          <p:cNvPr id="16" name="Text 11"/>
          <p:cNvSpPr txBox="1"/>
          <p:nvPr/>
        </p:nvSpPr>
        <p:spPr>
          <a:xfrm>
            <a:off x="8321040" y="2926080"/>
            <a:ext cx="3017520" cy="411480"/>
          </a:xfrm>
          <a:prstGeom prst="rect">
            <a:avLst/>
          </a:prstGeom>
          <a:noFill/>
          <a:ln/>
        </p:spPr>
        <p:txBody>
          <a:bodyPr wrap="square" lIns="0" tIns="0" rIns="0" bIns="0" rtlCol="0" anchor="t"/>
          <a:lstStyle/>
          <a:p>
            <a:pPr indent="0" marL="0">
              <a:buNone/>
            </a:pPr>
            <a:r>
              <a:rPr lang="en-US" sz="1800" b="1" dirty="0">
                <a:solidFill>
                  <a:schemeClr val="tx2"/>
                </a:solidFill>
              </a:rPr>
              <a:t>Rapport per run</a:t>
            </a:r>
            <a:endParaRPr lang="en-US" sz="1800" dirty="0"/>
          </a:p>
        </p:txBody>
      </p:sp>
      <p:sp>
        <p:nvSpPr>
          <p:cNvPr id="17" name="Text 12"/>
          <p:cNvSpPr txBox="1"/>
          <p:nvPr/>
        </p:nvSpPr>
        <p:spPr>
          <a:xfrm>
            <a:off x="8321040" y="3337560"/>
            <a:ext cx="3017520" cy="777240"/>
          </a:xfrm>
          <a:prstGeom prst="rect">
            <a:avLst/>
          </a:prstGeom>
          <a:noFill/>
          <a:ln/>
        </p:spPr>
        <p:txBody>
          <a:bodyPr wrap="square" lIns="0" tIns="0" rIns="0" bIns="0" rtlCol="0" anchor="t"/>
          <a:lstStyle/>
          <a:p>
            <a:pPr indent="0" marL="0">
              <a:buNone/>
            </a:pPr>
            <a:r>
              <a:rPr lang="en-US" sz="1300" dirty="0">
                <a:solidFill>
                  <a:schemeClr val="tx1"/>
                </a:solidFill>
              </a:rPr>
              <a:t>rapport.html, testlog.txt, screenshots, historie.csv</a:t>
            </a:r>
            <a:endParaRPr lang="en-US" sz="1300" dirty="0"/>
          </a:p>
        </p:txBody>
      </p:sp>
      <p:sp>
        <p:nvSpPr>
          <p:cNvPr id="18" name="Text 13"/>
          <p:cNvSpPr txBox="1"/>
          <p:nvPr/>
        </p:nvSpPr>
        <p:spPr>
          <a:xfrm>
            <a:off x="548640" y="4846320"/>
            <a:ext cx="11064240" cy="457200"/>
          </a:xfrm>
          <a:prstGeom prst="rect">
            <a:avLst/>
          </a:prstGeom>
          <a:noFill/>
          <a:ln/>
        </p:spPr>
        <p:txBody>
          <a:bodyPr wrap="square" lIns="0" tIns="0" rIns="0" bIns="0" rtlCol="0" anchor="t"/>
          <a:lstStyle/>
          <a:p>
            <a:pPr indent="0" marL="0">
              <a:buNone/>
            </a:pPr>
            <a:r>
              <a:rPr lang="en-US" sz="1600" dirty="0">
                <a:solidFill>
                  <a:schemeClr val="accent6"/>
                </a:solidFill>
              </a:rPr>
              <a:t>Advies: no-go · 8 van 16 criteria voldaan · 20 bevindingen, waarvan 7 kritiek · 112 geautomatiseerde testcases</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MMA Testrapport">
  <a:themeElements>
    <a:clrScheme name="MMA Testrapport">
      <a:dk1>
        <a:srgbClr val="1B2B34"/>
      </a:dk1>
      <a:lt1>
        <a:srgbClr val="FFFFFF"/>
      </a:lt1>
      <a:dk2>
        <a:srgbClr val="0B4F5C"/>
      </a:dk2>
      <a:lt2>
        <a:srgbClr val="EEF5F5"/>
      </a:lt2>
      <a:accent1>
        <a:srgbClr val="0E7C86"/>
      </a:accent1>
      <a:accent2>
        <a:srgbClr val="E4572E"/>
      </a:accent2>
      <a:accent3>
        <a:srgbClr val="E9A23B"/>
      </a:accent3>
      <a:accent4>
        <a:srgbClr val="3BA272"/>
      </a:accent4>
      <a:accent5>
        <a:srgbClr val="5B6C79"/>
      </a:accent5>
      <a:accent6>
        <a:srgbClr val="A9D6D2"/>
      </a:accent6>
      <a:hlink>
        <a:srgbClr val="0E7C86"/>
      </a:hlink>
      <a:folHlink>
        <a:srgbClr val="5B6C79"/>
      </a:folHlink>
    </a:clrScheme>
    <a:fontScheme name="MMA Testrap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Testrapport Medicine Management Application</dc:title>
  <dc:subject>Opleveringen week 4 en week 7</dc:subject>
  <dc:creator>PptxGenJS</dc:creator>
  <cp:lastModifiedBy>PptxGenJS</cp:lastModifiedBy>
  <cp:revision>1</cp:revision>
  <dcterms:created xsi:type="dcterms:W3CDTF">2026-10-27T18:46:49Z</dcterms:created>
  <dcterms:modified xsi:type="dcterms:W3CDTF">2026-10-27T18:46:49Z</dcterms:modified>
</cp:coreProperties>
</file>